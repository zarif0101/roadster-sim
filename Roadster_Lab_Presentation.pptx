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reveal and the question" id="{51e4f5ca-6bcb-9e83-af53-ed2651875191}">
          <p14:sldIdLst>
            <p14:sldId id="256"/>
            <p14:sldId id="257"/>
            <p14:sldId id="258"/>
          </p14:sldIdLst>
        </p14:section>
        <p14:section name="How the simulator works" id="{5c944fb5-0a8a-e16c-ec59-9cad34af0597}">
          <p14:sldIdLst>
            <p14:sldId id="259"/>
            <p14:sldId id="260"/>
            <p14:sldId id="261"/>
            <p14:sldId id="262"/>
            <p14:sldId id="263"/>
            <p14:sldId id="264"/>
          </p14:sldIdLst>
        </p14:section>
        <p14:section name="The car's systems" id="{ba078a46-b37e-38b5-1eb3-cf454f1b4888}">
          <p14:sldIdLst>
            <p14:sldId id="265"/>
            <p14:sldId id="266"/>
            <p14:sldId id="267"/>
            <p14:sldId id="268"/>
            <p14:sldId id="269"/>
            <p14:sldId id="270"/>
          </p14:sldIdLst>
        </p14:section>
        <p14:section name="Demo" id="{603fe854-6529-3133-7325-aa501661fe0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C6470"/>
                </a:solidFill>
                <a:latin typeface="+mn-lt"/>
              </a:defRPr>
            </a:pPr>
            <a:r>
              <a:rPr sz="1200" b="0" i="0" u="none" strike="noStrike">
                <a:solidFill>
                  <a:srgbClr val="5C6470"/>
                </a:solidFill>
                <a:latin typeface="+mn-lt"/>
              </a:rPr>
              <a:t>Simulated time in seconds, shorter is faster</a:t>
            </a:r>
          </a:p>
        </c:rich>
      </c:tx>
      <c:layout/>
      <c:overlay val="0"/>
    </c:title>
    <c:autoTitleDeleted val="0"/>
    <c:plotArea>
      <c:layout/>
      <c:barChart>
        <c:barDir val="bar"/>
        <c:grouping val="clustered"/>
        <c:varyColors val="0"/>
        <c:ser>
          <c:idx val="0"/>
          <c:order val="0"/>
          <c:tx>
            <c:strRef>
              <c:f>Sheet1!$B$1</c:f>
              <c:strCache>
                <c:ptCount val="1"/>
                <c:pt idx="0">
                  <c:v>Simulated 0-60 mph (s)</c:v>
                </c:pt>
              </c:strCache>
            </c:strRef>
          </c:tx>
          <c:spPr>
            <a:solidFill>
              <a:srgbClr val="3E6AE1"/>
            </a:solidFill>
            <a:effectLst/>
          </c:spPr>
          <c:invertIfNegative val="0"/>
          <c:dLbls>
            <c:numFmt formatCode="0.00&quot; s&quot;" sourceLinked="0"/>
            <c:txPr>
              <a:bodyPr/>
              <a:lstStyle/>
              <a:p>
                <a:pPr>
                  <a:defRPr b="0" i="0" strike="noStrike" sz="1400" u="none">
                    <a:solidFill>
                      <a:srgbClr val="171A1F"/>
                    </a:solidFill>
                    <a:latin typeface="+mn-lt"/>
                  </a:defRPr>
                </a:pPr>
              </a:p>
            </c:txPr>
            <c:showLegendKey val="0"/>
            <c:showVal val="1"/>
            <c:showCatName val="0"/>
            <c:showSerName val="0"/>
            <c:showPercent val="0"/>
            <c:showBubbleSize val="0"/>
            <c:showLeaderLines val="0"/>
          </c:dLbls>
          <c:cat>
            <c:multiLvlStrRef>
              <c:f>Sheet1!$A$2:$A$4</c:f>
              <c:multiLvlStrCache>
                <c:ptCount val="3"/>
                <c:lvl>
                  <c:pt idx="0">
                    <c:v>Wheels only</c:v>
                  </c:pt>
                  <c:pt idx="1">
                    <c:v>Wheels + fans</c:v>
                  </c:pt>
                  <c:pt idx="2">
                    <c:v>Wheels + fans + thrusters</c:v>
                  </c:pt>
                </c:lvl>
              </c:multiLvlStrCache>
            </c:multiLvlStrRef>
          </c:cat>
          <c:val>
            <c:numRef>
              <c:f>Sheet1!$B$2:$B$4</c:f>
              <c:numCache>
                <c:formatCode>General</c:formatCode>
                <c:ptCount val="3"/>
                <c:pt idx="0">
                  <c:v>2.31</c:v>
                </c:pt>
                <c:pt idx="1">
                  <c:v>1.88</c:v>
                </c:pt>
                <c:pt idx="2">
                  <c:v>0.85</c:v>
                </c:pt>
              </c:numCache>
            </c:numRef>
          </c:val>
        </c:ser>
        <c:dLbls>
          <c:numFmt formatCode="0.00&quot; s&quot;" sourceLinked="0"/>
          <c:txPr>
            <a:bodyPr/>
            <a:lstStyle/>
            <a:p>
              <a:pPr>
                <a:defRPr b="0" i="0" strike="noStrike" sz="1400" u="none">
                  <a:solidFill>
                    <a:srgbClr val="171A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71A1F"/>
                </a:solidFill>
                <a:latin typeface="+mn-lt"/>
              </a:defRPr>
            </a:pPr>
            <a:endParaRPr lang="en-US"/>
          </a:p>
        </c:txPr>
        <c:crossAx val="2094734552"/>
        <c:crosses val="autoZero"/>
        <c:auto val="1"/>
        <c:lblAlgn val="ctr"/>
        <c:noMultiLvlLbl val="1"/>
      </c:catAx>
      <c:valAx>
        <c:axId val="2094734552"/>
        <c:scaling>
          <c:orientation val="minMax"/>
          <c:max val="2.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days ago Tesla showed a Roadster that hangs upside down and flips in the air. I built a simulator that runs the real physics of that stunt. This talk walks through what Tesla showed, how the simulator works, and what it found about each system in the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reported publicly. These four numbers are the only hard facts we have about the systems. Remember the 0.81 seconds, it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Tesla showed what the car does, not how hard each part works. A simulator lets me ask: if the thrusters push this hard, does the stunt work? If not, what does it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simulator is one HTML file. You can open it on any laptop without installing anything. I will show it live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only need W A S D to start. H makes it hover, Shift fires the boost, R resets everything. The Live panel on the right shows what every system is doing, and the hint bar at the bottom changes with the situation, so you never have to memorise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 was revealed four days ago, so there is no 3D file to download. I built the shape from the three photos. The physics engine never sees this detailed model. It uses a simple box-like shape, which keeps collisions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only knows the car as one solid body. I calculate every push and pull, apply it exactly where it acts, and the engine works out how the car moves and turns. Because the step is fixed, a slow laptop gives the same answer as a fast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four inputs are actually reported. Thirteen are estimates I worked out. The thruster layout is my own design. If a value is a guess, the app says so in the parameter list and in every exported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simulator is only useful if it is right about what we can check. Free fall matches the school formula to 0.2 percent. The spin from one nozzle matches r cross F exactly. The rescue system was dropped 96 times. Every drop that physics allows,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cold-gas thruster has no fire. It throws air out fast. Holding a 2.3 tonne car up takes about 23 kilonewtons, which means 32 kilograms of air every second. Three hundred kilograms lasts about nine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thrusters were reported. Where they sit is my design. The controller is the same idea a drone uses: measure the tilt, work out the push you need, split it across four nozzles. Auto-rescue uses it to catch any fall that physics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Upside down, the fans pull with twice the car's weight. Gravity takes one weight away. The tyres are still pressed on with one full weight, the same as on a normal road, so it can drive on the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not tune the model to hit these numbers. With normal tyre grip the car does 2.3 seconds. Fans on, 1.88, almost exactly the 2017 claim. Thrusters on, 0.85, close to the 0.81 shown at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videos. The physics decides what happens. The test park in the app adds nine more lanes: three kickers, a table-top, a quarter pipe, a step-up, bumps, a wave road and a slalom.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careful model that passes its own checks and lands close to Tesla's published times. It is not proof the real car works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Stunts, Reveal ramp. Then How it works and hold Shift to show the air flowing. Then a drop test, upside down from 14 metres. Then Data, Export CSV.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1A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206240"/>
            <a:ext cx="7315200" cy="1097280"/>
          </a:xfrm>
          <a:prstGeom prst="rect">
            <a:avLst/>
          </a:prstGeom>
          <a:noFill/>
          <a:ln/>
        </p:spPr>
        <p:txBody>
          <a:bodyPr wrap="square" rtlCol="0"/>
          <a:lstStyle>
            <a:lvl1pPr algn="l" indent="0" marL="0">
              <a:buNone/>
              <a:defRPr lang="en-US" sz="6000" dirty="0">
                <a:solidFill>
                  <a:srgbClr val="FFFFFF"/>
                </a:solidFill>
              </a:defRPr>
            </a:lvl1pPr>
          </a:lstStyle>
          <a:p>
            <a:pPr algn="l" indent="0" marL="0">
              <a:buNone/>
            </a:pPr>
            <a:endParaRPr lang="en-US" sz="6000" dirty="0"/>
          </a:p>
        </p:txBody>
      </p:sp>
      <p:sp>
        <p:nvSpPr>
          <p:cNvPr id="3" name="Text 0"/>
          <p:cNvSpPr/>
          <p:nvPr>
            <p:ph idx="101" type="body" hasCustomPrompt="1"/>
          </p:nvPr>
        </p:nvSpPr>
        <p:spPr>
          <a:xfrm>
            <a:off x="731520" y="5349240"/>
            <a:ext cx="7315200" cy="82296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400" dirty="0">
                <a:solidFill>
                  <a:schemeClr val="tx1"/>
                </a:solidFill>
              </a:defRPr>
            </a:lvl1pPr>
          </a:lstStyle>
          <a:p>
            <a:pPr algn="l" indent="0" marL="0">
              <a:buNone/>
            </a:pPr>
            <a:endParaRPr lang="en-US" sz="3400" dirty="0"/>
          </a:p>
        </p:txBody>
      </p:sp>
      <p:sp>
        <p:nvSpPr>
          <p:cNvPr id="3" name="Text 0"/>
          <p:cNvSpPr/>
          <p:nvPr/>
        </p:nvSpPr>
        <p:spPr>
          <a:xfrm>
            <a:off x="640080" y="6400800"/>
            <a:ext cx="2743200" cy="228600"/>
          </a:xfrm>
          <a:prstGeom prst="rect">
            <a:avLst/>
          </a:prstGeom>
          <a:noFill/>
          <a:ln/>
        </p:spPr>
        <p:txBody>
          <a:bodyPr wrap="square" lIns="0" tIns="0" rIns="0" bIns="0" rtlCol="0" anchor="ctr"/>
          <a:lstStyle/>
          <a:p>
            <a:pPr indent="0" marL="0">
              <a:buNone/>
            </a:pPr>
            <a:r>
              <a:rPr lang="en-US" sz="900" spc="400" kern="0" dirty="0">
                <a:solidFill>
                  <a:schemeClr val="tx2"/>
                </a:solidFill>
              </a:rPr>
              <a:t>ROADSTER LAB</a:t>
            </a:r>
            <a:endParaRPr lang="en-US" sz="900" dirty="0"/>
          </a:p>
        </p:txBody>
      </p:sp>
      <p:sp>
        <p:nvSpPr>
          <p:cNvPr id="4" name="Text 1"/>
          <p:cNvSpPr/>
          <p:nvPr/>
        </p:nvSpPr>
        <p:spPr>
          <a:xfrm>
            <a:off x="3840480" y="6400800"/>
            <a:ext cx="4572000" cy="228600"/>
          </a:xfrm>
          <a:prstGeom prst="rect">
            <a:avLst/>
          </a:prstGeom>
          <a:noFill/>
          <a:ln/>
        </p:spPr>
        <p:txBody>
          <a:bodyPr wrap="square" lIns="0" tIns="0" rIns="0" bIns="0" rtlCol="0" anchor="ctr"/>
          <a:lstStyle/>
          <a:p>
            <a:pPr algn="ctr" indent="0" marL="0">
              <a:buNone/>
            </a:pPr>
            <a:r>
              <a:rPr lang="en-US" sz="900" dirty="0">
                <a:solidFill>
                  <a:schemeClr val="tx2"/>
                </a:solidFill>
              </a:rPr>
              <a:t>All results are simulated</a:t>
            </a:r>
            <a:endParaRPr lang="en-US" sz="9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10515600" cy="1188720"/>
          </a:xfrm>
          <a:prstGeom prst="rect">
            <a:avLst/>
          </a:prstGeom>
          <a:noFill/>
          <a:ln/>
        </p:spPr>
        <p:txBody>
          <a:bodyPr wrap="square" rtlCol="0"/>
          <a:lstStyle>
            <a:lvl1pPr algn="l" indent="0" marL="0">
              <a:buNone/>
              <a:defRPr lang="en-US" sz="4800" dirty="0">
                <a:solidFill>
                  <a:schemeClr val="tx1"/>
                </a:solidFill>
              </a:defRPr>
            </a:lvl1pPr>
          </a:lstStyle>
          <a:p>
            <a:pPr algn="l"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veal photo" descr="C:\Users\arko4\Desktop\Roadster Simulation\Screenshot 2026-10-18 020142.png">    </p:cNvPr>
          <p:cNvPicPr>
            <a:picLocks noChangeAspect="1"/>
          </p:cNvPicPr>
          <p:nvPr/>
        </p:nvPicPr>
        <p:blipFill>
          <a:blip r:embed="rId1"/>
          <a:srcRect l="0" r="0" t="0" b="0"/>
          <a:stretch/>
        </p:blipFill>
        <p:spPr>
          <a:xfrm>
            <a:off x="0" y="0"/>
            <a:ext cx="12191695" cy="6858000"/>
          </a:xfrm>
          <a:prstGeom prst="rect">
            <a:avLst/>
          </a:prstGeom>
        </p:spPr>
      </p:pic>
      <p:sp>
        <p:nvSpPr>
          <p:cNvPr id="3" name="Shade"/>
          <p:cNvSpPr/>
          <p:nvPr/>
        </p:nvSpPr>
        <p:spPr>
          <a:xfrm>
            <a:off x="0" y="3566160"/>
            <a:ext cx="12191695" cy="3291840"/>
          </a:xfrm>
          <a:prstGeom prst="rect">
            <a:avLst/>
          </a:prstGeom>
          <a:solidFill>
            <a:srgbClr val="000000">
              <a:alpha val="65000"/>
            </a:srgbClr>
          </a:solidFill>
          <a:ln/>
        </p:spPr>
      </p:sp>
      <p:sp>
        <p:nvSpPr>
          <p:cNvPr id="4" name="Text 0"/>
          <p:cNvSpPr/>
          <p:nvPr>
            <p:ph idx="100" type="title" hasCustomPrompt="1"/>
          </p:nvPr>
        </p:nvSpPr>
        <p:spPr>
          <a:xfrm>
            <a:off x="731520" y="4206240"/>
            <a:ext cx="7315200" cy="1097280"/>
          </a:xfrm>
          <a:prstGeom prst="rect">
            <a:avLst/>
          </a:prstGeom>
          <a:noFill/>
          <a:ln/>
        </p:spPr>
        <p:txBody>
          <a:bodyPr wrap="square" lIns="0" tIns="0" rIns="0" bIns="0" rtlCol="0" anchor="b"/>
          <a:lstStyle/>
          <a:p>
            <a:pPr algn="l" indent="0" marL="0">
              <a:buNone/>
            </a:pPr>
            <a:r>
              <a:rPr lang="en-US" sz="6000" dirty="0">
                <a:solidFill>
                  <a:srgbClr val="FFFFFF"/>
                </a:solidFill>
              </a:rPr>
              <a:t>Roadster Lab</a:t>
            </a:r>
            <a:endParaRPr lang="en-US" sz="6000" dirty="0"/>
          </a:p>
        </p:txBody>
      </p:sp>
      <p:sp>
        <p:nvSpPr>
          <p:cNvPr id="5" name="Text 0"/>
          <p:cNvSpPr/>
          <p:nvPr>
            <p:ph idx="101" type="body" hasCustomPrompt="1"/>
          </p:nvPr>
        </p:nvSpPr>
        <p:spPr>
          <a:xfrm>
            <a:off x="731520" y="5349240"/>
            <a:ext cx="7315200" cy="822960"/>
          </a:xfrm>
          <a:prstGeom prst="rect">
            <a:avLst/>
          </a:prstGeom>
          <a:noFill/>
          <a:ln/>
        </p:spPr>
        <p:txBody>
          <a:bodyPr wrap="square" lIns="0" tIns="0" rIns="0" bIns="0" rtlCol="0" anchor="t"/>
          <a:lstStyle/>
          <a:p>
            <a:pPr algn="l" indent="0" marL="0">
              <a:buNone/>
            </a:pPr>
            <a:r>
              <a:rPr lang="en-US" sz="1800" dirty="0">
                <a:solidFill>
                  <a:srgbClr val="FFFFFF"/>
                </a:solidFill>
              </a:rPr>
              <a:t>Zarif  ·  Robotics Club  ·  19 October 2026</a:t>
            </a:r>
            <a:endParaRPr lang="en-US" sz="1800" dirty="0"/>
          </a:p>
        </p:txBody>
      </p:sp>
      <p:sp>
        <p:nvSpPr>
          <p:cNvPr id="6" name="Text 3"/>
          <p:cNvSpPr txBox="1"/>
          <p:nvPr/>
        </p:nvSpPr>
        <p:spPr>
          <a:xfrm>
            <a:off x="731520" y="3794760"/>
            <a:ext cx="7315200" cy="365760"/>
          </a:xfrm>
          <a:prstGeom prst="rect">
            <a:avLst/>
          </a:prstGeom>
          <a:noFill/>
          <a:ln/>
        </p:spPr>
        <p:txBody>
          <a:bodyPr wrap="square" lIns="0" tIns="0" rIns="0" bIns="0" rtlCol="0" anchor="t"/>
          <a:lstStyle/>
          <a:p>
            <a:pPr indent="0" marL="0">
              <a:buNone/>
            </a:pPr>
            <a:r>
              <a:rPr lang="en-US" sz="1400" spc="100" kern="0" dirty="0">
                <a:solidFill>
                  <a:srgbClr val="FFFFFF"/>
                </a:solidFill>
              </a:rPr>
              <a:t>A physics simulator of the 2026 Tesla Roadster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15 October: a Roadster hung upside down</a:t>
            </a:r>
            <a:endParaRPr lang="en-US" sz="3400" dirty="0"/>
          </a:p>
        </p:txBody>
      </p:sp>
      <p:pic>
        <p:nvPicPr>
          <p:cNvPr id="3" name="Rear photo" descr="C:\Users\arko4\Desktop\Roadster Simulation\Screenshot 2026-10-18 020038.png">    </p:cNvPr>
          <p:cNvPicPr>
            <a:picLocks noChangeAspect="1"/>
          </p:cNvPicPr>
          <p:nvPr/>
        </p:nvPicPr>
        <p:blipFill>
          <a:blip r:embed="rId1"/>
          <a:srcRect l="0" r="0" t="0" b="0"/>
          <a:stretch/>
        </p:blipFill>
        <p:spPr>
          <a:xfrm>
            <a:off x="7223760" y="1463040"/>
            <a:ext cx="4297680" cy="3200400"/>
          </a:xfrm>
          <a:prstGeom prst="rect">
            <a:avLst/>
          </a:prstGeom>
        </p:spPr>
      </p:pic>
      <p:sp>
        <p:nvSpPr>
          <p:cNvPr id="4" name="Text 1"/>
          <p:cNvSpPr txBox="1"/>
          <p:nvPr/>
        </p:nvSpPr>
        <p:spPr>
          <a:xfrm>
            <a:off x="640080" y="1463040"/>
            <a:ext cx="6126480" cy="1554480"/>
          </a:xfrm>
          <a:prstGeom prst="rect">
            <a:avLst/>
          </a:prstGeom>
          <a:noFill/>
          <a:ln/>
        </p:spPr>
        <p:txBody>
          <a:bodyPr wrap="square" lIns="0" tIns="0" rIns="0" bIns="0" rtlCol="0" anchor="t"/>
          <a:lstStyle/>
          <a:p>
            <a:pPr indent="0" marL="0">
              <a:buNone/>
            </a:pPr>
            <a:r>
              <a:rPr lang="en-US" sz="1700" dirty="0">
                <a:solidFill>
                  <a:schemeClr val="tx1"/>
                </a:solidFill>
              </a:rPr>
              <a:t>It drove up a curved ramp and stopped underneath it, held by fans under the car. Then it dropped, flipped onto its wheels with cold-gas thrusters, and later jumped five parked Teslas while spinning.</a:t>
            </a:r>
            <a:endParaRPr lang="en-US" sz="1700" dirty="0"/>
          </a:p>
        </p:txBody>
      </p:sp>
      <p:sp>
        <p:nvSpPr>
          <p:cNvPr id="5" name="Text 2"/>
          <p:cNvSpPr txBox="1"/>
          <p:nvPr/>
        </p:nvSpPr>
        <p:spPr>
          <a:xfrm>
            <a:off x="640080" y="3291840"/>
            <a:ext cx="1463040" cy="731520"/>
          </a:xfrm>
          <a:prstGeom prst="rect">
            <a:avLst/>
          </a:prstGeom>
          <a:noFill/>
          <a:ln/>
        </p:spPr>
        <p:txBody>
          <a:bodyPr wrap="square" lIns="0" tIns="0" rIns="0" bIns="0" rtlCol="0" anchor="t"/>
          <a:lstStyle/>
          <a:p>
            <a:pPr indent="0" marL="0">
              <a:buNone/>
            </a:pPr>
            <a:r>
              <a:rPr lang="en-US" sz="3200" dirty="0">
                <a:solidFill>
                  <a:schemeClr val="tx1"/>
                </a:solidFill>
              </a:rPr>
              <a:t>0.81 s</a:t>
            </a:r>
            <a:endParaRPr lang="en-US" sz="3200" dirty="0"/>
          </a:p>
        </p:txBody>
      </p:sp>
      <p:sp>
        <p:nvSpPr>
          <p:cNvPr id="6" name="Text 3"/>
          <p:cNvSpPr txBox="1"/>
          <p:nvPr/>
        </p:nvSpPr>
        <p:spPr>
          <a:xfrm>
            <a:off x="640080" y="4023360"/>
            <a:ext cx="1463040" cy="502920"/>
          </a:xfrm>
          <a:prstGeom prst="rect">
            <a:avLst/>
          </a:prstGeom>
          <a:noFill/>
          <a:ln/>
        </p:spPr>
        <p:txBody>
          <a:bodyPr wrap="square" lIns="0" tIns="0" rIns="0" bIns="0" rtlCol="0" anchor="t"/>
          <a:lstStyle/>
          <a:p>
            <a:pPr indent="0" marL="0">
              <a:buNone/>
            </a:pPr>
            <a:r>
              <a:rPr lang="en-US" sz="1300" dirty="0">
                <a:solidFill>
                  <a:schemeClr val="tx2"/>
                </a:solidFill>
              </a:rPr>
              <a:t>0 to 60 mph</a:t>
            </a:r>
            <a:endParaRPr lang="en-US" sz="1300" dirty="0"/>
          </a:p>
        </p:txBody>
      </p:sp>
      <p:sp>
        <p:nvSpPr>
          <p:cNvPr id="7" name="Text 4"/>
          <p:cNvSpPr txBox="1"/>
          <p:nvPr/>
        </p:nvSpPr>
        <p:spPr>
          <a:xfrm>
            <a:off x="640080" y="4553712"/>
            <a:ext cx="1188720" cy="237744"/>
          </a:xfrm>
          <a:prstGeom prst="rect">
            <a:avLst/>
          </a:prstGeom>
          <a:noFill/>
          <a:ln w="9525">
            <a:solidFill>
              <a:schemeClr val="accent3"/>
            </a:solidFill>
          </a:ln>
        </p:spPr>
        <p:txBody>
          <a:bodyPr wrap="square" lIns="0" tIns="0" rIns="0" bIns="0" rtlCol="0" anchor="ctr"/>
          <a:lstStyle/>
          <a:p>
            <a:pPr algn="ctr" indent="0" marL="0">
              <a:buNone/>
            </a:pPr>
            <a:r>
              <a:rPr lang="en-US" sz="900" b="1" dirty="0">
                <a:solidFill>
                  <a:schemeClr val="accent3"/>
                </a:solidFill>
              </a:rPr>
              <a:t>REPORTED</a:t>
            </a:r>
            <a:endParaRPr lang="en-US" sz="900" dirty="0"/>
          </a:p>
        </p:txBody>
      </p:sp>
      <p:sp>
        <p:nvSpPr>
          <p:cNvPr id="8" name="Text 5"/>
          <p:cNvSpPr txBox="1"/>
          <p:nvPr/>
        </p:nvSpPr>
        <p:spPr>
          <a:xfrm>
            <a:off x="2240280" y="3291840"/>
            <a:ext cx="1463040" cy="731520"/>
          </a:xfrm>
          <a:prstGeom prst="rect">
            <a:avLst/>
          </a:prstGeom>
          <a:noFill/>
          <a:ln/>
        </p:spPr>
        <p:txBody>
          <a:bodyPr wrap="square" lIns="0" tIns="0" rIns="0" bIns="0" rtlCol="0" anchor="t"/>
          <a:lstStyle/>
          <a:p>
            <a:pPr indent="0" marL="0">
              <a:buNone/>
            </a:pPr>
            <a:r>
              <a:rPr lang="en-US" sz="3200" dirty="0">
                <a:solidFill>
                  <a:schemeClr val="tx1"/>
                </a:solidFill>
              </a:rPr>
              <a:t>10</a:t>
            </a:r>
            <a:endParaRPr lang="en-US" sz="3200" dirty="0"/>
          </a:p>
        </p:txBody>
      </p:sp>
      <p:sp>
        <p:nvSpPr>
          <p:cNvPr id="9" name="Text 6"/>
          <p:cNvSpPr txBox="1"/>
          <p:nvPr/>
        </p:nvSpPr>
        <p:spPr>
          <a:xfrm>
            <a:off x="2240280" y="4023360"/>
            <a:ext cx="1463040" cy="502920"/>
          </a:xfrm>
          <a:prstGeom prst="rect">
            <a:avLst/>
          </a:prstGeom>
          <a:noFill/>
          <a:ln/>
        </p:spPr>
        <p:txBody>
          <a:bodyPr wrap="square" lIns="0" tIns="0" rIns="0" bIns="0" rtlCol="0" anchor="t"/>
          <a:lstStyle/>
          <a:p>
            <a:pPr indent="0" marL="0">
              <a:buNone/>
            </a:pPr>
            <a:r>
              <a:rPr lang="en-US" sz="1300" dirty="0">
                <a:solidFill>
                  <a:schemeClr val="tx2"/>
                </a:solidFill>
              </a:rPr>
              <a:t>cold-gas thrusters</a:t>
            </a:r>
            <a:endParaRPr lang="en-US" sz="1300" dirty="0"/>
          </a:p>
        </p:txBody>
      </p:sp>
      <p:sp>
        <p:nvSpPr>
          <p:cNvPr id="10" name="Text 7"/>
          <p:cNvSpPr txBox="1"/>
          <p:nvPr/>
        </p:nvSpPr>
        <p:spPr>
          <a:xfrm>
            <a:off x="2240280" y="4553712"/>
            <a:ext cx="1188720" cy="237744"/>
          </a:xfrm>
          <a:prstGeom prst="rect">
            <a:avLst/>
          </a:prstGeom>
          <a:noFill/>
          <a:ln w="9525">
            <a:solidFill>
              <a:schemeClr val="accent3"/>
            </a:solidFill>
          </a:ln>
        </p:spPr>
        <p:txBody>
          <a:bodyPr wrap="square" lIns="0" tIns="0" rIns="0" bIns="0" rtlCol="0" anchor="ctr"/>
          <a:lstStyle/>
          <a:p>
            <a:pPr algn="ctr" indent="0" marL="0">
              <a:buNone/>
            </a:pPr>
            <a:r>
              <a:rPr lang="en-US" sz="900" b="1" dirty="0">
                <a:solidFill>
                  <a:schemeClr val="accent3"/>
                </a:solidFill>
              </a:rPr>
              <a:t>REPORTED</a:t>
            </a:r>
            <a:endParaRPr lang="en-US" sz="900" dirty="0"/>
          </a:p>
        </p:txBody>
      </p:sp>
      <p:sp>
        <p:nvSpPr>
          <p:cNvPr id="11" name="Text 8"/>
          <p:cNvSpPr txBox="1"/>
          <p:nvPr/>
        </p:nvSpPr>
        <p:spPr>
          <a:xfrm>
            <a:off x="3840480" y="3291840"/>
            <a:ext cx="1463040" cy="731520"/>
          </a:xfrm>
          <a:prstGeom prst="rect">
            <a:avLst/>
          </a:prstGeom>
          <a:noFill/>
          <a:ln/>
        </p:spPr>
        <p:txBody>
          <a:bodyPr wrap="square" lIns="0" tIns="0" rIns="0" bIns="0" rtlCol="0" anchor="t"/>
          <a:lstStyle/>
          <a:p>
            <a:pPr indent="0" marL="0">
              <a:buNone/>
            </a:pPr>
            <a:r>
              <a:rPr lang="en-US" sz="3200" dirty="0">
                <a:solidFill>
                  <a:schemeClr val="tx1"/>
                </a:solidFill>
              </a:rPr>
              <a:t>600 L</a:t>
            </a:r>
            <a:endParaRPr lang="en-US" sz="3200" dirty="0"/>
          </a:p>
        </p:txBody>
      </p:sp>
      <p:sp>
        <p:nvSpPr>
          <p:cNvPr id="12" name="Text 9"/>
          <p:cNvSpPr txBox="1"/>
          <p:nvPr/>
        </p:nvSpPr>
        <p:spPr>
          <a:xfrm>
            <a:off x="3840480" y="4023360"/>
            <a:ext cx="1463040" cy="502920"/>
          </a:xfrm>
          <a:prstGeom prst="rect">
            <a:avLst/>
          </a:prstGeom>
          <a:noFill/>
          <a:ln/>
        </p:spPr>
        <p:txBody>
          <a:bodyPr wrap="square" lIns="0" tIns="0" rIns="0" bIns="0" rtlCol="0" anchor="t"/>
          <a:lstStyle/>
          <a:p>
            <a:pPr indent="0" marL="0">
              <a:buNone/>
            </a:pPr>
            <a:r>
              <a:rPr lang="en-US" sz="1300" dirty="0">
                <a:solidFill>
                  <a:schemeClr val="tx2"/>
                </a:solidFill>
              </a:rPr>
              <a:t>air tank</a:t>
            </a:r>
            <a:endParaRPr lang="en-US" sz="1300" dirty="0"/>
          </a:p>
        </p:txBody>
      </p:sp>
      <p:sp>
        <p:nvSpPr>
          <p:cNvPr id="13" name="Text 10"/>
          <p:cNvSpPr txBox="1"/>
          <p:nvPr/>
        </p:nvSpPr>
        <p:spPr>
          <a:xfrm>
            <a:off x="3840480" y="4553712"/>
            <a:ext cx="1188720" cy="237744"/>
          </a:xfrm>
          <a:prstGeom prst="rect">
            <a:avLst/>
          </a:prstGeom>
          <a:noFill/>
          <a:ln w="9525">
            <a:solidFill>
              <a:schemeClr val="accent3"/>
            </a:solidFill>
          </a:ln>
        </p:spPr>
        <p:txBody>
          <a:bodyPr wrap="square" lIns="0" tIns="0" rIns="0" bIns="0" rtlCol="0" anchor="ctr"/>
          <a:lstStyle/>
          <a:p>
            <a:pPr algn="ctr" indent="0" marL="0">
              <a:buNone/>
            </a:pPr>
            <a:r>
              <a:rPr lang="en-US" sz="900" b="1" dirty="0">
                <a:solidFill>
                  <a:schemeClr val="accent3"/>
                </a:solidFill>
              </a:rPr>
              <a:t>REPORTED</a:t>
            </a:r>
            <a:endParaRPr lang="en-US" sz="900" dirty="0"/>
          </a:p>
        </p:txBody>
      </p:sp>
      <p:sp>
        <p:nvSpPr>
          <p:cNvPr id="14" name="Text 11"/>
          <p:cNvSpPr txBox="1"/>
          <p:nvPr/>
        </p:nvSpPr>
        <p:spPr>
          <a:xfrm>
            <a:off x="5440680" y="3291840"/>
            <a:ext cx="1463040" cy="731520"/>
          </a:xfrm>
          <a:prstGeom prst="rect">
            <a:avLst/>
          </a:prstGeom>
          <a:noFill/>
          <a:ln/>
        </p:spPr>
        <p:txBody>
          <a:bodyPr wrap="square" lIns="0" tIns="0" rIns="0" bIns="0" rtlCol="0" anchor="t"/>
          <a:lstStyle/>
          <a:p>
            <a:pPr indent="0" marL="0">
              <a:buNone/>
            </a:pPr>
            <a:r>
              <a:rPr lang="en-US" sz="3200" dirty="0">
                <a:solidFill>
                  <a:schemeClr val="tx1"/>
                </a:solidFill>
              </a:rPr>
              <a:t>2 g</a:t>
            </a:r>
            <a:endParaRPr lang="en-US" sz="3200" dirty="0"/>
          </a:p>
        </p:txBody>
      </p:sp>
      <p:sp>
        <p:nvSpPr>
          <p:cNvPr id="15" name="Text 12"/>
          <p:cNvSpPr txBox="1"/>
          <p:nvPr/>
        </p:nvSpPr>
        <p:spPr>
          <a:xfrm>
            <a:off x="5440680" y="4023360"/>
            <a:ext cx="1463040" cy="502920"/>
          </a:xfrm>
          <a:prstGeom prst="rect">
            <a:avLst/>
          </a:prstGeom>
          <a:noFill/>
          <a:ln/>
        </p:spPr>
        <p:txBody>
          <a:bodyPr wrap="square" lIns="0" tIns="0" rIns="0" bIns="0" rtlCol="0" anchor="t"/>
          <a:lstStyle/>
          <a:p>
            <a:pPr indent="0" marL="0">
              <a:buNone/>
            </a:pPr>
            <a:r>
              <a:rPr lang="en-US" sz="1300" dirty="0">
                <a:solidFill>
                  <a:schemeClr val="tx2"/>
                </a:solidFill>
              </a:rPr>
              <a:t>fan suction</a:t>
            </a:r>
            <a:endParaRPr lang="en-US" sz="1300" dirty="0"/>
          </a:p>
        </p:txBody>
      </p:sp>
      <p:sp>
        <p:nvSpPr>
          <p:cNvPr id="16" name="Text 13"/>
          <p:cNvSpPr txBox="1"/>
          <p:nvPr/>
        </p:nvSpPr>
        <p:spPr>
          <a:xfrm>
            <a:off x="5440680" y="4553712"/>
            <a:ext cx="1188720" cy="237744"/>
          </a:xfrm>
          <a:prstGeom prst="rect">
            <a:avLst/>
          </a:prstGeom>
          <a:noFill/>
          <a:ln w="9525">
            <a:solidFill>
              <a:schemeClr val="accent3"/>
            </a:solidFill>
          </a:ln>
        </p:spPr>
        <p:txBody>
          <a:bodyPr wrap="square" lIns="0" tIns="0" rIns="0" bIns="0" rtlCol="0" anchor="ctr"/>
          <a:lstStyle/>
          <a:p>
            <a:pPr algn="ctr" indent="0" marL="0">
              <a:buNone/>
            </a:pPr>
            <a:r>
              <a:rPr lang="en-US" sz="900" b="1" dirty="0">
                <a:solidFill>
                  <a:schemeClr val="accent3"/>
                </a:solidFill>
              </a:rPr>
              <a:t>REPORTED</a:t>
            </a:r>
            <a:endParaRPr lang="en-US" sz="900" dirty="0"/>
          </a:p>
        </p:txBody>
      </p:sp>
      <p:sp>
        <p:nvSpPr>
          <p:cNvPr id="17" name="Text 14"/>
          <p:cNvSpPr txBox="1"/>
          <p:nvPr/>
        </p:nvSpPr>
        <p:spPr>
          <a:xfrm>
            <a:off x="640080" y="5760720"/>
            <a:ext cx="10881360" cy="274320"/>
          </a:xfrm>
          <a:prstGeom prst="rect">
            <a:avLst/>
          </a:prstGeom>
          <a:noFill/>
          <a:ln/>
        </p:spPr>
        <p:txBody>
          <a:bodyPr wrap="square" lIns="0" tIns="0" rIns="0" bIns="0" rtlCol="0" anchor="t"/>
          <a:lstStyle/>
          <a:p>
            <a:pPr indent="0" marL="0">
              <a:buNone/>
            </a:pPr>
            <a:r>
              <a:rPr lang="en-US" sz="1100" dirty="0">
                <a:solidFill>
                  <a:schemeClr val="tx2"/>
                </a:solidFill>
              </a:rPr>
              <a:t>Sources: TechCrunch, Teslarati and CBS News coverage of the 15 Oct 2026 reveal.</a:t>
            </a:r>
            <a:endParaRPr lang="en-US" sz="11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The numbers that make it work were never published</a:t>
            </a:r>
            <a:endParaRPr lang="en-US" sz="3400" dirty="0"/>
          </a:p>
        </p:txBody>
      </p:sp>
      <p:sp>
        <p:nvSpPr>
          <p:cNvPr id="3" name="Unknown 0"/>
          <p:cNvSpPr/>
          <p:nvPr/>
        </p:nvSpPr>
        <p:spPr>
          <a:xfrm>
            <a:off x="640080" y="1554480"/>
            <a:ext cx="2560320" cy="2194560"/>
          </a:xfrm>
          <a:prstGeom prst="roundRect">
            <a:avLst>
              <a:gd name="adj" fmla="val 4167"/>
            </a:avLst>
          </a:prstGeom>
          <a:solidFill>
            <a:schemeClr val="bg2"/>
          </a:solidFill>
          <a:ln/>
        </p:spPr>
      </p:sp>
      <p:sp>
        <p:nvSpPr>
          <p:cNvPr id="4" name="Text 2"/>
          <p:cNvSpPr txBox="1"/>
          <p:nvPr/>
        </p:nvSpPr>
        <p:spPr>
          <a:xfrm>
            <a:off x="914400" y="1737360"/>
            <a:ext cx="914400" cy="731520"/>
          </a:xfrm>
          <a:prstGeom prst="rect">
            <a:avLst/>
          </a:prstGeom>
          <a:noFill/>
          <a:ln/>
        </p:spPr>
        <p:txBody>
          <a:bodyPr wrap="square" lIns="0" tIns="0" rIns="0" bIns="0" rtlCol="0" anchor="t"/>
          <a:lstStyle/>
          <a:p>
            <a:pPr indent="0" marL="0">
              <a:buNone/>
            </a:pPr>
            <a:r>
              <a:rPr lang="en-US" sz="4000" dirty="0">
                <a:solidFill>
                  <a:schemeClr val="accent6"/>
                </a:solidFill>
              </a:rPr>
              <a:t>?</a:t>
            </a:r>
            <a:endParaRPr lang="en-US" sz="4000" dirty="0"/>
          </a:p>
        </p:txBody>
      </p:sp>
      <p:sp>
        <p:nvSpPr>
          <p:cNvPr id="5" name="Text 3"/>
          <p:cNvSpPr txBox="1"/>
          <p:nvPr/>
        </p:nvSpPr>
        <p:spPr>
          <a:xfrm>
            <a:off x="914400" y="2514600"/>
            <a:ext cx="2103120" cy="365760"/>
          </a:xfrm>
          <a:prstGeom prst="rect">
            <a:avLst/>
          </a:prstGeom>
          <a:noFill/>
          <a:ln/>
        </p:spPr>
        <p:txBody>
          <a:bodyPr wrap="square" lIns="0" tIns="0" rIns="0" bIns="0" rtlCol="0" anchor="t"/>
          <a:lstStyle/>
          <a:p>
            <a:pPr indent="0" marL="0">
              <a:buNone/>
            </a:pPr>
            <a:r>
              <a:rPr lang="en-US" sz="1700" b="1" dirty="0">
                <a:solidFill>
                  <a:schemeClr val="tx1"/>
                </a:solidFill>
              </a:rPr>
              <a:t>Thrust per nozzle</a:t>
            </a:r>
            <a:endParaRPr lang="en-US" sz="1700" dirty="0"/>
          </a:p>
        </p:txBody>
      </p:sp>
      <p:sp>
        <p:nvSpPr>
          <p:cNvPr id="6" name="Text 4"/>
          <p:cNvSpPr txBox="1"/>
          <p:nvPr/>
        </p:nvSpPr>
        <p:spPr>
          <a:xfrm>
            <a:off x="914400" y="2926080"/>
            <a:ext cx="2103120" cy="731520"/>
          </a:xfrm>
          <a:prstGeom prst="rect">
            <a:avLst/>
          </a:prstGeom>
          <a:noFill/>
          <a:ln/>
        </p:spPr>
        <p:txBody>
          <a:bodyPr wrap="square" lIns="0" tIns="0" rIns="0" bIns="0" rtlCol="0" anchor="t"/>
          <a:lstStyle/>
          <a:p>
            <a:pPr indent="0" marL="0">
              <a:buNone/>
            </a:pPr>
            <a:r>
              <a:rPr lang="en-US" sz="1300" dirty="0">
                <a:solidFill>
                  <a:schemeClr val="tx2"/>
                </a:solidFill>
              </a:rPr>
              <a:t>How hard each of the 10 thrusters pushes</a:t>
            </a:r>
            <a:endParaRPr lang="en-US" sz="1300" dirty="0"/>
          </a:p>
        </p:txBody>
      </p:sp>
      <p:sp>
        <p:nvSpPr>
          <p:cNvPr id="7" name="Unknown 1"/>
          <p:cNvSpPr/>
          <p:nvPr/>
        </p:nvSpPr>
        <p:spPr>
          <a:xfrm>
            <a:off x="3401568" y="1554480"/>
            <a:ext cx="2560320" cy="2194560"/>
          </a:xfrm>
          <a:prstGeom prst="roundRect">
            <a:avLst>
              <a:gd name="adj" fmla="val 4167"/>
            </a:avLst>
          </a:prstGeom>
          <a:solidFill>
            <a:schemeClr val="bg2"/>
          </a:solidFill>
          <a:ln/>
        </p:spPr>
      </p:sp>
      <p:sp>
        <p:nvSpPr>
          <p:cNvPr id="8" name="Text 6"/>
          <p:cNvSpPr txBox="1"/>
          <p:nvPr/>
        </p:nvSpPr>
        <p:spPr>
          <a:xfrm>
            <a:off x="3675888" y="1737360"/>
            <a:ext cx="914400" cy="731520"/>
          </a:xfrm>
          <a:prstGeom prst="rect">
            <a:avLst/>
          </a:prstGeom>
          <a:noFill/>
          <a:ln/>
        </p:spPr>
        <p:txBody>
          <a:bodyPr wrap="square" lIns="0" tIns="0" rIns="0" bIns="0" rtlCol="0" anchor="t"/>
          <a:lstStyle/>
          <a:p>
            <a:pPr indent="0" marL="0">
              <a:buNone/>
            </a:pPr>
            <a:r>
              <a:rPr lang="en-US" sz="4000" dirty="0">
                <a:solidFill>
                  <a:schemeClr val="accent6"/>
                </a:solidFill>
              </a:rPr>
              <a:t>?</a:t>
            </a:r>
            <a:endParaRPr lang="en-US" sz="4000" dirty="0"/>
          </a:p>
        </p:txBody>
      </p:sp>
      <p:sp>
        <p:nvSpPr>
          <p:cNvPr id="9" name="Text 7"/>
          <p:cNvSpPr txBox="1"/>
          <p:nvPr/>
        </p:nvSpPr>
        <p:spPr>
          <a:xfrm>
            <a:off x="3675888" y="2514600"/>
            <a:ext cx="2103120" cy="365760"/>
          </a:xfrm>
          <a:prstGeom prst="rect">
            <a:avLst/>
          </a:prstGeom>
          <a:noFill/>
          <a:ln/>
        </p:spPr>
        <p:txBody>
          <a:bodyPr wrap="square" lIns="0" tIns="0" rIns="0" bIns="0" rtlCol="0" anchor="t"/>
          <a:lstStyle/>
          <a:p>
            <a:pPr indent="0" marL="0">
              <a:buNone/>
            </a:pPr>
            <a:r>
              <a:rPr lang="en-US" sz="1700" b="1" dirty="0">
                <a:solidFill>
                  <a:schemeClr val="tx1"/>
                </a:solidFill>
              </a:rPr>
              <a:t>Tank pressure</a:t>
            </a:r>
            <a:endParaRPr lang="en-US" sz="1700" dirty="0"/>
          </a:p>
        </p:txBody>
      </p:sp>
      <p:sp>
        <p:nvSpPr>
          <p:cNvPr id="10" name="Text 8"/>
          <p:cNvSpPr txBox="1"/>
          <p:nvPr/>
        </p:nvSpPr>
        <p:spPr>
          <a:xfrm>
            <a:off x="3675888" y="2926080"/>
            <a:ext cx="2103120" cy="731520"/>
          </a:xfrm>
          <a:prstGeom prst="rect">
            <a:avLst/>
          </a:prstGeom>
          <a:noFill/>
          <a:ln/>
        </p:spPr>
        <p:txBody>
          <a:bodyPr wrap="square" lIns="0" tIns="0" rIns="0" bIns="0" rtlCol="0" anchor="t"/>
          <a:lstStyle/>
          <a:p>
            <a:pPr indent="0" marL="0">
              <a:buNone/>
            </a:pPr>
            <a:r>
              <a:rPr lang="en-US" sz="1300" dirty="0">
                <a:solidFill>
                  <a:schemeClr val="tx2"/>
                </a:solidFill>
              </a:rPr>
              <a:t>How much air the 600 L tank really holds</a:t>
            </a:r>
            <a:endParaRPr lang="en-US" sz="1300" dirty="0"/>
          </a:p>
        </p:txBody>
      </p:sp>
      <p:sp>
        <p:nvSpPr>
          <p:cNvPr id="11" name="Unknown 2"/>
          <p:cNvSpPr/>
          <p:nvPr/>
        </p:nvSpPr>
        <p:spPr>
          <a:xfrm>
            <a:off x="6163056" y="1554480"/>
            <a:ext cx="2560320" cy="2194560"/>
          </a:xfrm>
          <a:prstGeom prst="roundRect">
            <a:avLst>
              <a:gd name="adj" fmla="val 4167"/>
            </a:avLst>
          </a:prstGeom>
          <a:solidFill>
            <a:schemeClr val="bg2"/>
          </a:solidFill>
          <a:ln/>
        </p:spPr>
      </p:sp>
      <p:sp>
        <p:nvSpPr>
          <p:cNvPr id="12" name="Text 10"/>
          <p:cNvSpPr txBox="1"/>
          <p:nvPr/>
        </p:nvSpPr>
        <p:spPr>
          <a:xfrm>
            <a:off x="6437376" y="1737360"/>
            <a:ext cx="914400" cy="731520"/>
          </a:xfrm>
          <a:prstGeom prst="rect">
            <a:avLst/>
          </a:prstGeom>
          <a:noFill/>
          <a:ln/>
        </p:spPr>
        <p:txBody>
          <a:bodyPr wrap="square" lIns="0" tIns="0" rIns="0" bIns="0" rtlCol="0" anchor="t"/>
          <a:lstStyle/>
          <a:p>
            <a:pPr indent="0" marL="0">
              <a:buNone/>
            </a:pPr>
            <a:r>
              <a:rPr lang="en-US" sz="4000" dirty="0">
                <a:solidFill>
                  <a:schemeClr val="accent6"/>
                </a:solidFill>
              </a:rPr>
              <a:t>?</a:t>
            </a:r>
            <a:endParaRPr lang="en-US" sz="4000" dirty="0"/>
          </a:p>
        </p:txBody>
      </p:sp>
      <p:sp>
        <p:nvSpPr>
          <p:cNvPr id="13" name="Text 11"/>
          <p:cNvSpPr txBox="1"/>
          <p:nvPr/>
        </p:nvSpPr>
        <p:spPr>
          <a:xfrm>
            <a:off x="6437376" y="2514600"/>
            <a:ext cx="2103120" cy="365760"/>
          </a:xfrm>
          <a:prstGeom prst="rect">
            <a:avLst/>
          </a:prstGeom>
          <a:noFill/>
          <a:ln/>
        </p:spPr>
        <p:txBody>
          <a:bodyPr wrap="square" lIns="0" tIns="0" rIns="0" bIns="0" rtlCol="0" anchor="t"/>
          <a:lstStyle/>
          <a:p>
            <a:pPr indent="0" marL="0">
              <a:buNone/>
            </a:pPr>
            <a:r>
              <a:rPr lang="en-US" sz="1700" b="1" dirty="0">
                <a:solidFill>
                  <a:schemeClr val="tx1"/>
                </a:solidFill>
              </a:rPr>
              <a:t>Fan pressure</a:t>
            </a:r>
            <a:endParaRPr lang="en-US" sz="1700" dirty="0"/>
          </a:p>
        </p:txBody>
      </p:sp>
      <p:sp>
        <p:nvSpPr>
          <p:cNvPr id="14" name="Text 12"/>
          <p:cNvSpPr txBox="1"/>
          <p:nvPr/>
        </p:nvSpPr>
        <p:spPr>
          <a:xfrm>
            <a:off x="6437376" y="2926080"/>
            <a:ext cx="2103120" cy="731520"/>
          </a:xfrm>
          <a:prstGeom prst="rect">
            <a:avLst/>
          </a:prstGeom>
          <a:noFill/>
          <a:ln/>
        </p:spPr>
        <p:txBody>
          <a:bodyPr wrap="square" lIns="0" tIns="0" rIns="0" bIns="0" rtlCol="0" anchor="t"/>
          <a:lstStyle/>
          <a:p>
            <a:pPr indent="0" marL="0">
              <a:buNone/>
            </a:pPr>
            <a:r>
              <a:rPr lang="en-US" sz="1300" dirty="0">
                <a:solidFill>
                  <a:schemeClr val="tx2"/>
                </a:solidFill>
              </a:rPr>
              <a:t>How the "2 g" of suction is produced</a:t>
            </a:r>
            <a:endParaRPr lang="en-US" sz="1300" dirty="0"/>
          </a:p>
        </p:txBody>
      </p:sp>
      <p:sp>
        <p:nvSpPr>
          <p:cNvPr id="15" name="Unknown 3"/>
          <p:cNvSpPr/>
          <p:nvPr/>
        </p:nvSpPr>
        <p:spPr>
          <a:xfrm>
            <a:off x="8924544" y="1554480"/>
            <a:ext cx="2560320" cy="2194560"/>
          </a:xfrm>
          <a:prstGeom prst="roundRect">
            <a:avLst>
              <a:gd name="adj" fmla="val 4167"/>
            </a:avLst>
          </a:prstGeom>
          <a:solidFill>
            <a:schemeClr val="bg2"/>
          </a:solidFill>
          <a:ln/>
        </p:spPr>
      </p:sp>
      <p:sp>
        <p:nvSpPr>
          <p:cNvPr id="16" name="Text 14"/>
          <p:cNvSpPr txBox="1"/>
          <p:nvPr/>
        </p:nvSpPr>
        <p:spPr>
          <a:xfrm>
            <a:off x="9198864" y="1737360"/>
            <a:ext cx="914400" cy="731520"/>
          </a:xfrm>
          <a:prstGeom prst="rect">
            <a:avLst/>
          </a:prstGeom>
          <a:noFill/>
          <a:ln/>
        </p:spPr>
        <p:txBody>
          <a:bodyPr wrap="square" lIns="0" tIns="0" rIns="0" bIns="0" rtlCol="0" anchor="t"/>
          <a:lstStyle/>
          <a:p>
            <a:pPr indent="0" marL="0">
              <a:buNone/>
            </a:pPr>
            <a:r>
              <a:rPr lang="en-US" sz="4000" dirty="0">
                <a:solidFill>
                  <a:schemeClr val="accent6"/>
                </a:solidFill>
              </a:rPr>
              <a:t>?</a:t>
            </a:r>
            <a:endParaRPr lang="en-US" sz="4000" dirty="0"/>
          </a:p>
        </p:txBody>
      </p:sp>
      <p:sp>
        <p:nvSpPr>
          <p:cNvPr id="17" name="Text 15"/>
          <p:cNvSpPr txBox="1"/>
          <p:nvPr/>
        </p:nvSpPr>
        <p:spPr>
          <a:xfrm>
            <a:off x="9198864" y="2514600"/>
            <a:ext cx="2103120" cy="365760"/>
          </a:xfrm>
          <a:prstGeom prst="rect">
            <a:avLst/>
          </a:prstGeom>
          <a:noFill/>
          <a:ln/>
        </p:spPr>
        <p:txBody>
          <a:bodyPr wrap="square" lIns="0" tIns="0" rIns="0" bIns="0" rtlCol="0" anchor="t"/>
          <a:lstStyle/>
          <a:p>
            <a:pPr indent="0" marL="0">
              <a:buNone/>
            </a:pPr>
            <a:r>
              <a:rPr lang="en-US" sz="1700" b="1" dirty="0">
                <a:solidFill>
                  <a:schemeClr val="tx1"/>
                </a:solidFill>
              </a:rPr>
              <a:t>Ramp size</a:t>
            </a:r>
            <a:endParaRPr lang="en-US" sz="1700" dirty="0"/>
          </a:p>
        </p:txBody>
      </p:sp>
      <p:sp>
        <p:nvSpPr>
          <p:cNvPr id="18" name="Text 16"/>
          <p:cNvSpPr txBox="1"/>
          <p:nvPr/>
        </p:nvSpPr>
        <p:spPr>
          <a:xfrm>
            <a:off x="9198864" y="2926080"/>
            <a:ext cx="2103120" cy="731520"/>
          </a:xfrm>
          <a:prstGeom prst="rect">
            <a:avLst/>
          </a:prstGeom>
          <a:noFill/>
          <a:ln/>
        </p:spPr>
        <p:txBody>
          <a:bodyPr wrap="square" lIns="0" tIns="0" rIns="0" bIns="0" rtlCol="0" anchor="t"/>
          <a:lstStyle/>
          <a:p>
            <a:pPr indent="0" marL="0">
              <a:buNone/>
            </a:pPr>
            <a:r>
              <a:rPr lang="en-US" sz="1300" dirty="0">
                <a:solidFill>
                  <a:schemeClr val="tx2"/>
                </a:solidFill>
              </a:rPr>
              <a:t>Radius, height, launch speed</a:t>
            </a:r>
            <a:endParaRPr lang="en-US" sz="1300" dirty="0"/>
          </a:p>
        </p:txBody>
      </p:sp>
      <p:sp>
        <p:nvSpPr>
          <p:cNvPr id="19" name="Text 17"/>
          <p:cNvSpPr txBox="1"/>
          <p:nvPr/>
        </p:nvSpPr>
        <p:spPr>
          <a:xfrm>
            <a:off x="640080" y="4297680"/>
            <a:ext cx="10881360" cy="731520"/>
          </a:xfrm>
          <a:prstGeom prst="rect">
            <a:avLst/>
          </a:prstGeom>
          <a:noFill/>
          <a:ln/>
        </p:spPr>
        <p:txBody>
          <a:bodyPr wrap="square" lIns="0" tIns="0" rIns="0" bIns="0" rtlCol="0" anchor="t"/>
          <a:lstStyle/>
          <a:p>
            <a:pPr indent="0" marL="0">
              <a:buNone/>
            </a:pPr>
            <a:r>
              <a:rPr lang="en-US" sz="2600" dirty="0">
                <a:solidFill>
                  <a:schemeClr val="accent1"/>
                </a:solidFill>
              </a:rPr>
              <a:t>So I built a simulator to find out which numbers make the stunt possible.</a:t>
            </a:r>
            <a:endParaRPr lang="en-US" sz="26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Roadster Lab at a glance</a:t>
            </a:r>
            <a:endParaRPr lang="en-US" sz="3400" dirty="0"/>
          </a:p>
        </p:txBody>
      </p:sp>
      <p:pic>
        <p:nvPicPr>
          <p:cNvPr id="3" name="Hero render" descr="C:\Users\arko4\Desktop\Roadster Simulation\shots\hero.jpg">    </p:cNvPr>
          <p:cNvPicPr>
            <a:picLocks noChangeAspect="1"/>
          </p:cNvPicPr>
          <p:nvPr/>
        </p:nvPicPr>
        <p:blipFill>
          <a:blip r:embed="rId1"/>
          <a:srcRect l="0" r="0" t="0" b="0"/>
          <a:stretch/>
        </p:blipFill>
        <p:spPr>
          <a:xfrm>
            <a:off x="640080" y="1463040"/>
            <a:ext cx="6675120" cy="3749040"/>
          </a:xfrm>
          <a:prstGeom prst="rect">
            <a:avLst/>
          </a:prstGeom>
        </p:spPr>
      </p:pic>
      <p:sp>
        <p:nvSpPr>
          <p:cNvPr id="4" name="Text 1"/>
          <p:cNvSpPr txBox="1"/>
          <p:nvPr/>
        </p:nvSpPr>
        <p:spPr>
          <a:xfrm>
            <a:off x="7772400" y="1508760"/>
            <a:ext cx="3749040" cy="365760"/>
          </a:xfrm>
          <a:prstGeom prst="rect">
            <a:avLst/>
          </a:prstGeom>
          <a:noFill/>
          <a:ln/>
        </p:spPr>
        <p:txBody>
          <a:bodyPr wrap="square" lIns="0" tIns="0" rIns="0" bIns="0" rtlCol="0" anchor="t"/>
          <a:lstStyle/>
          <a:p>
            <a:pPr indent="0" marL="0">
              <a:buNone/>
            </a:pPr>
            <a:r>
              <a:rPr lang="en-US" sz="1900" b="1" dirty="0">
                <a:solidFill>
                  <a:schemeClr val="tx1"/>
                </a:solidFill>
              </a:rPr>
              <a:t>Drive</a:t>
            </a:r>
            <a:endParaRPr lang="en-US" sz="1900" dirty="0"/>
          </a:p>
        </p:txBody>
      </p:sp>
      <p:sp>
        <p:nvSpPr>
          <p:cNvPr id="5" name="Text 2"/>
          <p:cNvSpPr txBox="1"/>
          <p:nvPr/>
        </p:nvSpPr>
        <p:spPr>
          <a:xfrm>
            <a:off x="7772400" y="1874520"/>
            <a:ext cx="3749040" cy="457200"/>
          </a:xfrm>
          <a:prstGeom prst="rect">
            <a:avLst/>
          </a:prstGeom>
          <a:noFill/>
          <a:ln/>
        </p:spPr>
        <p:txBody>
          <a:bodyPr wrap="square" lIns="0" tIns="0" rIns="0" bIns="0" rtlCol="0" anchor="t"/>
          <a:lstStyle/>
          <a:p>
            <a:pPr indent="0" marL="0">
              <a:buNone/>
            </a:pPr>
            <a:r>
              <a:rPr lang="en-US" sz="1400" dirty="0">
                <a:solidFill>
                  <a:schemeClr val="tx2"/>
                </a:solidFill>
              </a:rPr>
              <a:t>Real suspension, tyre grip and drag</a:t>
            </a:r>
            <a:endParaRPr lang="en-US" sz="1400" dirty="0"/>
          </a:p>
        </p:txBody>
      </p:sp>
      <p:sp>
        <p:nvSpPr>
          <p:cNvPr id="6" name="Text 3"/>
          <p:cNvSpPr txBox="1"/>
          <p:nvPr/>
        </p:nvSpPr>
        <p:spPr>
          <a:xfrm>
            <a:off x="7772400" y="2468880"/>
            <a:ext cx="3749040" cy="365760"/>
          </a:xfrm>
          <a:prstGeom prst="rect">
            <a:avLst/>
          </a:prstGeom>
          <a:noFill/>
          <a:ln/>
        </p:spPr>
        <p:txBody>
          <a:bodyPr wrap="square" lIns="0" tIns="0" rIns="0" bIns="0" rtlCol="0" anchor="t"/>
          <a:lstStyle/>
          <a:p>
            <a:pPr indent="0" marL="0">
              <a:buNone/>
            </a:pPr>
            <a:r>
              <a:rPr lang="en-US" sz="1900" b="1" dirty="0">
                <a:solidFill>
                  <a:schemeClr val="tx1"/>
                </a:solidFill>
              </a:rPr>
              <a:t>Stunts</a:t>
            </a:r>
            <a:endParaRPr lang="en-US" sz="1900" dirty="0"/>
          </a:p>
        </p:txBody>
      </p:sp>
      <p:sp>
        <p:nvSpPr>
          <p:cNvPr id="7" name="Text 4"/>
          <p:cNvSpPr txBox="1"/>
          <p:nvPr/>
        </p:nvSpPr>
        <p:spPr>
          <a:xfrm>
            <a:off x="7772400" y="2834640"/>
            <a:ext cx="3749040" cy="457200"/>
          </a:xfrm>
          <a:prstGeom prst="rect">
            <a:avLst/>
          </a:prstGeom>
          <a:noFill/>
          <a:ln/>
        </p:spPr>
        <p:txBody>
          <a:bodyPr wrap="square" lIns="0" tIns="0" rIns="0" bIns="0" rtlCol="0" anchor="t"/>
          <a:lstStyle/>
          <a:p>
            <a:pPr indent="0" marL="0">
              <a:buNone/>
            </a:pPr>
            <a:r>
              <a:rPr lang="en-US" sz="1400" dirty="0">
                <a:solidFill>
                  <a:schemeClr val="tx2"/>
                </a:solidFill>
              </a:rPr>
              <a:t>Autopilot replays the reveal stunts in live physics</a:t>
            </a:r>
            <a:endParaRPr lang="en-US" sz="1400" dirty="0"/>
          </a:p>
        </p:txBody>
      </p:sp>
      <p:sp>
        <p:nvSpPr>
          <p:cNvPr id="8" name="Text 5"/>
          <p:cNvSpPr txBox="1"/>
          <p:nvPr/>
        </p:nvSpPr>
        <p:spPr>
          <a:xfrm>
            <a:off x="7772400" y="3429000"/>
            <a:ext cx="3749040" cy="365760"/>
          </a:xfrm>
          <a:prstGeom prst="rect">
            <a:avLst/>
          </a:prstGeom>
          <a:noFill/>
          <a:ln/>
        </p:spPr>
        <p:txBody>
          <a:bodyPr wrap="square" lIns="0" tIns="0" rIns="0" bIns="0" rtlCol="0" anchor="t"/>
          <a:lstStyle/>
          <a:p>
            <a:pPr indent="0" marL="0">
              <a:buNone/>
            </a:pPr>
            <a:r>
              <a:rPr lang="en-US" sz="1900" b="1" dirty="0">
                <a:solidFill>
                  <a:schemeClr val="tx1"/>
                </a:solidFill>
              </a:rPr>
              <a:t>How it works</a:t>
            </a:r>
            <a:endParaRPr lang="en-US" sz="1900" dirty="0"/>
          </a:p>
        </p:txBody>
      </p:sp>
      <p:sp>
        <p:nvSpPr>
          <p:cNvPr id="9" name="Text 6"/>
          <p:cNvSpPr txBox="1"/>
          <p:nvPr/>
        </p:nvSpPr>
        <p:spPr>
          <a:xfrm>
            <a:off x="7772400" y="3794760"/>
            <a:ext cx="3749040" cy="457200"/>
          </a:xfrm>
          <a:prstGeom prst="rect">
            <a:avLst/>
          </a:prstGeom>
          <a:noFill/>
          <a:ln/>
        </p:spPr>
        <p:txBody>
          <a:bodyPr wrap="square" lIns="0" tIns="0" rIns="0" bIns="0" rtlCol="0" anchor="t"/>
          <a:lstStyle/>
          <a:p>
            <a:pPr indent="0" marL="0">
              <a:buNone/>
            </a:pPr>
            <a:r>
              <a:rPr lang="en-US" sz="1400" dirty="0">
                <a:solidFill>
                  <a:schemeClr val="tx2"/>
                </a:solidFill>
              </a:rPr>
              <a:t>See-through view with power, air and fan flows</a:t>
            </a:r>
            <a:endParaRPr lang="en-US" sz="1400" dirty="0"/>
          </a:p>
        </p:txBody>
      </p:sp>
      <p:sp>
        <p:nvSpPr>
          <p:cNvPr id="10" name="Text 7"/>
          <p:cNvSpPr txBox="1"/>
          <p:nvPr/>
        </p:nvSpPr>
        <p:spPr>
          <a:xfrm>
            <a:off x="7772400" y="4389120"/>
            <a:ext cx="3749040" cy="365760"/>
          </a:xfrm>
          <a:prstGeom prst="rect">
            <a:avLst/>
          </a:prstGeom>
          <a:noFill/>
          <a:ln/>
        </p:spPr>
        <p:txBody>
          <a:bodyPr wrap="square" lIns="0" tIns="0" rIns="0" bIns="0" rtlCol="0" anchor="t"/>
          <a:lstStyle/>
          <a:p>
            <a:pPr indent="0" marL="0">
              <a:buNone/>
            </a:pPr>
            <a:r>
              <a:rPr lang="en-US" sz="1900" b="1" dirty="0">
                <a:solidFill>
                  <a:schemeClr val="tx1"/>
                </a:solidFill>
              </a:rPr>
              <a:t>Data</a:t>
            </a:r>
            <a:endParaRPr lang="en-US" sz="1900" dirty="0"/>
          </a:p>
        </p:txBody>
      </p:sp>
      <p:sp>
        <p:nvSpPr>
          <p:cNvPr id="11" name="Text 8"/>
          <p:cNvSpPr txBox="1"/>
          <p:nvPr/>
        </p:nvSpPr>
        <p:spPr>
          <a:xfrm>
            <a:off x="7772400" y="4754880"/>
            <a:ext cx="3749040" cy="457200"/>
          </a:xfrm>
          <a:prstGeom prst="rect">
            <a:avLst/>
          </a:prstGeom>
          <a:noFill/>
          <a:ln/>
        </p:spPr>
        <p:txBody>
          <a:bodyPr wrap="square" lIns="0" tIns="0" rIns="0" bIns="0" rtlCol="0" anchor="t"/>
          <a:lstStyle/>
          <a:p>
            <a:pPr indent="0" marL="0">
              <a:buNone/>
            </a:pPr>
            <a:r>
              <a:rPr lang="en-US" sz="1400" dirty="0">
                <a:solidFill>
                  <a:schemeClr val="tx2"/>
                </a:solidFill>
              </a:rPr>
              <a:t>Live readings, graphs and CSV export</a:t>
            </a:r>
            <a:endParaRPr lang="en-US" sz="1400" dirty="0"/>
          </a:p>
        </p:txBody>
      </p:sp>
      <p:sp>
        <p:nvSpPr>
          <p:cNvPr id="12" name="Text 9"/>
          <p:cNvSpPr txBox="1"/>
          <p:nvPr/>
        </p:nvSpPr>
        <p:spPr>
          <a:xfrm>
            <a:off x="640080" y="5532120"/>
            <a:ext cx="10881360" cy="365760"/>
          </a:xfrm>
          <a:prstGeom prst="rect">
            <a:avLst/>
          </a:prstGeom>
          <a:noFill/>
          <a:ln/>
        </p:spPr>
        <p:txBody>
          <a:bodyPr wrap="square" lIns="0" tIns="0" rIns="0" bIns="0" rtlCol="0" anchor="t"/>
          <a:lstStyle/>
          <a:p>
            <a:pPr indent="0" marL="0">
              <a:buNone/>
            </a:pPr>
            <a:r>
              <a:rPr lang="en-US" sz="1500" dirty="0">
                <a:solidFill>
                  <a:schemeClr val="accent1"/>
                </a:solidFill>
              </a:rPr>
              <a:t>One file, RoadsterLab.html. Double-click it on any laptop. No install, no internet.</a:t>
            </a:r>
            <a:endParaRPr lang="en-US" sz="15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Controls and features</a:t>
            </a:r>
            <a:endParaRPr lang="en-US" sz="3400" dirty="0"/>
          </a:p>
        </p:txBody>
      </p:sp>
      <p:sp>
        <p:nvSpPr>
          <p:cNvPr id="3" name="Text 1"/>
          <p:cNvSpPr txBox="1"/>
          <p:nvPr/>
        </p:nvSpPr>
        <p:spPr>
          <a:xfrm>
            <a:off x="640080" y="1463040"/>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W  S</a:t>
            </a:r>
            <a:endParaRPr lang="en-US" sz="1200" dirty="0"/>
          </a:p>
        </p:txBody>
      </p:sp>
      <p:sp>
        <p:nvSpPr>
          <p:cNvPr id="4" name="Text 2"/>
          <p:cNvSpPr txBox="1"/>
          <p:nvPr/>
        </p:nvSpPr>
        <p:spPr>
          <a:xfrm>
            <a:off x="1920240" y="1499616"/>
            <a:ext cx="3566160" cy="329184"/>
          </a:xfrm>
          <a:prstGeom prst="rect">
            <a:avLst/>
          </a:prstGeom>
          <a:noFill/>
          <a:ln/>
        </p:spPr>
        <p:txBody>
          <a:bodyPr wrap="square" lIns="0" tIns="0" rIns="0" bIns="0" rtlCol="0" anchor="t"/>
          <a:lstStyle/>
          <a:p>
            <a:pPr indent="0" marL="0">
              <a:buNone/>
            </a:pPr>
            <a:r>
              <a:rPr lang="en-US" sz="1300" dirty="0">
                <a:solidFill>
                  <a:schemeClr val="tx1"/>
                </a:solidFill>
              </a:rPr>
              <a:t>Accelerate, brake, then reverse</a:t>
            </a:r>
            <a:endParaRPr lang="en-US" sz="1300" dirty="0"/>
          </a:p>
        </p:txBody>
      </p:sp>
      <p:sp>
        <p:nvSpPr>
          <p:cNvPr id="5" name="Text 3"/>
          <p:cNvSpPr txBox="1"/>
          <p:nvPr/>
        </p:nvSpPr>
        <p:spPr>
          <a:xfrm>
            <a:off x="640080" y="1892808"/>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A  D</a:t>
            </a:r>
            <a:endParaRPr lang="en-US" sz="1200" dirty="0"/>
          </a:p>
        </p:txBody>
      </p:sp>
      <p:sp>
        <p:nvSpPr>
          <p:cNvPr id="6" name="Text 4"/>
          <p:cNvSpPr txBox="1"/>
          <p:nvPr/>
        </p:nvSpPr>
        <p:spPr>
          <a:xfrm>
            <a:off x="1920240" y="1929384"/>
            <a:ext cx="3566160" cy="329184"/>
          </a:xfrm>
          <a:prstGeom prst="rect">
            <a:avLst/>
          </a:prstGeom>
          <a:noFill/>
          <a:ln/>
        </p:spPr>
        <p:txBody>
          <a:bodyPr wrap="square" lIns="0" tIns="0" rIns="0" bIns="0" rtlCol="0" anchor="t"/>
          <a:lstStyle/>
          <a:p>
            <a:pPr indent="0" marL="0">
              <a:buNone/>
            </a:pPr>
            <a:r>
              <a:rPr lang="en-US" sz="1300" dirty="0">
                <a:solidFill>
                  <a:schemeClr val="tx1"/>
                </a:solidFill>
              </a:rPr>
              <a:t>Steer</a:t>
            </a:r>
            <a:endParaRPr lang="en-US" sz="1300" dirty="0"/>
          </a:p>
        </p:txBody>
      </p:sp>
      <p:sp>
        <p:nvSpPr>
          <p:cNvPr id="7" name="Text 5"/>
          <p:cNvSpPr txBox="1"/>
          <p:nvPr/>
        </p:nvSpPr>
        <p:spPr>
          <a:xfrm>
            <a:off x="640080" y="2322576"/>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Space</a:t>
            </a:r>
            <a:endParaRPr lang="en-US" sz="1200" dirty="0"/>
          </a:p>
        </p:txBody>
      </p:sp>
      <p:sp>
        <p:nvSpPr>
          <p:cNvPr id="8" name="Text 6"/>
          <p:cNvSpPr txBox="1"/>
          <p:nvPr/>
        </p:nvSpPr>
        <p:spPr>
          <a:xfrm>
            <a:off x="1920240" y="2359152"/>
            <a:ext cx="3566160" cy="329184"/>
          </a:xfrm>
          <a:prstGeom prst="rect">
            <a:avLst/>
          </a:prstGeom>
          <a:noFill/>
          <a:ln/>
        </p:spPr>
        <p:txBody>
          <a:bodyPr wrap="square" lIns="0" tIns="0" rIns="0" bIns="0" rtlCol="0" anchor="t"/>
          <a:lstStyle/>
          <a:p>
            <a:pPr indent="0" marL="0">
              <a:buNone/>
            </a:pPr>
            <a:r>
              <a:rPr lang="en-US" sz="1300" dirty="0">
                <a:solidFill>
                  <a:schemeClr val="tx1"/>
                </a:solidFill>
              </a:rPr>
              <a:t>Handbrake</a:t>
            </a:r>
            <a:endParaRPr lang="en-US" sz="1300" dirty="0"/>
          </a:p>
        </p:txBody>
      </p:sp>
      <p:sp>
        <p:nvSpPr>
          <p:cNvPr id="9" name="Text 7"/>
          <p:cNvSpPr txBox="1"/>
          <p:nvPr/>
        </p:nvSpPr>
        <p:spPr>
          <a:xfrm>
            <a:off x="640080" y="2752344"/>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Shift</a:t>
            </a:r>
            <a:endParaRPr lang="en-US" sz="1200" dirty="0"/>
          </a:p>
        </p:txBody>
      </p:sp>
      <p:sp>
        <p:nvSpPr>
          <p:cNvPr id="10" name="Text 8"/>
          <p:cNvSpPr txBox="1"/>
          <p:nvPr/>
        </p:nvSpPr>
        <p:spPr>
          <a:xfrm>
            <a:off x="1920240" y="2788920"/>
            <a:ext cx="3566160" cy="329184"/>
          </a:xfrm>
          <a:prstGeom prst="rect">
            <a:avLst/>
          </a:prstGeom>
          <a:noFill/>
          <a:ln/>
        </p:spPr>
        <p:txBody>
          <a:bodyPr wrap="square" lIns="0" tIns="0" rIns="0" bIns="0" rtlCol="0" anchor="t"/>
          <a:lstStyle/>
          <a:p>
            <a:pPr indent="0" marL="0">
              <a:buNone/>
            </a:pPr>
            <a:r>
              <a:rPr lang="en-US" sz="1300" dirty="0">
                <a:solidFill>
                  <a:schemeClr val="tx1"/>
                </a:solidFill>
              </a:rPr>
              <a:t>Boost: both rear thrusters</a:t>
            </a:r>
            <a:endParaRPr lang="en-US" sz="1300" dirty="0"/>
          </a:p>
        </p:txBody>
      </p:sp>
      <p:sp>
        <p:nvSpPr>
          <p:cNvPr id="11" name="Text 9"/>
          <p:cNvSpPr txBox="1"/>
          <p:nvPr/>
        </p:nvSpPr>
        <p:spPr>
          <a:xfrm>
            <a:off x="640080" y="3182112"/>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H</a:t>
            </a:r>
            <a:endParaRPr lang="en-US" sz="1200" dirty="0"/>
          </a:p>
        </p:txBody>
      </p:sp>
      <p:sp>
        <p:nvSpPr>
          <p:cNvPr id="12" name="Text 10"/>
          <p:cNvSpPr txBox="1"/>
          <p:nvPr/>
        </p:nvSpPr>
        <p:spPr>
          <a:xfrm>
            <a:off x="1920240" y="3218688"/>
            <a:ext cx="3566160" cy="329184"/>
          </a:xfrm>
          <a:prstGeom prst="rect">
            <a:avLst/>
          </a:prstGeom>
          <a:noFill/>
          <a:ln/>
        </p:spPr>
        <p:txBody>
          <a:bodyPr wrap="square" lIns="0" tIns="0" rIns="0" bIns="0" rtlCol="0" anchor="t"/>
          <a:lstStyle/>
          <a:p>
            <a:pPr indent="0" marL="0">
              <a:buNone/>
            </a:pPr>
            <a:r>
              <a:rPr lang="en-US" sz="1300" dirty="0">
                <a:solidFill>
                  <a:schemeClr val="tx1"/>
                </a:solidFill>
              </a:rPr>
              <a:t>Hover. Then W S tilt, A D turn, E Q height</a:t>
            </a:r>
            <a:endParaRPr lang="en-US" sz="1300" dirty="0"/>
          </a:p>
        </p:txBody>
      </p:sp>
      <p:sp>
        <p:nvSpPr>
          <p:cNvPr id="13" name="Text 11"/>
          <p:cNvSpPr txBox="1"/>
          <p:nvPr/>
        </p:nvSpPr>
        <p:spPr>
          <a:xfrm>
            <a:off x="640080" y="3611880"/>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F</a:t>
            </a:r>
            <a:endParaRPr lang="en-US" sz="1200" dirty="0"/>
          </a:p>
        </p:txBody>
      </p:sp>
      <p:sp>
        <p:nvSpPr>
          <p:cNvPr id="14" name="Text 12"/>
          <p:cNvSpPr txBox="1"/>
          <p:nvPr/>
        </p:nvSpPr>
        <p:spPr>
          <a:xfrm>
            <a:off x="1920240" y="3648456"/>
            <a:ext cx="3566160" cy="329184"/>
          </a:xfrm>
          <a:prstGeom prst="rect">
            <a:avLst/>
          </a:prstGeom>
          <a:noFill/>
          <a:ln/>
        </p:spPr>
        <p:txBody>
          <a:bodyPr wrap="square" lIns="0" tIns="0" rIns="0" bIns="0" rtlCol="0" anchor="t"/>
          <a:lstStyle/>
          <a:p>
            <a:pPr indent="0" marL="0">
              <a:buNone/>
            </a:pPr>
            <a:r>
              <a:rPr lang="en-US" sz="1300" dirty="0">
                <a:solidFill>
                  <a:schemeClr val="tx1"/>
                </a:solidFill>
              </a:rPr>
              <a:t>Suction fans on or off</a:t>
            </a:r>
            <a:endParaRPr lang="en-US" sz="1300" dirty="0"/>
          </a:p>
        </p:txBody>
      </p:sp>
      <p:sp>
        <p:nvSpPr>
          <p:cNvPr id="15" name="Text 13"/>
          <p:cNvSpPr txBox="1"/>
          <p:nvPr/>
        </p:nvSpPr>
        <p:spPr>
          <a:xfrm>
            <a:off x="640080" y="4041648"/>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R</a:t>
            </a:r>
            <a:endParaRPr lang="en-US" sz="1200" dirty="0"/>
          </a:p>
        </p:txBody>
      </p:sp>
      <p:sp>
        <p:nvSpPr>
          <p:cNvPr id="16" name="Text 14"/>
          <p:cNvSpPr txBox="1"/>
          <p:nvPr/>
        </p:nvSpPr>
        <p:spPr>
          <a:xfrm>
            <a:off x="1920240" y="4078224"/>
            <a:ext cx="3566160" cy="329184"/>
          </a:xfrm>
          <a:prstGeom prst="rect">
            <a:avLst/>
          </a:prstGeom>
          <a:noFill/>
          <a:ln/>
        </p:spPr>
        <p:txBody>
          <a:bodyPr wrap="square" lIns="0" tIns="0" rIns="0" bIns="0" rtlCol="0" anchor="t"/>
          <a:lstStyle/>
          <a:p>
            <a:pPr indent="0" marL="0">
              <a:buNone/>
            </a:pPr>
            <a:r>
              <a:rPr lang="en-US" sz="1300" dirty="0">
                <a:solidFill>
                  <a:schemeClr val="tx1"/>
                </a:solidFill>
              </a:rPr>
              <a:t>Reset car and every system</a:t>
            </a:r>
            <a:endParaRPr lang="en-US" sz="1300" dirty="0"/>
          </a:p>
        </p:txBody>
      </p:sp>
      <p:sp>
        <p:nvSpPr>
          <p:cNvPr id="17" name="Text 15"/>
          <p:cNvSpPr txBox="1"/>
          <p:nvPr/>
        </p:nvSpPr>
        <p:spPr>
          <a:xfrm>
            <a:off x="640080" y="4471416"/>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C</a:t>
            </a:r>
            <a:endParaRPr lang="en-US" sz="1200" dirty="0"/>
          </a:p>
        </p:txBody>
      </p:sp>
      <p:sp>
        <p:nvSpPr>
          <p:cNvPr id="18" name="Text 16"/>
          <p:cNvSpPr txBox="1"/>
          <p:nvPr/>
        </p:nvSpPr>
        <p:spPr>
          <a:xfrm>
            <a:off x="1920240" y="4507992"/>
            <a:ext cx="3566160" cy="329184"/>
          </a:xfrm>
          <a:prstGeom prst="rect">
            <a:avLst/>
          </a:prstGeom>
          <a:noFill/>
          <a:ln/>
        </p:spPr>
        <p:txBody>
          <a:bodyPr wrap="square" lIns="0" tIns="0" rIns="0" bIns="0" rtlCol="0" anchor="t"/>
          <a:lstStyle/>
          <a:p>
            <a:pPr indent="0" marL="0">
              <a:buNone/>
            </a:pPr>
            <a:r>
              <a:rPr lang="en-US" sz="1300" dirty="0">
                <a:solidFill>
                  <a:schemeClr val="tx1"/>
                </a:solidFill>
              </a:rPr>
              <a:t>Change camera</a:t>
            </a:r>
            <a:endParaRPr lang="en-US" sz="1300" dirty="0"/>
          </a:p>
        </p:txBody>
      </p:sp>
      <p:sp>
        <p:nvSpPr>
          <p:cNvPr id="19" name="Text 17"/>
          <p:cNvSpPr txBox="1"/>
          <p:nvPr/>
        </p:nvSpPr>
        <p:spPr>
          <a:xfrm>
            <a:off x="640080" y="4901184"/>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Tab</a:t>
            </a:r>
            <a:endParaRPr lang="en-US" sz="1200" dirty="0"/>
          </a:p>
        </p:txBody>
      </p:sp>
      <p:sp>
        <p:nvSpPr>
          <p:cNvPr id="20" name="Text 18"/>
          <p:cNvSpPr txBox="1"/>
          <p:nvPr/>
        </p:nvSpPr>
        <p:spPr>
          <a:xfrm>
            <a:off x="1920240" y="4937760"/>
            <a:ext cx="3566160" cy="329184"/>
          </a:xfrm>
          <a:prstGeom prst="rect">
            <a:avLst/>
          </a:prstGeom>
          <a:noFill/>
          <a:ln/>
        </p:spPr>
        <p:txBody>
          <a:bodyPr wrap="square" lIns="0" tIns="0" rIns="0" bIns="0" rtlCol="0" anchor="t"/>
          <a:lstStyle/>
          <a:p>
            <a:pPr indent="0" marL="0">
              <a:buNone/>
            </a:pPr>
            <a:r>
              <a:rPr lang="en-US" sz="1300" dirty="0">
                <a:solidFill>
                  <a:schemeClr val="tx1"/>
                </a:solidFill>
              </a:rPr>
              <a:t>Show or hide the Live panel</a:t>
            </a:r>
            <a:endParaRPr lang="en-US" sz="1300" dirty="0"/>
          </a:p>
        </p:txBody>
      </p:sp>
      <p:sp>
        <p:nvSpPr>
          <p:cNvPr id="21" name="Text 19"/>
          <p:cNvSpPr txBox="1"/>
          <p:nvPr/>
        </p:nvSpPr>
        <p:spPr>
          <a:xfrm>
            <a:off x="640080" y="5330952"/>
            <a:ext cx="1097280" cy="329184"/>
          </a:xfrm>
          <a:prstGeom prst="rect">
            <a:avLst/>
          </a:prstGeom>
          <a:solidFill>
            <a:schemeClr val="bg2"/>
          </a:solidFill>
          <a:ln/>
        </p:spPr>
        <p:txBody>
          <a:bodyPr wrap="square" lIns="0" tIns="0" rIns="0" bIns="0" rtlCol="0" anchor="ctr"/>
          <a:lstStyle/>
          <a:p>
            <a:pPr algn="ctr" indent="0" marL="0">
              <a:buNone/>
            </a:pPr>
            <a:r>
              <a:rPr lang="en-US" sz="1200" b="1" dirty="0">
                <a:solidFill>
                  <a:schemeClr val="tx1"/>
                </a:solidFill>
              </a:rPr>
              <a:t>1 … 0</a:t>
            </a:r>
            <a:endParaRPr lang="en-US" sz="1200" dirty="0"/>
          </a:p>
        </p:txBody>
      </p:sp>
      <p:sp>
        <p:nvSpPr>
          <p:cNvPr id="22" name="Text 20"/>
          <p:cNvSpPr txBox="1"/>
          <p:nvPr/>
        </p:nvSpPr>
        <p:spPr>
          <a:xfrm>
            <a:off x="1920240" y="5367528"/>
            <a:ext cx="3566160" cy="329184"/>
          </a:xfrm>
          <a:prstGeom prst="rect">
            <a:avLst/>
          </a:prstGeom>
          <a:noFill/>
          <a:ln/>
        </p:spPr>
        <p:txBody>
          <a:bodyPr wrap="square" lIns="0" tIns="0" rIns="0" bIns="0" rtlCol="0" anchor="t"/>
          <a:lstStyle/>
          <a:p>
            <a:pPr indent="0" marL="0">
              <a:buNone/>
            </a:pPr>
            <a:r>
              <a:rPr lang="en-US" sz="1300" dirty="0">
                <a:solidFill>
                  <a:schemeClr val="tx1"/>
                </a:solidFill>
              </a:rPr>
              <a:t>Fire one thruster while held</a:t>
            </a:r>
            <a:endParaRPr lang="en-US" sz="1300" dirty="0"/>
          </a:p>
        </p:txBody>
      </p:sp>
      <p:sp>
        <p:nvSpPr>
          <p:cNvPr id="23" name="Text 21"/>
          <p:cNvSpPr txBox="1"/>
          <p:nvPr/>
        </p:nvSpPr>
        <p:spPr>
          <a:xfrm>
            <a:off x="5852160" y="1463040"/>
            <a:ext cx="3017520" cy="320040"/>
          </a:xfrm>
          <a:prstGeom prst="rect">
            <a:avLst/>
          </a:prstGeom>
          <a:noFill/>
          <a:ln/>
        </p:spPr>
        <p:txBody>
          <a:bodyPr wrap="square" lIns="0" tIns="0" rIns="0" bIns="0" rtlCol="0" anchor="t"/>
          <a:lstStyle/>
          <a:p>
            <a:pPr indent="0" marL="0">
              <a:buNone/>
            </a:pPr>
            <a:r>
              <a:rPr lang="en-US" sz="1500" b="1" dirty="0">
                <a:solidFill>
                  <a:schemeClr val="accent1"/>
                </a:solidFill>
              </a:rPr>
              <a:t>Live panel</a:t>
            </a:r>
            <a:endParaRPr lang="en-US" sz="1500" dirty="0"/>
          </a:p>
        </p:txBody>
      </p:sp>
      <p:sp>
        <p:nvSpPr>
          <p:cNvPr id="24" name="Text 22"/>
          <p:cNvSpPr txBox="1"/>
          <p:nvPr/>
        </p:nvSpPr>
        <p:spPr>
          <a:xfrm>
            <a:off x="5852160" y="1783080"/>
            <a:ext cx="3017520" cy="685800"/>
          </a:xfrm>
          <a:prstGeom prst="rect">
            <a:avLst/>
          </a:prstGeom>
          <a:noFill/>
          <a:ln/>
        </p:spPr>
        <p:txBody>
          <a:bodyPr wrap="square" lIns="0" tIns="0" rIns="0" bIns="0" rtlCol="0" anchor="t"/>
          <a:lstStyle/>
          <a:p>
            <a:pPr indent="0" marL="0">
              <a:buNone/>
            </a:pPr>
            <a:r>
              <a:rPr lang="en-US" sz="1200" dirty="0">
                <a:solidFill>
                  <a:schemeClr val="tx2"/>
                </a:solidFill>
              </a:rPr>
              <a:t>Speed, height, thrust, suction, air left and a lit thruster map. Always visible, folds away with Tab.</a:t>
            </a:r>
            <a:endParaRPr lang="en-US" sz="1200" dirty="0"/>
          </a:p>
        </p:txBody>
      </p:sp>
      <p:sp>
        <p:nvSpPr>
          <p:cNvPr id="25" name="Text 23"/>
          <p:cNvSpPr txBox="1"/>
          <p:nvPr/>
        </p:nvSpPr>
        <p:spPr>
          <a:xfrm>
            <a:off x="5852160" y="2487168"/>
            <a:ext cx="3017520" cy="320040"/>
          </a:xfrm>
          <a:prstGeom prst="rect">
            <a:avLst/>
          </a:prstGeom>
          <a:noFill/>
          <a:ln/>
        </p:spPr>
        <p:txBody>
          <a:bodyPr wrap="square" lIns="0" tIns="0" rIns="0" bIns="0" rtlCol="0" anchor="t"/>
          <a:lstStyle/>
          <a:p>
            <a:pPr indent="0" marL="0">
              <a:buNone/>
            </a:pPr>
            <a:r>
              <a:rPr lang="en-US" sz="1500" b="1" dirty="0">
                <a:solidFill>
                  <a:schemeClr val="accent1"/>
                </a:solidFill>
              </a:rPr>
              <a:t>Auto-rescue</a:t>
            </a:r>
            <a:endParaRPr lang="en-US" sz="1500" dirty="0"/>
          </a:p>
        </p:txBody>
      </p:sp>
      <p:sp>
        <p:nvSpPr>
          <p:cNvPr id="26" name="Text 24"/>
          <p:cNvSpPr txBox="1"/>
          <p:nvPr/>
        </p:nvSpPr>
        <p:spPr>
          <a:xfrm>
            <a:off x="5852160" y="2807208"/>
            <a:ext cx="3017520" cy="685800"/>
          </a:xfrm>
          <a:prstGeom prst="rect">
            <a:avLst/>
          </a:prstGeom>
          <a:noFill/>
          <a:ln/>
        </p:spPr>
        <p:txBody>
          <a:bodyPr wrap="square" lIns="0" tIns="0" rIns="0" bIns="0" rtlCol="0" anchor="t"/>
          <a:lstStyle/>
          <a:p>
            <a:pPr indent="0" marL="0">
              <a:buNone/>
            </a:pPr>
            <a:r>
              <a:rPr lang="en-US" sz="1200" dirty="0">
                <a:solidFill>
                  <a:schemeClr val="tx2"/>
                </a:solidFill>
              </a:rPr>
              <a:t>If the car falls at a bad angle, the thrusters level it and brake the fall.</a:t>
            </a:r>
            <a:endParaRPr lang="en-US" sz="1200" dirty="0"/>
          </a:p>
        </p:txBody>
      </p:sp>
      <p:sp>
        <p:nvSpPr>
          <p:cNvPr id="27" name="Text 25"/>
          <p:cNvSpPr txBox="1"/>
          <p:nvPr/>
        </p:nvSpPr>
        <p:spPr>
          <a:xfrm>
            <a:off x="5852160" y="3511296"/>
            <a:ext cx="3017520" cy="320040"/>
          </a:xfrm>
          <a:prstGeom prst="rect">
            <a:avLst/>
          </a:prstGeom>
          <a:noFill/>
          <a:ln/>
        </p:spPr>
        <p:txBody>
          <a:bodyPr wrap="square" lIns="0" tIns="0" rIns="0" bIns="0" rtlCol="0" anchor="t"/>
          <a:lstStyle/>
          <a:p>
            <a:pPr indent="0" marL="0">
              <a:buNone/>
            </a:pPr>
            <a:r>
              <a:rPr lang="en-US" sz="1500" b="1" dirty="0">
                <a:solidFill>
                  <a:schemeClr val="accent1"/>
                </a:solidFill>
              </a:rPr>
              <a:t>Drop tests + test park</a:t>
            </a:r>
            <a:endParaRPr lang="en-US" sz="1500" dirty="0"/>
          </a:p>
        </p:txBody>
      </p:sp>
      <p:sp>
        <p:nvSpPr>
          <p:cNvPr id="28" name="Text 26"/>
          <p:cNvSpPr txBox="1"/>
          <p:nvPr/>
        </p:nvSpPr>
        <p:spPr>
          <a:xfrm>
            <a:off x="5852160" y="3831336"/>
            <a:ext cx="3017520" cy="685800"/>
          </a:xfrm>
          <a:prstGeom prst="rect">
            <a:avLst/>
          </a:prstGeom>
          <a:noFill/>
          <a:ln/>
        </p:spPr>
        <p:txBody>
          <a:bodyPr wrap="square" lIns="0" tIns="0" rIns="0" bIns="0" rtlCol="0" anchor="t"/>
          <a:lstStyle/>
          <a:p>
            <a:pPr indent="0" marL="0">
              <a:buNone/>
            </a:pPr>
            <a:r>
              <a:rPr lang="en-US" sz="1200" dirty="0">
                <a:solidFill>
                  <a:schemeClr val="tx2"/>
                </a:solidFill>
              </a:rPr>
              <a:t>Four rescue drops, plus 9 lanes of kickers, a quarter pipe, a table-top and more.</a:t>
            </a:r>
            <a:endParaRPr lang="en-US" sz="1200" dirty="0"/>
          </a:p>
        </p:txBody>
      </p:sp>
      <p:sp>
        <p:nvSpPr>
          <p:cNvPr id="29" name="Text 27"/>
          <p:cNvSpPr txBox="1"/>
          <p:nvPr/>
        </p:nvSpPr>
        <p:spPr>
          <a:xfrm>
            <a:off x="5852160" y="4535424"/>
            <a:ext cx="3017520" cy="320040"/>
          </a:xfrm>
          <a:prstGeom prst="rect">
            <a:avLst/>
          </a:prstGeom>
          <a:noFill/>
          <a:ln/>
        </p:spPr>
        <p:txBody>
          <a:bodyPr wrap="square" lIns="0" tIns="0" rIns="0" bIns="0" rtlCol="0" anchor="t"/>
          <a:lstStyle/>
          <a:p>
            <a:pPr indent="0" marL="0">
              <a:buNone/>
            </a:pPr>
            <a:r>
              <a:rPr lang="en-US" sz="1500" b="1" dirty="0">
                <a:solidFill>
                  <a:schemeClr val="accent1"/>
                </a:solidFill>
              </a:rPr>
              <a:t>Performance / Rocket</a:t>
            </a:r>
            <a:endParaRPr lang="en-US" sz="1500" dirty="0"/>
          </a:p>
        </p:txBody>
      </p:sp>
      <p:sp>
        <p:nvSpPr>
          <p:cNvPr id="30" name="Text 28"/>
          <p:cNvSpPr txBox="1"/>
          <p:nvPr/>
        </p:nvSpPr>
        <p:spPr>
          <a:xfrm>
            <a:off x="5852160" y="4855464"/>
            <a:ext cx="3017520" cy="685800"/>
          </a:xfrm>
          <a:prstGeom prst="rect">
            <a:avLst/>
          </a:prstGeom>
          <a:noFill/>
          <a:ln/>
        </p:spPr>
        <p:txBody>
          <a:bodyPr wrap="square" lIns="0" tIns="0" rIns="0" bIns="0" rtlCol="0" anchor="t"/>
          <a:lstStyle/>
          <a:p>
            <a:pPr indent="0" marL="0">
              <a:buNone/>
            </a:pPr>
            <a:r>
              <a:rPr lang="en-US" sz="1200" dirty="0">
                <a:solidFill>
                  <a:schemeClr val="tx2"/>
                </a:solidFill>
              </a:rPr>
              <a:t>Switch between reported systems only and our thruster design.</a:t>
            </a:r>
            <a:endParaRPr lang="en-US" sz="1200" dirty="0"/>
          </a:p>
        </p:txBody>
      </p:sp>
      <p:pic>
        <p:nvPicPr>
          <p:cNvPr id="31" name="App screenshot" descr="C:\Users\arko4\Desktop\Roadster Simulation\shots\ui.jpg">    </p:cNvPr>
          <p:cNvPicPr>
            <a:picLocks noChangeAspect="1"/>
          </p:cNvPicPr>
          <p:nvPr/>
        </p:nvPicPr>
        <p:blipFill>
          <a:blip r:embed="rId1"/>
          <a:srcRect l="0" r="0" t="0" b="0"/>
          <a:stretch/>
        </p:blipFill>
        <p:spPr>
          <a:xfrm>
            <a:off x="9144000" y="1463040"/>
            <a:ext cx="2377440" cy="2459736"/>
          </a:xfrm>
          <a:prstGeom prst="rect">
            <a:avLst/>
          </a:prstGeom>
        </p:spPr>
      </p:pic>
      <p:sp>
        <p:nvSpPr>
          <p:cNvPr id="32" name="Text 29"/>
          <p:cNvSpPr txBox="1"/>
          <p:nvPr/>
        </p:nvSpPr>
        <p:spPr>
          <a:xfrm>
            <a:off x="9144000" y="4069080"/>
            <a:ext cx="2377440" cy="822960"/>
          </a:xfrm>
          <a:prstGeom prst="rect">
            <a:avLst/>
          </a:prstGeom>
          <a:noFill/>
          <a:ln/>
        </p:spPr>
        <p:txBody>
          <a:bodyPr wrap="square" lIns="0" tIns="0" rIns="0" bIns="0" rtlCol="0" anchor="t"/>
          <a:lstStyle/>
          <a:p>
            <a:pPr indent="0" marL="0">
              <a:buNone/>
            </a:pPr>
            <a:r>
              <a:rPr lang="en-US" sz="1200" dirty="0">
                <a:solidFill>
                  <a:schemeClr val="tx2"/>
                </a:solidFill>
              </a:rPr>
              <a:t>The bottom bar always shows only the keys that work right now.</a:t>
            </a:r>
            <a:endParaRPr lang="en-US" sz="12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Built by hand from three photos</a:t>
            </a:r>
            <a:endParaRPr lang="en-US" sz="3400" dirty="0"/>
          </a:p>
        </p:txBody>
      </p:sp>
      <p:pic>
        <p:nvPicPr>
          <p:cNvPr id="3" name="Photo rear" descr="C:\Users\arko4\Desktop\Roadster Simulation\Screenshot 2026-10-18 020038.png">    </p:cNvPr>
          <p:cNvPicPr>
            <a:picLocks noChangeAspect="1"/>
          </p:cNvPicPr>
          <p:nvPr/>
        </p:nvPicPr>
        <p:blipFill>
          <a:blip r:embed="rId1"/>
          <a:srcRect l="0" r="0" t="0" b="0"/>
          <a:stretch/>
        </p:blipFill>
        <p:spPr>
          <a:xfrm>
            <a:off x="640080" y="1463040"/>
            <a:ext cx="5303520" cy="2980944"/>
          </a:xfrm>
          <a:prstGeom prst="rect">
            <a:avLst/>
          </a:prstGeom>
        </p:spPr>
      </p:pic>
      <p:pic>
        <p:nvPicPr>
          <p:cNvPr id="4" name="Render rear" descr="C:\Users\arko4\Desktop\Roadster Simulation\shots\rear.jpg">    </p:cNvPr>
          <p:cNvPicPr>
            <a:picLocks noChangeAspect="1"/>
          </p:cNvPicPr>
          <p:nvPr/>
        </p:nvPicPr>
        <p:blipFill>
          <a:blip r:embed="rId2"/>
          <a:srcRect l="0" r="0" t="0" b="0"/>
          <a:stretch/>
        </p:blipFill>
        <p:spPr>
          <a:xfrm>
            <a:off x="6217920" y="1463040"/>
            <a:ext cx="5303520" cy="2980944"/>
          </a:xfrm>
          <a:prstGeom prst="rect">
            <a:avLst/>
          </a:prstGeom>
        </p:spPr>
      </p:pic>
      <p:sp>
        <p:nvSpPr>
          <p:cNvPr id="5" name="Text 1"/>
          <p:cNvSpPr txBox="1"/>
          <p:nvPr/>
        </p:nvSpPr>
        <p:spPr>
          <a:xfrm>
            <a:off x="640080" y="4526280"/>
            <a:ext cx="5303520" cy="274320"/>
          </a:xfrm>
          <a:prstGeom prst="rect">
            <a:avLst/>
          </a:prstGeom>
          <a:noFill/>
          <a:ln/>
        </p:spPr>
        <p:txBody>
          <a:bodyPr wrap="square" lIns="0" tIns="0" rIns="0" bIns="0" rtlCol="0" anchor="t"/>
          <a:lstStyle/>
          <a:p>
            <a:pPr indent="0" marL="0">
              <a:buNone/>
            </a:pPr>
            <a:r>
              <a:rPr lang="en-US" sz="1200" dirty="0">
                <a:solidFill>
                  <a:schemeClr val="tx2"/>
                </a:solidFill>
              </a:rPr>
              <a:t>Reveal photo</a:t>
            </a:r>
            <a:endParaRPr lang="en-US" sz="1200" dirty="0"/>
          </a:p>
        </p:txBody>
      </p:sp>
      <p:sp>
        <p:nvSpPr>
          <p:cNvPr id="6" name="Text 2"/>
          <p:cNvSpPr txBox="1"/>
          <p:nvPr/>
        </p:nvSpPr>
        <p:spPr>
          <a:xfrm>
            <a:off x="6217920" y="4526280"/>
            <a:ext cx="5303520" cy="274320"/>
          </a:xfrm>
          <a:prstGeom prst="rect">
            <a:avLst/>
          </a:prstGeom>
          <a:noFill/>
          <a:ln/>
        </p:spPr>
        <p:txBody>
          <a:bodyPr wrap="square" lIns="0" tIns="0" rIns="0" bIns="0" rtlCol="0" anchor="t"/>
          <a:lstStyle/>
          <a:p>
            <a:pPr indent="0" marL="0">
              <a:buNone/>
            </a:pPr>
            <a:r>
              <a:rPr lang="en-US" sz="1200" dirty="0">
                <a:solidFill>
                  <a:schemeClr val="tx2"/>
                </a:solidFill>
              </a:rPr>
              <a:t>Roadster Lab model</a:t>
            </a:r>
            <a:endParaRPr lang="en-US" sz="1200" dirty="0"/>
          </a:p>
        </p:txBody>
      </p:sp>
      <p:sp>
        <p:nvSpPr>
          <p:cNvPr id="7" name="Text 3"/>
          <p:cNvSpPr txBox="1"/>
          <p:nvPr/>
        </p:nvSpPr>
        <p:spPr>
          <a:xfrm>
            <a:off x="640080" y="4937760"/>
            <a:ext cx="10881360" cy="1097280"/>
          </a:xfrm>
          <a:prstGeom prst="rect">
            <a:avLst/>
          </a:prstGeom>
          <a:noFill/>
          <a:ln/>
        </p:spPr>
        <p:txBody>
          <a:bodyPr wrap="square" lIns="0" tIns="0" rIns="0" bIns="0" rtlCol="0" anchor="t"/>
          <a:lstStyle/>
          <a:p>
            <a:pPr indent="0" marL="0">
              <a:buNone/>
            </a:pPr>
            <a:r>
              <a:rPr lang="en-US" sz="1500" dirty="0">
                <a:solidFill>
                  <a:schemeClr val="tx1"/>
                </a:solidFill>
              </a:rPr>
              <a:t>No 3D model of the 2026 car exists yet. The body is built from cross-sections matched to the photos: fender peaks, dark canopy, full-width light bar, four rear outlets and the active wing. Physics uses a simpler collision shape, so looks never change how it drives.</a:t>
            </a:r>
            <a:endParaRPr lang="en-US" sz="15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120 times a second, every force is computed</a:t>
            </a:r>
            <a:endParaRPr lang="en-US" sz="3400" dirty="0"/>
          </a:p>
        </p:txBody>
      </p:sp>
      <p:pic>
        <p:nvPicPr>
          <p:cNvPr id="3" name="Systems render" descr="C:\Users\arko4\Desktop\Roadster Simulation\shots\systems.jpg">    </p:cNvPr>
          <p:cNvPicPr>
            <a:picLocks noChangeAspect="1"/>
          </p:cNvPicPr>
          <p:nvPr/>
        </p:nvPicPr>
        <p:blipFill>
          <a:blip r:embed="rId1"/>
          <a:srcRect l="0" r="0" t="0" b="0"/>
          <a:stretch/>
        </p:blipFill>
        <p:spPr>
          <a:xfrm>
            <a:off x="6583680" y="1463040"/>
            <a:ext cx="4937760" cy="2779776"/>
          </a:xfrm>
          <a:prstGeom prst="rect">
            <a:avLst/>
          </a:prstGeom>
        </p:spPr>
      </p:pic>
      <p:sp>
        <p:nvSpPr>
          <p:cNvPr id="4" name="Step 1"/>
          <p:cNvSpPr/>
          <p:nvPr/>
        </p:nvSpPr>
        <p:spPr>
          <a:xfrm>
            <a:off x="640080" y="1463040"/>
            <a:ext cx="457200" cy="457200"/>
          </a:xfrm>
          <a:prstGeom prst="ellipse">
            <a:avLst/>
          </a:prstGeom>
          <a:solidFill>
            <a:schemeClr val="accent1"/>
          </a:solidFill>
          <a:ln/>
        </p:spPr>
      </p:sp>
      <p:sp>
        <p:nvSpPr>
          <p:cNvPr id="5" name="Text 2"/>
          <p:cNvSpPr txBox="1"/>
          <p:nvPr/>
        </p:nvSpPr>
        <p:spPr>
          <a:xfrm>
            <a:off x="64008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1325880" y="1444752"/>
            <a:ext cx="4937760" cy="365760"/>
          </a:xfrm>
          <a:prstGeom prst="rect">
            <a:avLst/>
          </a:prstGeom>
          <a:noFill/>
          <a:ln/>
        </p:spPr>
        <p:txBody>
          <a:bodyPr wrap="square" lIns="0" tIns="0" rIns="0" bIns="0" rtlCol="0" anchor="t"/>
          <a:lstStyle/>
          <a:p>
            <a:pPr indent="0" marL="0">
              <a:buNone/>
            </a:pPr>
            <a:r>
              <a:rPr lang="en-US" sz="1800" b="1" dirty="0">
                <a:solidFill>
                  <a:schemeClr val="tx1"/>
                </a:solidFill>
              </a:rPr>
              <a:t>Measure</a:t>
            </a:r>
            <a:endParaRPr lang="en-US" sz="1800" dirty="0"/>
          </a:p>
        </p:txBody>
      </p:sp>
      <p:sp>
        <p:nvSpPr>
          <p:cNvPr id="7" name="Text 4"/>
          <p:cNvSpPr txBox="1"/>
          <p:nvPr/>
        </p:nvSpPr>
        <p:spPr>
          <a:xfrm>
            <a:off x="1325880" y="1810512"/>
            <a:ext cx="4937760" cy="640080"/>
          </a:xfrm>
          <a:prstGeom prst="rect">
            <a:avLst/>
          </a:prstGeom>
          <a:noFill/>
          <a:ln/>
        </p:spPr>
        <p:txBody>
          <a:bodyPr wrap="square" lIns="0" tIns="0" rIns="0" bIns="0" rtlCol="0" anchor="t"/>
          <a:lstStyle/>
          <a:p>
            <a:pPr indent="0" marL="0">
              <a:buNone/>
            </a:pPr>
            <a:r>
              <a:rPr lang="en-US" sz="1400" dirty="0">
                <a:solidFill>
                  <a:schemeClr val="tx2"/>
                </a:solidFill>
              </a:rPr>
              <a:t>Four rays find where each tyre touches the ground, a ramp or a ceiling.</a:t>
            </a:r>
            <a:endParaRPr lang="en-US" sz="1400" dirty="0"/>
          </a:p>
        </p:txBody>
      </p:sp>
      <p:sp>
        <p:nvSpPr>
          <p:cNvPr id="8" name="Step 2"/>
          <p:cNvSpPr/>
          <p:nvPr/>
        </p:nvSpPr>
        <p:spPr>
          <a:xfrm>
            <a:off x="640080" y="2560320"/>
            <a:ext cx="457200" cy="457200"/>
          </a:xfrm>
          <a:prstGeom prst="ellipse">
            <a:avLst/>
          </a:prstGeom>
          <a:solidFill>
            <a:schemeClr val="accent1"/>
          </a:solidFill>
          <a:ln/>
        </p:spPr>
      </p:sp>
      <p:sp>
        <p:nvSpPr>
          <p:cNvPr id="9" name="Text 6"/>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325880" y="2542032"/>
            <a:ext cx="4937760" cy="365760"/>
          </a:xfrm>
          <a:prstGeom prst="rect">
            <a:avLst/>
          </a:prstGeom>
          <a:noFill/>
          <a:ln/>
        </p:spPr>
        <p:txBody>
          <a:bodyPr wrap="square" lIns="0" tIns="0" rIns="0" bIns="0" rtlCol="0" anchor="t"/>
          <a:lstStyle/>
          <a:p>
            <a:pPr indent="0" marL="0">
              <a:buNone/>
            </a:pPr>
            <a:r>
              <a:rPr lang="en-US" sz="1800" b="1" dirty="0">
                <a:solidFill>
                  <a:schemeClr val="tx1"/>
                </a:solidFill>
              </a:rPr>
              <a:t>Compute</a:t>
            </a:r>
            <a:endParaRPr lang="en-US" sz="1800" dirty="0"/>
          </a:p>
        </p:txBody>
      </p:sp>
      <p:sp>
        <p:nvSpPr>
          <p:cNvPr id="11" name="Text 8"/>
          <p:cNvSpPr txBox="1"/>
          <p:nvPr/>
        </p:nvSpPr>
        <p:spPr>
          <a:xfrm>
            <a:off x="1325880" y="2907792"/>
            <a:ext cx="4937760" cy="640080"/>
          </a:xfrm>
          <a:prstGeom prst="rect">
            <a:avLst/>
          </a:prstGeom>
          <a:noFill/>
          <a:ln/>
        </p:spPr>
        <p:txBody>
          <a:bodyPr wrap="square" lIns="0" tIns="0" rIns="0" bIns="0" rtlCol="0" anchor="t"/>
          <a:lstStyle/>
          <a:p>
            <a:pPr indent="0" marL="0">
              <a:buNone/>
            </a:pPr>
            <a:r>
              <a:rPr lang="en-US" sz="1400" dirty="0">
                <a:solidFill>
                  <a:schemeClr val="tx2"/>
                </a:solidFill>
              </a:rPr>
              <a:t>Spring, tyre grip, drag, fan suction and thrust, each in newtons.</a:t>
            </a:r>
            <a:endParaRPr lang="en-US" sz="1400" dirty="0"/>
          </a:p>
        </p:txBody>
      </p:sp>
      <p:sp>
        <p:nvSpPr>
          <p:cNvPr id="12" name="Step 3"/>
          <p:cNvSpPr/>
          <p:nvPr/>
        </p:nvSpPr>
        <p:spPr>
          <a:xfrm>
            <a:off x="640080" y="3657600"/>
            <a:ext cx="457200" cy="457200"/>
          </a:xfrm>
          <a:prstGeom prst="ellipse">
            <a:avLst/>
          </a:prstGeom>
          <a:solidFill>
            <a:schemeClr val="accent1"/>
          </a:solidFill>
          <a:ln/>
        </p:spPr>
      </p:sp>
      <p:sp>
        <p:nvSpPr>
          <p:cNvPr id="13" name="Text 10"/>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1325880" y="3639312"/>
            <a:ext cx="4937760" cy="365760"/>
          </a:xfrm>
          <a:prstGeom prst="rect">
            <a:avLst/>
          </a:prstGeom>
          <a:noFill/>
          <a:ln/>
        </p:spPr>
        <p:txBody>
          <a:bodyPr wrap="square" lIns="0" tIns="0" rIns="0" bIns="0" rtlCol="0" anchor="t"/>
          <a:lstStyle/>
          <a:p>
            <a:pPr indent="0" marL="0">
              <a:buNone/>
            </a:pPr>
            <a:r>
              <a:rPr lang="en-US" sz="1800" b="1" dirty="0">
                <a:solidFill>
                  <a:schemeClr val="tx1"/>
                </a:solidFill>
              </a:rPr>
              <a:t>Apply at the real point</a:t>
            </a:r>
            <a:endParaRPr lang="en-US" sz="1800" dirty="0"/>
          </a:p>
        </p:txBody>
      </p:sp>
      <p:sp>
        <p:nvSpPr>
          <p:cNvPr id="15" name="Text 12"/>
          <p:cNvSpPr txBox="1"/>
          <p:nvPr/>
        </p:nvSpPr>
        <p:spPr>
          <a:xfrm>
            <a:off x="1325880" y="4005072"/>
            <a:ext cx="4937760" cy="640080"/>
          </a:xfrm>
          <a:prstGeom prst="rect">
            <a:avLst/>
          </a:prstGeom>
          <a:noFill/>
          <a:ln/>
        </p:spPr>
        <p:txBody>
          <a:bodyPr wrap="square" lIns="0" tIns="0" rIns="0" bIns="0" rtlCol="0" anchor="t"/>
          <a:lstStyle/>
          <a:p>
            <a:pPr indent="0" marL="0">
              <a:buNone/>
            </a:pPr>
            <a:r>
              <a:rPr lang="en-US" sz="1400" dirty="0">
                <a:solidFill>
                  <a:schemeClr val="tx2"/>
                </a:solidFill>
              </a:rPr>
              <a:t>Off-centre forces also spin the car. Torque = r × F, nothing faked.</a:t>
            </a:r>
            <a:endParaRPr lang="en-US" sz="1400" dirty="0"/>
          </a:p>
        </p:txBody>
      </p:sp>
      <p:sp>
        <p:nvSpPr>
          <p:cNvPr id="16" name="Step 4"/>
          <p:cNvSpPr/>
          <p:nvPr/>
        </p:nvSpPr>
        <p:spPr>
          <a:xfrm>
            <a:off x="640080" y="4754880"/>
            <a:ext cx="457200" cy="457200"/>
          </a:xfrm>
          <a:prstGeom prst="ellipse">
            <a:avLst/>
          </a:prstGeom>
          <a:solidFill>
            <a:schemeClr val="accent1"/>
          </a:solidFill>
          <a:ln/>
        </p:spPr>
      </p:sp>
      <p:sp>
        <p:nvSpPr>
          <p:cNvPr id="17" name="Text 14"/>
          <p:cNvSpPr txBox="1"/>
          <p:nvPr/>
        </p:nvSpPr>
        <p:spPr>
          <a:xfrm>
            <a:off x="64008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1325880" y="4736592"/>
            <a:ext cx="4937760" cy="365760"/>
          </a:xfrm>
          <a:prstGeom prst="rect">
            <a:avLst/>
          </a:prstGeom>
          <a:noFill/>
          <a:ln/>
        </p:spPr>
        <p:txBody>
          <a:bodyPr wrap="square" lIns="0" tIns="0" rIns="0" bIns="0" rtlCol="0" anchor="t"/>
          <a:lstStyle/>
          <a:p>
            <a:pPr indent="0" marL="0">
              <a:buNone/>
            </a:pPr>
            <a:r>
              <a:rPr lang="en-US" sz="1800" b="1" dirty="0">
                <a:solidFill>
                  <a:schemeClr val="tx1"/>
                </a:solidFill>
              </a:rPr>
              <a:t>Step</a:t>
            </a:r>
            <a:endParaRPr lang="en-US" sz="1800" dirty="0"/>
          </a:p>
        </p:txBody>
      </p:sp>
      <p:sp>
        <p:nvSpPr>
          <p:cNvPr id="19" name="Text 16"/>
          <p:cNvSpPr txBox="1"/>
          <p:nvPr/>
        </p:nvSpPr>
        <p:spPr>
          <a:xfrm>
            <a:off x="1325880" y="5102352"/>
            <a:ext cx="4937760" cy="640080"/>
          </a:xfrm>
          <a:prstGeom prst="rect">
            <a:avLst/>
          </a:prstGeom>
          <a:noFill/>
          <a:ln/>
        </p:spPr>
        <p:txBody>
          <a:bodyPr wrap="square" lIns="0" tIns="0" rIns="0" bIns="0" rtlCol="0" anchor="t"/>
          <a:lstStyle/>
          <a:p>
            <a:pPr indent="0" marL="0">
              <a:buNone/>
            </a:pPr>
            <a:r>
              <a:rPr lang="en-US" sz="1400" dirty="0">
                <a:solidFill>
                  <a:schemeClr val="tx2"/>
                </a:solidFill>
              </a:rPr>
              <a:t>The Rapier engine moves the car 1/120 s. Same result at 30 or 144 fps.</a:t>
            </a:r>
            <a:endParaRPr lang="en-US" sz="1400" dirty="0"/>
          </a:p>
        </p:txBody>
      </p:sp>
      <p:sp>
        <p:nvSpPr>
          <p:cNvPr id="20" name="Text 17"/>
          <p:cNvSpPr txBox="1"/>
          <p:nvPr/>
        </p:nvSpPr>
        <p:spPr>
          <a:xfrm>
            <a:off x="6583680" y="4434840"/>
            <a:ext cx="4937760" cy="731520"/>
          </a:xfrm>
          <a:prstGeom prst="rect">
            <a:avLst/>
          </a:prstGeom>
          <a:noFill/>
          <a:ln/>
        </p:spPr>
        <p:txBody>
          <a:bodyPr wrap="square" lIns="0" tIns="0" rIns="0" bIns="0" rtlCol="0" anchor="t"/>
          <a:lstStyle/>
          <a:p>
            <a:pPr indent="0" marL="0">
              <a:buNone/>
            </a:pPr>
            <a:r>
              <a:rPr lang="en-US" sz="1400" dirty="0">
                <a:solidFill>
                  <a:schemeClr val="tx2"/>
                </a:solidFill>
              </a:rPr>
              <a:t>The force arrows you can switch on in the app are these same forces, drawn where they act.</a:t>
            </a:r>
            <a:endParaRPr lang="en-US" sz="14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Every number carries a tag</a:t>
            </a:r>
            <a:endParaRPr lang="en-US" sz="3400" dirty="0"/>
          </a:p>
        </p:txBody>
      </p:sp>
      <p:sp>
        <p:nvSpPr>
          <p:cNvPr id="3" name="Text 1"/>
          <p:cNvSpPr txBox="1"/>
          <p:nvPr/>
        </p:nvSpPr>
        <p:spPr>
          <a:xfrm>
            <a:off x="640080" y="1371600"/>
            <a:ext cx="10881360" cy="457200"/>
          </a:xfrm>
          <a:prstGeom prst="rect">
            <a:avLst/>
          </a:prstGeom>
          <a:noFill/>
          <a:ln/>
        </p:spPr>
        <p:txBody>
          <a:bodyPr wrap="square" lIns="0" tIns="0" rIns="0" bIns="0" rtlCol="0" anchor="t"/>
          <a:lstStyle/>
          <a:p>
            <a:pPr indent="0" marL="0">
              <a:buNone/>
            </a:pPr>
            <a:r>
              <a:rPr lang="en-US" sz="1700" dirty="0">
                <a:solidFill>
                  <a:schemeClr val="tx2"/>
                </a:solidFill>
              </a:rPr>
              <a:t>A guess must never look like a spec. The app and every exported file label each value one of three ways.</a:t>
            </a:r>
            <a:endParaRPr lang="en-US" sz="1700" dirty="0"/>
          </a:p>
        </p:txBody>
      </p:sp>
      <p:sp>
        <p:nvSpPr>
          <p:cNvPr id="4" name="Tag R"/>
          <p:cNvSpPr/>
          <p:nvPr/>
        </p:nvSpPr>
        <p:spPr>
          <a:xfrm>
            <a:off x="640080" y="2103120"/>
            <a:ext cx="3474720" cy="3566160"/>
          </a:xfrm>
          <a:prstGeom prst="roundRect">
            <a:avLst>
              <a:gd name="adj" fmla="val 2632"/>
            </a:avLst>
          </a:prstGeom>
          <a:solidFill>
            <a:schemeClr val="bg2"/>
          </a:solidFill>
          <a:ln/>
        </p:spPr>
      </p:sp>
      <p:sp>
        <p:nvSpPr>
          <p:cNvPr id="5" name="Text 3"/>
          <p:cNvSpPr txBox="1"/>
          <p:nvPr/>
        </p:nvSpPr>
        <p:spPr>
          <a:xfrm>
            <a:off x="960120" y="2377440"/>
            <a:ext cx="1188720" cy="237744"/>
          </a:xfrm>
          <a:prstGeom prst="rect">
            <a:avLst/>
          </a:prstGeom>
          <a:noFill/>
          <a:ln w="9525">
            <a:solidFill>
              <a:schemeClr val="accent3"/>
            </a:solidFill>
          </a:ln>
        </p:spPr>
        <p:txBody>
          <a:bodyPr wrap="square" lIns="0" tIns="0" rIns="0" bIns="0" rtlCol="0" anchor="ctr"/>
          <a:lstStyle/>
          <a:p>
            <a:pPr algn="ctr" indent="0" marL="0">
              <a:buNone/>
            </a:pPr>
            <a:r>
              <a:rPr lang="en-US" sz="900" b="1" dirty="0">
                <a:solidFill>
                  <a:schemeClr val="accent3"/>
                </a:solidFill>
              </a:rPr>
              <a:t>REPORTED</a:t>
            </a:r>
            <a:endParaRPr lang="en-US" sz="900" dirty="0"/>
          </a:p>
        </p:txBody>
      </p:sp>
      <p:sp>
        <p:nvSpPr>
          <p:cNvPr id="6" name="Text 4"/>
          <p:cNvSpPr txBox="1"/>
          <p:nvPr/>
        </p:nvSpPr>
        <p:spPr>
          <a:xfrm>
            <a:off x="960120" y="2788920"/>
            <a:ext cx="2834640" cy="914400"/>
          </a:xfrm>
          <a:prstGeom prst="rect">
            <a:avLst/>
          </a:prstGeom>
          <a:noFill/>
          <a:ln/>
        </p:spPr>
        <p:txBody>
          <a:bodyPr wrap="square" lIns="0" tIns="0" rIns="0" bIns="0" rtlCol="0" anchor="t"/>
          <a:lstStyle/>
          <a:p>
            <a:pPr indent="0" marL="0">
              <a:buNone/>
            </a:pPr>
            <a:r>
              <a:rPr lang="en-US" sz="5600" dirty="0">
                <a:solidFill>
                  <a:schemeClr val="accent3"/>
                </a:solidFill>
              </a:rPr>
              <a:t>4</a:t>
            </a:r>
            <a:endParaRPr lang="en-US" sz="5600" dirty="0"/>
          </a:p>
        </p:txBody>
      </p:sp>
      <p:sp>
        <p:nvSpPr>
          <p:cNvPr id="7" name="Text 5"/>
          <p:cNvSpPr txBox="1"/>
          <p:nvPr/>
        </p:nvSpPr>
        <p:spPr>
          <a:xfrm>
            <a:off x="960120" y="3749040"/>
            <a:ext cx="2834640" cy="365760"/>
          </a:xfrm>
          <a:prstGeom prst="rect">
            <a:avLst/>
          </a:prstGeom>
          <a:noFill/>
          <a:ln/>
        </p:spPr>
        <p:txBody>
          <a:bodyPr wrap="square" lIns="0" tIns="0" rIns="0" bIns="0" rtlCol="0" anchor="t"/>
          <a:lstStyle/>
          <a:p>
            <a:pPr indent="0" marL="0">
              <a:buNone/>
            </a:pPr>
            <a:r>
              <a:rPr lang="en-US" sz="1800" b="1" dirty="0">
                <a:solidFill>
                  <a:schemeClr val="tx1"/>
                </a:solidFill>
              </a:rPr>
              <a:t>Reported in public</a:t>
            </a:r>
            <a:endParaRPr lang="en-US" sz="1800" dirty="0"/>
          </a:p>
        </p:txBody>
      </p:sp>
      <p:sp>
        <p:nvSpPr>
          <p:cNvPr id="8" name="Text 6"/>
          <p:cNvSpPr txBox="1"/>
          <p:nvPr/>
        </p:nvSpPr>
        <p:spPr>
          <a:xfrm>
            <a:off x="960120" y="4160520"/>
            <a:ext cx="2880360" cy="1371600"/>
          </a:xfrm>
          <a:prstGeom prst="rect">
            <a:avLst/>
          </a:prstGeom>
          <a:noFill/>
          <a:ln/>
        </p:spPr>
        <p:txBody>
          <a:bodyPr wrap="square" lIns="0" tIns="0" rIns="0" bIns="0" rtlCol="0" anchor="t"/>
          <a:lstStyle/>
          <a:p>
            <a:pPr indent="0" marL="0">
              <a:buNone/>
            </a:pPr>
            <a:r>
              <a:rPr lang="en-US" sz="1400" dirty="0">
                <a:solidFill>
                  <a:schemeClr val="tx2"/>
                </a:solidFill>
              </a:rPr>
              <a:t>Wheel torque 10,000 N·m, tank 600 L, fan suction 2 g, gravity.</a:t>
            </a:r>
            <a:endParaRPr lang="en-US" sz="1400" dirty="0"/>
          </a:p>
        </p:txBody>
      </p:sp>
      <p:sp>
        <p:nvSpPr>
          <p:cNvPr id="9" name="Tag E"/>
          <p:cNvSpPr/>
          <p:nvPr/>
        </p:nvSpPr>
        <p:spPr>
          <a:xfrm>
            <a:off x="4325112" y="2103120"/>
            <a:ext cx="3474720" cy="3566160"/>
          </a:xfrm>
          <a:prstGeom prst="roundRect">
            <a:avLst>
              <a:gd name="adj" fmla="val 2632"/>
            </a:avLst>
          </a:prstGeom>
          <a:solidFill>
            <a:schemeClr val="bg2"/>
          </a:solidFill>
          <a:ln/>
        </p:spPr>
      </p:sp>
      <p:sp>
        <p:nvSpPr>
          <p:cNvPr id="10" name="Text 8"/>
          <p:cNvSpPr txBox="1"/>
          <p:nvPr/>
        </p:nvSpPr>
        <p:spPr>
          <a:xfrm>
            <a:off x="4645152" y="2377440"/>
            <a:ext cx="1188720" cy="237744"/>
          </a:xfrm>
          <a:prstGeom prst="rect">
            <a:avLst/>
          </a:prstGeom>
          <a:noFill/>
          <a:ln w="9525">
            <a:solidFill>
              <a:schemeClr val="accent4"/>
            </a:solidFill>
          </a:ln>
        </p:spPr>
        <p:txBody>
          <a:bodyPr wrap="square" lIns="0" tIns="0" rIns="0" bIns="0" rtlCol="0" anchor="ctr"/>
          <a:lstStyle/>
          <a:p>
            <a:pPr algn="ctr" indent="0" marL="0">
              <a:buNone/>
            </a:pPr>
            <a:r>
              <a:rPr lang="en-US" sz="900" b="1" dirty="0">
                <a:solidFill>
                  <a:schemeClr val="accent4"/>
                </a:solidFill>
              </a:rPr>
              <a:t>ESTIMATE</a:t>
            </a:r>
            <a:endParaRPr lang="en-US" sz="900" dirty="0"/>
          </a:p>
        </p:txBody>
      </p:sp>
      <p:sp>
        <p:nvSpPr>
          <p:cNvPr id="11" name="Text 9"/>
          <p:cNvSpPr txBox="1"/>
          <p:nvPr/>
        </p:nvSpPr>
        <p:spPr>
          <a:xfrm>
            <a:off x="4645152" y="2788920"/>
            <a:ext cx="2834640" cy="914400"/>
          </a:xfrm>
          <a:prstGeom prst="rect">
            <a:avLst/>
          </a:prstGeom>
          <a:noFill/>
          <a:ln/>
        </p:spPr>
        <p:txBody>
          <a:bodyPr wrap="square" lIns="0" tIns="0" rIns="0" bIns="0" rtlCol="0" anchor="t"/>
          <a:lstStyle/>
          <a:p>
            <a:pPr indent="0" marL="0">
              <a:buNone/>
            </a:pPr>
            <a:r>
              <a:rPr lang="en-US" sz="5600" dirty="0">
                <a:solidFill>
                  <a:schemeClr val="accent4"/>
                </a:solidFill>
              </a:rPr>
              <a:t>13</a:t>
            </a:r>
            <a:endParaRPr lang="en-US" sz="5600" dirty="0"/>
          </a:p>
        </p:txBody>
      </p:sp>
      <p:sp>
        <p:nvSpPr>
          <p:cNvPr id="12" name="Text 10"/>
          <p:cNvSpPr txBox="1"/>
          <p:nvPr/>
        </p:nvSpPr>
        <p:spPr>
          <a:xfrm>
            <a:off x="4645152" y="3749040"/>
            <a:ext cx="2834640" cy="365760"/>
          </a:xfrm>
          <a:prstGeom prst="rect">
            <a:avLst/>
          </a:prstGeom>
          <a:noFill/>
          <a:ln/>
        </p:spPr>
        <p:txBody>
          <a:bodyPr wrap="square" lIns="0" tIns="0" rIns="0" bIns="0" rtlCol="0" anchor="t"/>
          <a:lstStyle/>
          <a:p>
            <a:pPr indent="0" marL="0">
              <a:buNone/>
            </a:pPr>
            <a:r>
              <a:rPr lang="en-US" sz="1800" b="1" dirty="0">
                <a:solidFill>
                  <a:schemeClr val="tx1"/>
                </a:solidFill>
              </a:rPr>
              <a:t>My estimates</a:t>
            </a:r>
            <a:endParaRPr lang="en-US" sz="1800" dirty="0"/>
          </a:p>
        </p:txBody>
      </p:sp>
      <p:sp>
        <p:nvSpPr>
          <p:cNvPr id="13" name="Text 11"/>
          <p:cNvSpPr txBox="1"/>
          <p:nvPr/>
        </p:nvSpPr>
        <p:spPr>
          <a:xfrm>
            <a:off x="4645152" y="4160520"/>
            <a:ext cx="2880360" cy="1371600"/>
          </a:xfrm>
          <a:prstGeom prst="rect">
            <a:avLst/>
          </a:prstGeom>
          <a:noFill/>
          <a:ln/>
        </p:spPr>
        <p:txBody>
          <a:bodyPr wrap="square" lIns="0" tIns="0" rIns="0" bIns="0" rtlCol="0" anchor="t"/>
          <a:lstStyle/>
          <a:p>
            <a:pPr indent="0" marL="0">
              <a:buNone/>
            </a:pPr>
            <a:r>
              <a:rPr lang="en-US" sz="1400" dirty="0">
                <a:solidFill>
                  <a:schemeClr val="tx2"/>
                </a:solidFill>
              </a:rPr>
              <a:t>Mass 2,000 kg, tyre grip 1.2, drag 0.30, 300 kg of air at 690 bar, exhaust speed 700 m/s.</a:t>
            </a:r>
            <a:endParaRPr lang="en-US" sz="1400" dirty="0"/>
          </a:p>
        </p:txBody>
      </p:sp>
      <p:sp>
        <p:nvSpPr>
          <p:cNvPr id="14" name="Tag H"/>
          <p:cNvSpPr/>
          <p:nvPr/>
        </p:nvSpPr>
        <p:spPr>
          <a:xfrm>
            <a:off x="8010144" y="2103120"/>
            <a:ext cx="3474720" cy="3566160"/>
          </a:xfrm>
          <a:prstGeom prst="roundRect">
            <a:avLst>
              <a:gd name="adj" fmla="val 2632"/>
            </a:avLst>
          </a:prstGeom>
          <a:solidFill>
            <a:schemeClr val="bg2"/>
          </a:solidFill>
          <a:ln/>
        </p:spPr>
      </p:sp>
      <p:sp>
        <p:nvSpPr>
          <p:cNvPr id="15" name="Text 13"/>
          <p:cNvSpPr txBox="1"/>
          <p:nvPr/>
        </p:nvSpPr>
        <p:spPr>
          <a:xfrm>
            <a:off x="8330184" y="2377440"/>
            <a:ext cx="1188720" cy="237744"/>
          </a:xfrm>
          <a:prstGeom prst="rect">
            <a:avLst/>
          </a:prstGeom>
          <a:noFill/>
          <a:ln w="9525">
            <a:solidFill>
              <a:schemeClr val="accent5"/>
            </a:solidFill>
          </a:ln>
        </p:spPr>
        <p:txBody>
          <a:bodyPr wrap="square" lIns="0" tIns="0" rIns="0" bIns="0" rtlCol="0" anchor="ctr"/>
          <a:lstStyle/>
          <a:p>
            <a:pPr algn="ctr" indent="0" marL="0">
              <a:buNone/>
            </a:pPr>
            <a:r>
              <a:rPr lang="en-US" sz="900" b="1" dirty="0">
                <a:solidFill>
                  <a:schemeClr val="accent5"/>
                </a:solidFill>
              </a:rPr>
              <a:t>HYPOTHETICAL</a:t>
            </a:r>
            <a:endParaRPr lang="en-US" sz="900" dirty="0"/>
          </a:p>
        </p:txBody>
      </p:sp>
      <p:sp>
        <p:nvSpPr>
          <p:cNvPr id="16" name="Text 14"/>
          <p:cNvSpPr txBox="1"/>
          <p:nvPr/>
        </p:nvSpPr>
        <p:spPr>
          <a:xfrm>
            <a:off x="8330184" y="2788920"/>
            <a:ext cx="2834640" cy="914400"/>
          </a:xfrm>
          <a:prstGeom prst="rect">
            <a:avLst/>
          </a:prstGeom>
          <a:noFill/>
          <a:ln/>
        </p:spPr>
        <p:txBody>
          <a:bodyPr wrap="square" lIns="0" tIns="0" rIns="0" bIns="0" rtlCol="0" anchor="t"/>
          <a:lstStyle/>
          <a:p>
            <a:pPr indent="0" marL="0">
              <a:buNone/>
            </a:pPr>
            <a:r>
              <a:rPr lang="en-US" sz="5600" dirty="0">
                <a:solidFill>
                  <a:schemeClr val="accent5"/>
                </a:solidFill>
              </a:rPr>
              <a:t>13</a:t>
            </a:r>
            <a:endParaRPr lang="en-US" sz="5600" dirty="0"/>
          </a:p>
        </p:txBody>
      </p:sp>
      <p:sp>
        <p:nvSpPr>
          <p:cNvPr id="17" name="Text 15"/>
          <p:cNvSpPr txBox="1"/>
          <p:nvPr/>
        </p:nvSpPr>
        <p:spPr>
          <a:xfrm>
            <a:off x="8330184" y="3749040"/>
            <a:ext cx="2834640" cy="365760"/>
          </a:xfrm>
          <a:prstGeom prst="rect">
            <a:avLst/>
          </a:prstGeom>
          <a:noFill/>
          <a:ln/>
        </p:spPr>
        <p:txBody>
          <a:bodyPr wrap="square" lIns="0" tIns="0" rIns="0" bIns="0" rtlCol="0" anchor="t"/>
          <a:lstStyle/>
          <a:p>
            <a:pPr indent="0" marL="0">
              <a:buNone/>
            </a:pPr>
            <a:r>
              <a:rPr lang="en-US" sz="1800" b="1" dirty="0">
                <a:solidFill>
                  <a:schemeClr val="tx1"/>
                </a:solidFill>
              </a:rPr>
              <a:t>My design</a:t>
            </a:r>
            <a:endParaRPr lang="en-US" sz="1800" dirty="0"/>
          </a:p>
        </p:txBody>
      </p:sp>
      <p:sp>
        <p:nvSpPr>
          <p:cNvPr id="18" name="Text 16"/>
          <p:cNvSpPr txBox="1"/>
          <p:nvPr/>
        </p:nvSpPr>
        <p:spPr>
          <a:xfrm>
            <a:off x="8330184" y="4160520"/>
            <a:ext cx="2880360" cy="1371600"/>
          </a:xfrm>
          <a:prstGeom prst="rect">
            <a:avLst/>
          </a:prstGeom>
          <a:noFill/>
          <a:ln/>
        </p:spPr>
        <p:txBody>
          <a:bodyPr wrap="square" lIns="0" tIns="0" rIns="0" bIns="0" rtlCol="0" anchor="t"/>
          <a:lstStyle/>
          <a:p>
            <a:pPr indent="0" marL="0">
              <a:buNone/>
            </a:pPr>
            <a:r>
              <a:rPr lang="en-US" sz="1400" dirty="0">
                <a:solidFill>
                  <a:schemeClr val="tx2"/>
                </a:solidFill>
              </a:rPr>
              <a:t>Where all 10 thrusters sit and how hard each pushes, the pressure regulator, the controller.</a:t>
            </a:r>
            <a:endParaRPr lang="en-US" sz="14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Tested before trusted</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4023360"/>
                <a:gridCol w="2011680"/>
                <a:gridCol w="2926080"/>
                <a:gridCol w="1920240"/>
              </a:tblGrid>
              <a:tr h="548640">
                <a:tc>
                  <a:txBody>
                    <a:bodyPr/>
                    <a:lstStyle/>
                    <a:p>
                      <a:pPr indent="0" marL="0">
                        <a:buNone/>
                      </a:pPr>
                      <a:r>
                        <a:rPr lang="en-US" sz="1300" b="1" dirty="0">
                          <a:solidFill>
                            <a:schemeClr val="bg1"/>
                          </a:solidFill>
                        </a:rPr>
                        <a:t>Check</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171A1F"/>
                    </a:solidFill>
                  </a:tcPr>
                </a:tc>
                <a:tc>
                  <a:txBody>
                    <a:bodyPr/>
                    <a:lstStyle/>
                    <a:p>
                      <a:pPr indent="0" marL="0">
                        <a:buNone/>
                      </a:pPr>
                      <a:r>
                        <a:rPr lang="en-US" sz="1300" b="1" dirty="0">
                          <a:solidFill>
                            <a:schemeClr val="bg1"/>
                          </a:solidFill>
                        </a:rPr>
                        <a:t>Expected</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171A1F"/>
                    </a:solidFill>
                  </a:tcPr>
                </a:tc>
                <a:tc>
                  <a:txBody>
                    <a:bodyPr/>
                    <a:lstStyle/>
                    <a:p>
                      <a:pPr indent="0" marL="0">
                        <a:buNone/>
                      </a:pPr>
                      <a:r>
                        <a:rPr lang="en-US" sz="1300" b="1" dirty="0">
                          <a:solidFill>
                            <a:schemeClr val="bg1"/>
                          </a:solidFill>
                        </a:rPr>
                        <a:t>Simulated</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171A1F"/>
                    </a:solidFill>
                  </a:tcPr>
                </a:tc>
                <a:tc>
                  <a:txBody>
                    <a:bodyPr/>
                    <a:lstStyle/>
                    <a:p>
                      <a:pPr indent="0" marL="0">
                        <a:buNone/>
                      </a:pPr>
                      <a:r>
                        <a:rPr lang="en-US" sz="1300" b="1" dirty="0">
                          <a:solidFill>
                            <a:schemeClr val="bg1"/>
                          </a:solidFill>
                        </a:rPr>
                        <a:t>Result</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171A1F"/>
                    </a:solidFill>
                  </a:tcPr>
                </a:tc>
              </a:tr>
              <a:tr h="548640">
                <a:tc>
                  <a:txBody>
                    <a:bodyPr/>
                    <a:lstStyle/>
                    <a:p>
                      <a:pPr indent="0" marL="0">
                        <a:buNone/>
                      </a:pPr>
                      <a:r>
                        <a:rPr lang="en-US" sz="1300" dirty="0">
                          <a:solidFill>
                            <a:schemeClr val="tx1"/>
                          </a:solidFill>
                        </a:rPr>
                        <a:t>Free fall for 1 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4.905 m</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4.914 m</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3"/>
                          </a:solidFill>
                        </a:rPr>
                        <a:t>PASS, 0.2 % off</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r>
              <a:tr h="548640">
                <a:tc>
                  <a:txBody>
                    <a:bodyPr/>
                    <a:lstStyle/>
                    <a:p>
                      <a:pPr indent="0" marL="0">
                        <a:buNone/>
                      </a:pPr>
                      <a:r>
                        <a:rPr lang="en-US" sz="1300" dirty="0">
                          <a:solidFill>
                            <a:schemeClr val="tx1"/>
                          </a:solidFill>
                        </a:rPr>
                        <a:t>Side nozzle spin, torque = r × F</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−0.0241 rad/s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−0.0241 rad/s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3"/>
                          </a:solidFill>
                        </a:rPr>
                        <a:t>PASS, exact</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r>
              <a:tr h="548640">
                <a:tc>
                  <a:txBody>
                    <a:bodyPr/>
                    <a:lstStyle/>
                    <a:p>
                      <a:pPr indent="0" marL="0">
                        <a:buNone/>
                      </a:pPr>
                      <a:r>
                        <a:rPr lang="en-US" sz="1300" dirty="0">
                          <a:solidFill>
                            <a:schemeClr val="tx1"/>
                          </a:solidFill>
                        </a:rPr>
                        <a:t>Air used by 1 s of full boost</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62.86 kg</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62.86 kg</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3"/>
                          </a:solidFill>
                        </a:rPr>
                        <a:t>PASS, exact</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r>
              <a:tr h="548640">
                <a:tc>
                  <a:txBody>
                    <a:bodyPr/>
                    <a:lstStyle/>
                    <a:p>
                      <a:pPr indent="0" marL="0">
                        <a:buNone/>
                      </a:pPr>
                      <a:r>
                        <a:rPr lang="en-US" sz="1300" dirty="0">
                          <a:solidFill>
                            <a:schemeClr val="tx1"/>
                          </a:solidFill>
                        </a:rPr>
                        <a:t>All 4 stunts finish upright</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4 of 4</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4 of 4, also in the browser</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3"/>
                          </a:solidFill>
                        </a:rPr>
                        <a:t>PASS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r>
              <a:tr h="548640">
                <a:tc>
                  <a:txBody>
                    <a:bodyPr/>
                    <a:lstStyle/>
                    <a:p>
                      <a:pPr indent="0" marL="0">
                        <a:buNone/>
                      </a:pPr>
                      <a:r>
                        <a:rPr lang="en-US" sz="1300" dirty="0">
                          <a:solidFill>
                            <a:schemeClr val="tx1"/>
                          </a:solidFill>
                        </a:rPr>
                        <a:t>Auto-rescue drops: 96 heights, angles, spins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land &lt; 4 m/s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71 of 71 possible cases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3"/>
                          </a:solidFill>
                        </a:rPr>
                        <a:t>PASS</a:t>
                      </a:r>
                      <a:endParaRPr lang="en-US" sz="1300" dirty="0"/>
                    </a:p>
                  </a:txBody>
                  <a:tcPr marL="91440" marR="91440" marT="91440" marB="91440" anchor="ctr">
                    <a:lnL w="6350" cap="flat" cmpd="sng" algn="ctr">
                      <a:solidFill>
                        <a:srgbClr val="D3D8DE"/>
                      </a:solidFill>
                      <a:prstDash val="solid"/>
                      <a:round/>
                      <a:headEnd type="none" w="med" len="med"/>
                      <a:tailEnd type="none" w="med" len="med"/>
                    </a:lnL>
                    <a:lnR w="6350" cap="flat" cmpd="sng" algn="ctr">
                      <a:solidFill>
                        <a:srgbClr val="D3D8DE"/>
                      </a:solidFill>
                      <a:prstDash val="solid"/>
                      <a:round/>
                      <a:headEnd type="none" w="med" len="med"/>
                      <a:tailEnd type="none" w="med" len="med"/>
                    </a:lnR>
                    <a:lnT w="6350" cap="flat" cmpd="sng" algn="ctr">
                      <a:solidFill>
                        <a:srgbClr val="D3D8DE"/>
                      </a:solidFill>
                      <a:prstDash val="solid"/>
                      <a:round/>
                      <a:headEnd type="none" w="med" len="med"/>
                      <a:tailEnd type="none" w="med" len="med"/>
                    </a:lnT>
                    <a:lnB w="6350" cap="flat" cmpd="sng" algn="ctr">
                      <a:solidFill>
                        <a:srgbClr val="D3D8D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40080" y="5074920"/>
            <a:ext cx="10881360" cy="822960"/>
          </a:xfrm>
          <a:prstGeom prst="rect">
            <a:avLst/>
          </a:prstGeom>
          <a:noFill/>
          <a:ln/>
        </p:spPr>
        <p:txBody>
          <a:bodyPr wrap="square" lIns="0" tIns="0" rIns="0" bIns="0" rtlCol="0" anchor="t"/>
          <a:lstStyle/>
          <a:p>
            <a:pPr indent="0" marL="0">
              <a:buNone/>
            </a:pPr>
            <a:r>
              <a:rPr lang="en-US" sz="1400" dirty="0">
                <a:solidFill>
                  <a:schemeClr val="tx2"/>
                </a:solidFill>
              </a:rPr>
              <a:t>25 of the 96 drops are physically impossible: too low and already too fast to flip and stop in time. 14 of those landed safely anyway. Run the checks yourself with node test/sim-check.mjs and node test/rescue-check.mjs.</a:t>
            </a:r>
            <a:endParaRPr lang="en-US" sz="14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A thruster turns kilograms of air into push</a:t>
            </a:r>
            <a:endParaRPr lang="en-US" sz="3400" dirty="0"/>
          </a:p>
        </p:txBody>
      </p:sp>
      <p:pic>
        <p:nvPicPr>
          <p:cNvPr id="3" name="Hover render" descr="C:\Users\arko4\Desktop\Roadster Simulation\shots\hover.jpg">    </p:cNvPr>
          <p:cNvPicPr>
            <a:picLocks noChangeAspect="1"/>
          </p:cNvPicPr>
          <p:nvPr/>
        </p:nvPicPr>
        <p:blipFill>
          <a:blip r:embed="rId1"/>
          <a:srcRect l="0" r="0" t="0" b="0"/>
          <a:stretch/>
        </p:blipFill>
        <p:spPr>
          <a:xfrm>
            <a:off x="640080" y="1463040"/>
            <a:ext cx="5669280" cy="3191256"/>
          </a:xfrm>
          <a:prstGeom prst="rect">
            <a:avLst/>
          </a:prstGeom>
        </p:spPr>
      </p:pic>
      <p:sp>
        <p:nvSpPr>
          <p:cNvPr id="4" name="Text 1"/>
          <p:cNvSpPr txBox="1"/>
          <p:nvPr/>
        </p:nvSpPr>
        <p:spPr>
          <a:xfrm>
            <a:off x="6766560" y="1417320"/>
            <a:ext cx="4754880" cy="914400"/>
          </a:xfrm>
          <a:prstGeom prst="rect">
            <a:avLst/>
          </a:prstGeom>
          <a:noFill/>
          <a:ln/>
        </p:spPr>
        <p:txBody>
          <a:bodyPr wrap="square" lIns="0" tIns="0" rIns="0" bIns="0" rtlCol="0" anchor="t"/>
          <a:lstStyle/>
          <a:p>
            <a:pPr indent="0" marL="0">
              <a:buNone/>
            </a:pPr>
            <a:r>
              <a:rPr lang="en-US" sz="4800" dirty="0">
                <a:solidFill>
                  <a:schemeClr val="accent2"/>
                </a:solidFill>
                <a:latin typeface="Cambria" pitchFamily="34" charset="0"/>
                <a:ea typeface="Cambria" pitchFamily="34" charset="-122"/>
                <a:cs typeface="Cambria" pitchFamily="34" charset="-120"/>
              </a:rPr>
              <a:t>F = ṁ × vₑ</a:t>
            </a:r>
            <a:endParaRPr lang="en-US" sz="4800" dirty="0"/>
          </a:p>
        </p:txBody>
      </p:sp>
      <p:sp>
        <p:nvSpPr>
          <p:cNvPr id="5" name="Text 2"/>
          <p:cNvSpPr txBox="1"/>
          <p:nvPr/>
        </p:nvSpPr>
        <p:spPr>
          <a:xfrm>
            <a:off x="6766560" y="2377440"/>
            <a:ext cx="4754880" cy="822960"/>
          </a:xfrm>
          <a:prstGeom prst="rect">
            <a:avLst/>
          </a:prstGeom>
          <a:noFill/>
          <a:ln/>
        </p:spPr>
        <p:txBody>
          <a:bodyPr wrap="square" lIns="0" tIns="0" rIns="0" bIns="0" rtlCol="0" anchor="t"/>
          <a:lstStyle/>
          <a:p>
            <a:pPr indent="0" marL="0">
              <a:buNone/>
            </a:pPr>
            <a:r>
              <a:rPr lang="en-US" sz="1500" dirty="0">
                <a:solidFill>
                  <a:schemeClr val="tx2"/>
                </a:solidFill>
              </a:rPr>
              <a:t>Push = air flow (kg/s) × exhaust speed (about 700 m/s). 1 kg of air per second gives 0.7 kN.</a:t>
            </a:r>
            <a:endParaRPr lang="en-US" sz="1500" dirty="0"/>
          </a:p>
        </p:txBody>
      </p:sp>
      <p:sp>
        <p:nvSpPr>
          <p:cNvPr id="6" name="Text 3"/>
          <p:cNvSpPr txBox="1"/>
          <p:nvPr/>
        </p:nvSpPr>
        <p:spPr>
          <a:xfrm>
            <a:off x="6766560" y="3383280"/>
            <a:ext cx="2286000" cy="731520"/>
          </a:xfrm>
          <a:prstGeom prst="rect">
            <a:avLst/>
          </a:prstGeom>
          <a:noFill/>
          <a:ln/>
        </p:spPr>
        <p:txBody>
          <a:bodyPr wrap="square" lIns="0" tIns="0" rIns="0" bIns="0" rtlCol="0" anchor="t"/>
          <a:lstStyle/>
          <a:p>
            <a:pPr indent="0" marL="0">
              <a:buNone/>
            </a:pPr>
            <a:r>
              <a:rPr lang="en-US" sz="3200" dirty="0">
                <a:solidFill>
                  <a:schemeClr val="tx1"/>
                </a:solidFill>
              </a:rPr>
              <a:t>300 kg</a:t>
            </a:r>
            <a:endParaRPr lang="en-US" sz="3200" dirty="0"/>
          </a:p>
        </p:txBody>
      </p:sp>
      <p:sp>
        <p:nvSpPr>
          <p:cNvPr id="7" name="Text 4"/>
          <p:cNvSpPr txBox="1"/>
          <p:nvPr/>
        </p:nvSpPr>
        <p:spPr>
          <a:xfrm>
            <a:off x="6766560" y="4114800"/>
            <a:ext cx="2286000" cy="502920"/>
          </a:xfrm>
          <a:prstGeom prst="rect">
            <a:avLst/>
          </a:prstGeom>
          <a:noFill/>
          <a:ln/>
        </p:spPr>
        <p:txBody>
          <a:bodyPr wrap="square" lIns="0" tIns="0" rIns="0" bIns="0" rtlCol="0" anchor="t"/>
          <a:lstStyle/>
          <a:p>
            <a:pPr indent="0" marL="0">
              <a:buNone/>
            </a:pPr>
            <a:r>
              <a:rPr lang="en-US" sz="1300" dirty="0">
                <a:solidFill>
                  <a:schemeClr val="tx2"/>
                </a:solidFill>
              </a:rPr>
              <a:t>of air in the 600 L tank</a:t>
            </a:r>
            <a:endParaRPr lang="en-US" sz="1300" dirty="0"/>
          </a:p>
        </p:txBody>
      </p:sp>
      <p:sp>
        <p:nvSpPr>
          <p:cNvPr id="8" name="Text 5"/>
          <p:cNvSpPr txBox="1"/>
          <p:nvPr/>
        </p:nvSpPr>
        <p:spPr>
          <a:xfrm>
            <a:off x="6766560" y="4645152"/>
            <a:ext cx="1188720" cy="237744"/>
          </a:xfrm>
          <a:prstGeom prst="rect">
            <a:avLst/>
          </a:prstGeom>
          <a:noFill/>
          <a:ln w="9525">
            <a:solidFill>
              <a:schemeClr val="accent4"/>
            </a:solidFill>
          </a:ln>
        </p:spPr>
        <p:txBody>
          <a:bodyPr wrap="square" lIns="0" tIns="0" rIns="0" bIns="0" rtlCol="0" anchor="ctr"/>
          <a:lstStyle/>
          <a:p>
            <a:pPr algn="ctr" indent="0" marL="0">
              <a:buNone/>
            </a:pPr>
            <a:r>
              <a:rPr lang="en-US" sz="900" b="1" dirty="0">
                <a:solidFill>
                  <a:schemeClr val="accent4"/>
                </a:solidFill>
              </a:rPr>
              <a:t>ESTIMATE</a:t>
            </a:r>
            <a:endParaRPr lang="en-US" sz="900" dirty="0"/>
          </a:p>
        </p:txBody>
      </p:sp>
      <p:sp>
        <p:nvSpPr>
          <p:cNvPr id="9" name="Text 6"/>
          <p:cNvSpPr txBox="1"/>
          <p:nvPr/>
        </p:nvSpPr>
        <p:spPr>
          <a:xfrm>
            <a:off x="9235440" y="3383280"/>
            <a:ext cx="2286000" cy="731520"/>
          </a:xfrm>
          <a:prstGeom prst="rect">
            <a:avLst/>
          </a:prstGeom>
          <a:noFill/>
          <a:ln/>
        </p:spPr>
        <p:txBody>
          <a:bodyPr wrap="square" lIns="0" tIns="0" rIns="0" bIns="0" rtlCol="0" anchor="t"/>
          <a:lstStyle/>
          <a:p>
            <a:pPr indent="0" marL="0">
              <a:buNone/>
            </a:pPr>
            <a:r>
              <a:rPr lang="en-US" sz="3200" dirty="0">
                <a:solidFill>
                  <a:schemeClr val="tx1"/>
                </a:solidFill>
              </a:rPr>
              <a:t>~9 s</a:t>
            </a:r>
            <a:endParaRPr lang="en-US" sz="3200" dirty="0"/>
          </a:p>
        </p:txBody>
      </p:sp>
      <p:sp>
        <p:nvSpPr>
          <p:cNvPr id="10" name="Text 7"/>
          <p:cNvSpPr txBox="1"/>
          <p:nvPr/>
        </p:nvSpPr>
        <p:spPr>
          <a:xfrm>
            <a:off x="9235440" y="4114800"/>
            <a:ext cx="2286000" cy="502920"/>
          </a:xfrm>
          <a:prstGeom prst="rect">
            <a:avLst/>
          </a:prstGeom>
          <a:noFill/>
          <a:ln/>
        </p:spPr>
        <p:txBody>
          <a:bodyPr wrap="square" lIns="0" tIns="0" rIns="0" bIns="0" rtlCol="0" anchor="t"/>
          <a:lstStyle/>
          <a:p>
            <a:pPr indent="0" marL="0">
              <a:buNone/>
            </a:pPr>
            <a:r>
              <a:rPr lang="en-US" sz="1300" dirty="0">
                <a:solidFill>
                  <a:schemeClr val="tx2"/>
                </a:solidFill>
              </a:rPr>
              <a:t>of hover on a full tank</a:t>
            </a:r>
            <a:endParaRPr lang="en-US" sz="1300" dirty="0"/>
          </a:p>
        </p:txBody>
      </p:sp>
      <p:sp>
        <p:nvSpPr>
          <p:cNvPr id="11" name="Text 8"/>
          <p:cNvSpPr txBox="1"/>
          <p:nvPr/>
        </p:nvSpPr>
        <p:spPr>
          <a:xfrm>
            <a:off x="9235440" y="4645152"/>
            <a:ext cx="1188720" cy="237744"/>
          </a:xfrm>
          <a:prstGeom prst="rect">
            <a:avLst/>
          </a:prstGeom>
          <a:noFill/>
          <a:ln w="9525">
            <a:solidFill>
              <a:schemeClr val="accent4"/>
            </a:solidFill>
          </a:ln>
        </p:spPr>
        <p:txBody>
          <a:bodyPr wrap="square" lIns="0" tIns="0" rIns="0" bIns="0" rtlCol="0" anchor="ctr"/>
          <a:lstStyle/>
          <a:p>
            <a:pPr algn="ctr" indent="0" marL="0">
              <a:buNone/>
            </a:pPr>
            <a:r>
              <a:rPr lang="en-US" sz="900" b="1" dirty="0">
                <a:solidFill>
                  <a:schemeClr val="accent4"/>
                </a:solidFill>
              </a:rPr>
              <a:t>ESTIMATE</a:t>
            </a:r>
            <a:endParaRPr lang="en-US" sz="900" dirty="0"/>
          </a:p>
        </p:txBody>
      </p:sp>
      <p:sp>
        <p:nvSpPr>
          <p:cNvPr id="12" name="Text 9"/>
          <p:cNvSpPr txBox="1"/>
          <p:nvPr/>
        </p:nvSpPr>
        <p:spPr>
          <a:xfrm>
            <a:off x="640080" y="4983480"/>
            <a:ext cx="10881360" cy="822960"/>
          </a:xfrm>
          <a:prstGeom prst="rect">
            <a:avLst/>
          </a:prstGeom>
          <a:noFill/>
          <a:ln/>
        </p:spPr>
        <p:txBody>
          <a:bodyPr wrap="square" lIns="0" tIns="0" rIns="0" bIns="0" rtlCol="0" anchor="t"/>
          <a:lstStyle/>
          <a:p>
            <a:pPr indent="0" marL="0">
              <a:buNone/>
            </a:pPr>
            <a:r>
              <a:rPr lang="en-US" sz="1600" dirty="0">
                <a:solidFill>
                  <a:schemeClr val="tx1"/>
                </a:solidFill>
              </a:rPr>
              <a:t>A hover burns about 32 kg of air every second. That is why the reveal showed hops, not flights, and why the hover mode lands itself at 30 % air.</a:t>
            </a:r>
            <a:endParaRPr lang="en-US" sz="16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The hover controller is drone maths</a:t>
            </a:r>
            <a:endParaRPr lang="en-US" sz="3400" dirty="0"/>
          </a:p>
        </p:txBody>
      </p:sp>
      <p:sp>
        <p:nvSpPr>
          <p:cNvPr id="3" name="Car outline"/>
          <p:cNvSpPr/>
          <p:nvPr/>
        </p:nvSpPr>
        <p:spPr>
          <a:xfrm>
            <a:off x="1463040" y="1600200"/>
            <a:ext cx="1828800" cy="4114800"/>
          </a:xfrm>
          <a:prstGeom prst="roundRect">
            <a:avLst>
              <a:gd name="adj" fmla="val 15000"/>
            </a:avLst>
          </a:prstGeom>
          <a:solidFill>
            <a:schemeClr val="bg2"/>
          </a:solidFill>
          <a:ln w="12700">
            <a:solidFill>
              <a:srgbClr val="B4B9C0"/>
            </a:solidFill>
            <a:prstDash val="solid"/>
          </a:ln>
        </p:spPr>
      </p:sp>
      <p:sp>
        <p:nvSpPr>
          <p:cNvPr id="4" name="Thruster 1"/>
          <p:cNvSpPr/>
          <p:nvPr/>
        </p:nvSpPr>
        <p:spPr>
          <a:xfrm>
            <a:off x="2057400" y="5614416"/>
            <a:ext cx="274320" cy="274320"/>
          </a:xfrm>
          <a:prstGeom prst="ellipse">
            <a:avLst/>
          </a:prstGeom>
          <a:solidFill>
            <a:schemeClr val="accent2"/>
          </a:solidFill>
          <a:ln w="12700">
            <a:solidFill>
              <a:schemeClr val="bg1"/>
            </a:solidFill>
            <a:prstDash val="solid"/>
          </a:ln>
        </p:spPr>
      </p:sp>
      <p:sp>
        <p:nvSpPr>
          <p:cNvPr id="5" name="Thruster 2"/>
          <p:cNvSpPr/>
          <p:nvPr/>
        </p:nvSpPr>
        <p:spPr>
          <a:xfrm>
            <a:off x="2423160" y="5614416"/>
            <a:ext cx="274320" cy="274320"/>
          </a:xfrm>
          <a:prstGeom prst="ellipse">
            <a:avLst/>
          </a:prstGeom>
          <a:solidFill>
            <a:schemeClr val="accent2"/>
          </a:solidFill>
          <a:ln w="12700">
            <a:solidFill>
              <a:schemeClr val="bg1"/>
            </a:solidFill>
            <a:prstDash val="solid"/>
          </a:ln>
        </p:spPr>
      </p:sp>
      <p:sp>
        <p:nvSpPr>
          <p:cNvPr id="6" name="Thruster 3"/>
          <p:cNvSpPr/>
          <p:nvPr/>
        </p:nvSpPr>
        <p:spPr>
          <a:xfrm>
            <a:off x="1463040" y="1920240"/>
            <a:ext cx="274320" cy="274320"/>
          </a:xfrm>
          <a:prstGeom prst="ellipse">
            <a:avLst/>
          </a:prstGeom>
          <a:solidFill>
            <a:schemeClr val="accent1"/>
          </a:solidFill>
          <a:ln w="12700">
            <a:solidFill>
              <a:schemeClr val="bg1"/>
            </a:solidFill>
            <a:prstDash val="solid"/>
          </a:ln>
        </p:spPr>
      </p:sp>
      <p:sp>
        <p:nvSpPr>
          <p:cNvPr id="7" name="Thruster 4"/>
          <p:cNvSpPr/>
          <p:nvPr/>
        </p:nvSpPr>
        <p:spPr>
          <a:xfrm>
            <a:off x="3017520" y="1920240"/>
            <a:ext cx="274320" cy="274320"/>
          </a:xfrm>
          <a:prstGeom prst="ellipse">
            <a:avLst/>
          </a:prstGeom>
          <a:solidFill>
            <a:schemeClr val="accent1"/>
          </a:solidFill>
          <a:ln w="12700">
            <a:solidFill>
              <a:schemeClr val="bg1"/>
            </a:solidFill>
            <a:prstDash val="solid"/>
          </a:ln>
        </p:spPr>
      </p:sp>
      <p:sp>
        <p:nvSpPr>
          <p:cNvPr id="8" name="Thruster 5"/>
          <p:cNvSpPr/>
          <p:nvPr/>
        </p:nvSpPr>
        <p:spPr>
          <a:xfrm>
            <a:off x="1463040" y="5303520"/>
            <a:ext cx="274320" cy="274320"/>
          </a:xfrm>
          <a:prstGeom prst="ellipse">
            <a:avLst/>
          </a:prstGeom>
          <a:solidFill>
            <a:schemeClr val="accent1"/>
          </a:solidFill>
          <a:ln w="12700">
            <a:solidFill>
              <a:schemeClr val="bg1"/>
            </a:solidFill>
            <a:prstDash val="solid"/>
          </a:ln>
        </p:spPr>
      </p:sp>
      <p:sp>
        <p:nvSpPr>
          <p:cNvPr id="9" name="Thruster 6"/>
          <p:cNvSpPr/>
          <p:nvPr/>
        </p:nvSpPr>
        <p:spPr>
          <a:xfrm>
            <a:off x="3017520" y="5303520"/>
            <a:ext cx="274320" cy="274320"/>
          </a:xfrm>
          <a:prstGeom prst="ellipse">
            <a:avLst/>
          </a:prstGeom>
          <a:solidFill>
            <a:schemeClr val="accent1"/>
          </a:solidFill>
          <a:ln w="12700">
            <a:solidFill>
              <a:schemeClr val="bg1"/>
            </a:solidFill>
            <a:prstDash val="solid"/>
          </a:ln>
        </p:spPr>
      </p:sp>
      <p:sp>
        <p:nvSpPr>
          <p:cNvPr id="10" name="Thruster 7"/>
          <p:cNvSpPr/>
          <p:nvPr/>
        </p:nvSpPr>
        <p:spPr>
          <a:xfrm>
            <a:off x="1920240" y="1691640"/>
            <a:ext cx="274320" cy="274320"/>
          </a:xfrm>
          <a:prstGeom prst="ellipse">
            <a:avLst/>
          </a:prstGeom>
          <a:solidFill>
            <a:schemeClr val="accent5"/>
          </a:solidFill>
          <a:ln w="12700">
            <a:solidFill>
              <a:schemeClr val="bg1"/>
            </a:solidFill>
            <a:prstDash val="solid"/>
          </a:ln>
        </p:spPr>
      </p:sp>
      <p:sp>
        <p:nvSpPr>
          <p:cNvPr id="11" name="Thruster 8"/>
          <p:cNvSpPr/>
          <p:nvPr/>
        </p:nvSpPr>
        <p:spPr>
          <a:xfrm>
            <a:off x="2560320" y="1691640"/>
            <a:ext cx="274320" cy="274320"/>
          </a:xfrm>
          <a:prstGeom prst="ellipse">
            <a:avLst/>
          </a:prstGeom>
          <a:solidFill>
            <a:schemeClr val="accent5"/>
          </a:solidFill>
          <a:ln w="12700">
            <a:solidFill>
              <a:schemeClr val="bg1"/>
            </a:solidFill>
            <a:prstDash val="solid"/>
          </a:ln>
        </p:spPr>
      </p:sp>
      <p:sp>
        <p:nvSpPr>
          <p:cNvPr id="12" name="Thruster 9"/>
          <p:cNvSpPr/>
          <p:nvPr/>
        </p:nvSpPr>
        <p:spPr>
          <a:xfrm>
            <a:off x="1920240" y="5394960"/>
            <a:ext cx="274320" cy="274320"/>
          </a:xfrm>
          <a:prstGeom prst="ellipse">
            <a:avLst/>
          </a:prstGeom>
          <a:solidFill>
            <a:schemeClr val="accent5"/>
          </a:solidFill>
          <a:ln w="12700">
            <a:solidFill>
              <a:schemeClr val="bg1"/>
            </a:solidFill>
            <a:prstDash val="solid"/>
          </a:ln>
        </p:spPr>
      </p:sp>
      <p:sp>
        <p:nvSpPr>
          <p:cNvPr id="13" name="Thruster 10"/>
          <p:cNvSpPr/>
          <p:nvPr/>
        </p:nvSpPr>
        <p:spPr>
          <a:xfrm>
            <a:off x="2560320" y="5394960"/>
            <a:ext cx="274320" cy="274320"/>
          </a:xfrm>
          <a:prstGeom prst="ellipse">
            <a:avLst/>
          </a:prstGeom>
          <a:solidFill>
            <a:schemeClr val="accent5"/>
          </a:solidFill>
          <a:ln w="12700">
            <a:solidFill>
              <a:schemeClr val="bg1"/>
            </a:solidFill>
            <a:prstDash val="solid"/>
          </a:ln>
        </p:spPr>
      </p:sp>
      <p:sp>
        <p:nvSpPr>
          <p:cNvPr id="14" name="Text 12"/>
          <p:cNvSpPr txBox="1"/>
          <p:nvPr/>
        </p:nvSpPr>
        <p:spPr>
          <a:xfrm>
            <a:off x="1188720" y="5897880"/>
            <a:ext cx="2377440" cy="274320"/>
          </a:xfrm>
          <a:prstGeom prst="rect">
            <a:avLst/>
          </a:prstGeom>
          <a:noFill/>
          <a:ln/>
        </p:spPr>
        <p:txBody>
          <a:bodyPr wrap="square" lIns="0" tIns="0" rIns="0" bIns="0" rtlCol="0" anchor="t"/>
          <a:lstStyle/>
          <a:p>
            <a:pPr algn="ctr" indent="0" marL="0">
              <a:buNone/>
            </a:pPr>
            <a:r>
              <a:rPr lang="en-US" sz="1100" dirty="0">
                <a:solidFill>
                  <a:schemeClr val="tx2"/>
                </a:solidFill>
              </a:rPr>
              <a:t>Top view, nose up</a:t>
            </a:r>
            <a:endParaRPr lang="en-US" sz="1100" dirty="0"/>
          </a:p>
        </p:txBody>
      </p:sp>
      <p:sp>
        <p:nvSpPr>
          <p:cNvPr id="15" name="Legend 0"/>
          <p:cNvSpPr/>
          <p:nvPr/>
        </p:nvSpPr>
        <p:spPr>
          <a:xfrm>
            <a:off x="4572000" y="1517904"/>
            <a:ext cx="237744" cy="237744"/>
          </a:xfrm>
          <a:prstGeom prst="ellipse">
            <a:avLst/>
          </a:prstGeom>
          <a:solidFill>
            <a:schemeClr val="accent1"/>
          </a:solidFill>
          <a:ln/>
        </p:spPr>
      </p:sp>
      <p:sp>
        <p:nvSpPr>
          <p:cNvPr id="16" name="Text 14"/>
          <p:cNvSpPr txBox="1"/>
          <p:nvPr/>
        </p:nvSpPr>
        <p:spPr>
          <a:xfrm>
            <a:off x="4983480" y="1463040"/>
            <a:ext cx="6492240" cy="320040"/>
          </a:xfrm>
          <a:prstGeom prst="rect">
            <a:avLst/>
          </a:prstGeom>
          <a:noFill/>
          <a:ln/>
        </p:spPr>
        <p:txBody>
          <a:bodyPr wrap="square" lIns="0" tIns="0" rIns="0" bIns="0" rtlCol="0" anchor="t"/>
          <a:lstStyle/>
          <a:p>
            <a:pPr indent="0" marL="0">
              <a:buNone/>
            </a:pPr>
            <a:r>
              <a:rPr lang="en-US" sz="1600" b="1" dirty="0">
                <a:solidFill>
                  <a:schemeClr val="tx1"/>
                </a:solidFill>
              </a:rPr>
              <a:t>4 lift nozzles, 15 kN each</a:t>
            </a:r>
            <a:endParaRPr lang="en-US" sz="1600" dirty="0"/>
          </a:p>
        </p:txBody>
      </p:sp>
      <p:sp>
        <p:nvSpPr>
          <p:cNvPr id="17" name="Text 15"/>
          <p:cNvSpPr txBox="1"/>
          <p:nvPr/>
        </p:nvSpPr>
        <p:spPr>
          <a:xfrm>
            <a:off x="4983480" y="1792224"/>
            <a:ext cx="6492240" cy="457200"/>
          </a:xfrm>
          <a:prstGeom prst="rect">
            <a:avLst/>
          </a:prstGeom>
          <a:noFill/>
          <a:ln/>
        </p:spPr>
        <p:txBody>
          <a:bodyPr wrap="square" lIns="0" tIns="0" rIns="0" bIns="0" rtlCol="0" anchor="t"/>
          <a:lstStyle/>
          <a:p>
            <a:pPr indent="0" marL="0">
              <a:buNone/>
            </a:pPr>
            <a:r>
              <a:rPr lang="en-US" sz="1300" dirty="0">
                <a:solidFill>
                  <a:schemeClr val="tx2"/>
                </a:solidFill>
              </a:rPr>
              <a:t>Point down, push up. They also tilt the car by pushing harder on one side.</a:t>
            </a:r>
            <a:endParaRPr lang="en-US" sz="1300" dirty="0"/>
          </a:p>
        </p:txBody>
      </p:sp>
      <p:sp>
        <p:nvSpPr>
          <p:cNvPr id="18" name="Legend 1"/>
          <p:cNvSpPr/>
          <p:nvPr/>
        </p:nvSpPr>
        <p:spPr>
          <a:xfrm>
            <a:off x="4572000" y="2386584"/>
            <a:ext cx="237744" cy="237744"/>
          </a:xfrm>
          <a:prstGeom prst="ellipse">
            <a:avLst/>
          </a:prstGeom>
          <a:solidFill>
            <a:schemeClr val="accent2"/>
          </a:solidFill>
          <a:ln/>
        </p:spPr>
      </p:sp>
      <p:sp>
        <p:nvSpPr>
          <p:cNvPr id="19" name="Text 17"/>
          <p:cNvSpPr txBox="1"/>
          <p:nvPr/>
        </p:nvSpPr>
        <p:spPr>
          <a:xfrm>
            <a:off x="4983480" y="2331720"/>
            <a:ext cx="6492240" cy="320040"/>
          </a:xfrm>
          <a:prstGeom prst="rect">
            <a:avLst/>
          </a:prstGeom>
          <a:noFill/>
          <a:ln/>
        </p:spPr>
        <p:txBody>
          <a:bodyPr wrap="square" lIns="0" tIns="0" rIns="0" bIns="0" rtlCol="0" anchor="t"/>
          <a:lstStyle/>
          <a:p>
            <a:pPr indent="0" marL="0">
              <a:buNone/>
            </a:pPr>
            <a:r>
              <a:rPr lang="en-US" sz="1600" b="1" dirty="0">
                <a:solidFill>
                  <a:schemeClr val="tx1"/>
                </a:solidFill>
              </a:rPr>
              <a:t>2 boost nozzles, 22 kN each</a:t>
            </a:r>
            <a:endParaRPr lang="en-US" sz="1600" dirty="0"/>
          </a:p>
        </p:txBody>
      </p:sp>
      <p:sp>
        <p:nvSpPr>
          <p:cNvPr id="20" name="Text 18"/>
          <p:cNvSpPr txBox="1"/>
          <p:nvPr/>
        </p:nvSpPr>
        <p:spPr>
          <a:xfrm>
            <a:off x="4983480" y="2660904"/>
            <a:ext cx="6492240" cy="457200"/>
          </a:xfrm>
          <a:prstGeom prst="rect">
            <a:avLst/>
          </a:prstGeom>
          <a:noFill/>
          <a:ln/>
        </p:spPr>
        <p:txBody>
          <a:bodyPr wrap="square" lIns="0" tIns="0" rIns="0" bIns="0" rtlCol="0" anchor="t"/>
          <a:lstStyle/>
          <a:p>
            <a:pPr indent="0" marL="0">
              <a:buNone/>
            </a:pPr>
            <a:r>
              <a:rPr lang="en-US" sz="1300" dirty="0">
                <a:solidFill>
                  <a:schemeClr val="tx2"/>
                </a:solidFill>
              </a:rPr>
              <a:t>Point back, push forward.</a:t>
            </a:r>
            <a:endParaRPr lang="en-US" sz="1300" dirty="0"/>
          </a:p>
        </p:txBody>
      </p:sp>
      <p:sp>
        <p:nvSpPr>
          <p:cNvPr id="21" name="Legend 2"/>
          <p:cNvSpPr/>
          <p:nvPr/>
        </p:nvSpPr>
        <p:spPr>
          <a:xfrm>
            <a:off x="4572000" y="3255264"/>
            <a:ext cx="237744" cy="237744"/>
          </a:xfrm>
          <a:prstGeom prst="ellipse">
            <a:avLst/>
          </a:prstGeom>
          <a:solidFill>
            <a:schemeClr val="accent5"/>
          </a:solidFill>
          <a:ln/>
        </p:spPr>
      </p:sp>
      <p:sp>
        <p:nvSpPr>
          <p:cNvPr id="22" name="Text 20"/>
          <p:cNvSpPr txBox="1"/>
          <p:nvPr/>
        </p:nvSpPr>
        <p:spPr>
          <a:xfrm>
            <a:off x="4983480" y="3200400"/>
            <a:ext cx="6492240" cy="320040"/>
          </a:xfrm>
          <a:prstGeom prst="rect">
            <a:avLst/>
          </a:prstGeom>
          <a:noFill/>
          <a:ln/>
        </p:spPr>
        <p:txBody>
          <a:bodyPr wrap="square" lIns="0" tIns="0" rIns="0" bIns="0" rtlCol="0" anchor="t"/>
          <a:lstStyle/>
          <a:p>
            <a:pPr indent="0" marL="0">
              <a:buNone/>
            </a:pPr>
            <a:r>
              <a:rPr lang="en-US" sz="1600" b="1" dirty="0">
                <a:solidFill>
                  <a:schemeClr val="tx1"/>
                </a:solidFill>
              </a:rPr>
              <a:t>4 side nozzles, 4 kN each</a:t>
            </a:r>
            <a:endParaRPr lang="en-US" sz="1600" dirty="0"/>
          </a:p>
        </p:txBody>
      </p:sp>
      <p:sp>
        <p:nvSpPr>
          <p:cNvPr id="23" name="Text 21"/>
          <p:cNvSpPr txBox="1"/>
          <p:nvPr/>
        </p:nvSpPr>
        <p:spPr>
          <a:xfrm>
            <a:off x="4983480" y="3529584"/>
            <a:ext cx="6492240" cy="457200"/>
          </a:xfrm>
          <a:prstGeom prst="rect">
            <a:avLst/>
          </a:prstGeom>
          <a:noFill/>
          <a:ln/>
        </p:spPr>
        <p:txBody>
          <a:bodyPr wrap="square" lIns="0" tIns="0" rIns="0" bIns="0" rtlCol="0" anchor="t"/>
          <a:lstStyle/>
          <a:p>
            <a:pPr indent="0" marL="0">
              <a:buNone/>
            </a:pPr>
            <a:r>
              <a:rPr lang="en-US" sz="1300" dirty="0">
                <a:solidFill>
                  <a:schemeClr val="tx2"/>
                </a:solidFill>
              </a:rPr>
              <a:t>Push the nose or tail sideways to spin the car.</a:t>
            </a:r>
            <a:endParaRPr lang="en-US" sz="1300" dirty="0"/>
          </a:p>
        </p:txBody>
      </p:sp>
      <p:sp>
        <p:nvSpPr>
          <p:cNvPr id="24" name="Rescue card"/>
          <p:cNvSpPr/>
          <p:nvPr/>
        </p:nvSpPr>
        <p:spPr>
          <a:xfrm>
            <a:off x="4572000" y="4160520"/>
            <a:ext cx="6949440" cy="1691640"/>
          </a:xfrm>
          <a:prstGeom prst="roundRect">
            <a:avLst>
              <a:gd name="adj" fmla="val 5405"/>
            </a:avLst>
          </a:prstGeom>
          <a:solidFill>
            <a:schemeClr val="bg2"/>
          </a:solidFill>
          <a:ln/>
        </p:spPr>
      </p:sp>
      <p:sp>
        <p:nvSpPr>
          <p:cNvPr id="25" name="Text 23"/>
          <p:cNvSpPr txBox="1"/>
          <p:nvPr/>
        </p:nvSpPr>
        <p:spPr>
          <a:xfrm>
            <a:off x="4846320" y="4343400"/>
            <a:ext cx="6400800" cy="320040"/>
          </a:xfrm>
          <a:prstGeom prst="rect">
            <a:avLst/>
          </a:prstGeom>
          <a:noFill/>
          <a:ln/>
        </p:spPr>
        <p:txBody>
          <a:bodyPr wrap="square" lIns="0" tIns="0" rIns="0" bIns="0" rtlCol="0" anchor="t"/>
          <a:lstStyle/>
          <a:p>
            <a:pPr indent="0" marL="0">
              <a:buNone/>
            </a:pPr>
            <a:r>
              <a:rPr lang="en-US" sz="1600" b="1" dirty="0">
                <a:solidFill>
                  <a:schemeClr val="accent1"/>
                </a:solidFill>
              </a:rPr>
              <a:t>Auto-rescue</a:t>
            </a:r>
            <a:endParaRPr lang="en-US" sz="1600" dirty="0"/>
          </a:p>
        </p:txBody>
      </p:sp>
      <p:sp>
        <p:nvSpPr>
          <p:cNvPr id="26" name="Text 24"/>
          <p:cNvSpPr txBox="1"/>
          <p:nvPr/>
        </p:nvSpPr>
        <p:spPr>
          <a:xfrm>
            <a:off x="4846320" y="4709160"/>
            <a:ext cx="6446520" cy="1097280"/>
          </a:xfrm>
          <a:prstGeom prst="rect">
            <a:avLst/>
          </a:prstGeom>
          <a:noFill/>
          <a:ln/>
        </p:spPr>
        <p:txBody>
          <a:bodyPr wrap="square" lIns="0" tIns="0" rIns="0" bIns="0" rtlCol="0" anchor="t"/>
          <a:lstStyle/>
          <a:p>
            <a:pPr indent="0" marL="0">
              <a:buNone/>
            </a:pPr>
            <a:r>
              <a:rPr lang="en-US" sz="1300" dirty="0">
                <a:solidFill>
                  <a:schemeClr val="tx2"/>
                </a:solidFill>
              </a:rPr>
              <a:t>When the car falls fast or tips past 50°, the controller first turns it upright, then falls only as fast as it can still stop, and touches down at under 1 m/s. If the nozzles cannot give what it asks for, the app says so instead of hiding it.</a:t>
            </a:r>
            <a:endParaRPr lang="en-US" sz="13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Suction is what holds it upside down</a:t>
            </a:r>
            <a:endParaRPr lang="en-US" sz="3400" dirty="0"/>
          </a:p>
        </p:txBody>
      </p:sp>
      <p:pic>
        <p:nvPicPr>
          <p:cNvPr id="3" name="Ceiling hold render" descr="C:\Users\arko4\Desktop\Roadster Simulation\shots\ramp_hold.jpg">    </p:cNvPr>
          <p:cNvPicPr>
            <a:picLocks noChangeAspect="1"/>
          </p:cNvPicPr>
          <p:nvPr/>
        </p:nvPicPr>
        <p:blipFill>
          <a:blip r:embed="rId1"/>
          <a:srcRect l="0" r="0" t="0" b="0"/>
          <a:stretch/>
        </p:blipFill>
        <p:spPr>
          <a:xfrm>
            <a:off x="5669280" y="1463040"/>
            <a:ext cx="5852160" cy="3291840"/>
          </a:xfrm>
          <a:prstGeom prst="rect">
            <a:avLst/>
          </a:prstGeom>
        </p:spPr>
      </p:pic>
      <p:sp>
        <p:nvSpPr>
          <p:cNvPr id="4" name="Suction row 0"/>
          <p:cNvSpPr/>
          <p:nvPr/>
        </p:nvSpPr>
        <p:spPr>
          <a:xfrm>
            <a:off x="640080" y="1554480"/>
            <a:ext cx="4663440" cy="749808"/>
          </a:xfrm>
          <a:prstGeom prst="roundRect">
            <a:avLst>
              <a:gd name="adj" fmla="val 12195"/>
            </a:avLst>
          </a:prstGeom>
          <a:solidFill>
            <a:schemeClr val="bg2"/>
          </a:solidFill>
          <a:ln/>
        </p:spPr>
      </p:sp>
      <p:sp>
        <p:nvSpPr>
          <p:cNvPr id="5" name="Text 2"/>
          <p:cNvSpPr txBox="1"/>
          <p:nvPr/>
        </p:nvSpPr>
        <p:spPr>
          <a:xfrm>
            <a:off x="868680" y="1773936"/>
            <a:ext cx="3200400" cy="365760"/>
          </a:xfrm>
          <a:prstGeom prst="rect">
            <a:avLst/>
          </a:prstGeom>
          <a:noFill/>
          <a:ln/>
        </p:spPr>
        <p:txBody>
          <a:bodyPr wrap="square" lIns="0" tIns="0" rIns="0" bIns="0" rtlCol="0" anchor="t"/>
          <a:lstStyle/>
          <a:p>
            <a:pPr indent="0" marL="0">
              <a:buNone/>
            </a:pPr>
            <a:r>
              <a:rPr lang="en-US" sz="1400" dirty="0">
                <a:solidFill>
                  <a:schemeClr val="tx1"/>
                </a:solidFill>
              </a:rPr>
              <a:t>Fans pull the car onto the surface</a:t>
            </a:r>
            <a:endParaRPr lang="en-US" sz="1400" dirty="0"/>
          </a:p>
        </p:txBody>
      </p:sp>
      <p:sp>
        <p:nvSpPr>
          <p:cNvPr id="6" name="Text 3"/>
          <p:cNvSpPr txBox="1"/>
          <p:nvPr/>
        </p:nvSpPr>
        <p:spPr>
          <a:xfrm>
            <a:off x="3840480" y="1664208"/>
            <a:ext cx="1280160" cy="548640"/>
          </a:xfrm>
          <a:prstGeom prst="rect">
            <a:avLst/>
          </a:prstGeom>
          <a:noFill/>
          <a:ln/>
        </p:spPr>
        <p:txBody>
          <a:bodyPr wrap="square" lIns="0" tIns="0" rIns="0" bIns="0" rtlCol="0" anchor="t"/>
          <a:lstStyle/>
          <a:p>
            <a:pPr algn="r" indent="0" marL="0">
              <a:buNone/>
            </a:pPr>
            <a:r>
              <a:rPr lang="en-US" sz="2800" dirty="0">
                <a:solidFill>
                  <a:schemeClr val="accent1"/>
                </a:solidFill>
              </a:rPr>
              <a:t>2 g</a:t>
            </a:r>
            <a:endParaRPr lang="en-US" sz="2800" dirty="0"/>
          </a:p>
        </p:txBody>
      </p:sp>
      <p:sp>
        <p:nvSpPr>
          <p:cNvPr id="7" name="Suction row 1"/>
          <p:cNvSpPr/>
          <p:nvPr/>
        </p:nvSpPr>
        <p:spPr>
          <a:xfrm>
            <a:off x="640080" y="2468880"/>
            <a:ext cx="4663440" cy="749808"/>
          </a:xfrm>
          <a:prstGeom prst="roundRect">
            <a:avLst>
              <a:gd name="adj" fmla="val 12195"/>
            </a:avLst>
          </a:prstGeom>
          <a:solidFill>
            <a:schemeClr val="bg2"/>
          </a:solidFill>
          <a:ln/>
        </p:spPr>
      </p:sp>
      <p:sp>
        <p:nvSpPr>
          <p:cNvPr id="8" name="Text 5"/>
          <p:cNvSpPr txBox="1"/>
          <p:nvPr/>
        </p:nvSpPr>
        <p:spPr>
          <a:xfrm>
            <a:off x="868680" y="2688336"/>
            <a:ext cx="3200400" cy="365760"/>
          </a:xfrm>
          <a:prstGeom prst="rect">
            <a:avLst/>
          </a:prstGeom>
          <a:noFill/>
          <a:ln/>
        </p:spPr>
        <p:txBody>
          <a:bodyPr wrap="square" lIns="0" tIns="0" rIns="0" bIns="0" rtlCol="0" anchor="t"/>
          <a:lstStyle/>
          <a:p>
            <a:pPr indent="0" marL="0">
              <a:buNone/>
            </a:pPr>
            <a:r>
              <a:rPr lang="en-US" sz="1400" dirty="0">
                <a:solidFill>
                  <a:schemeClr val="tx1"/>
                </a:solidFill>
              </a:rPr>
              <a:t>Gravity pulls it off the ceiling</a:t>
            </a:r>
            <a:endParaRPr lang="en-US" sz="1400" dirty="0"/>
          </a:p>
        </p:txBody>
      </p:sp>
      <p:sp>
        <p:nvSpPr>
          <p:cNvPr id="9" name="Text 6"/>
          <p:cNvSpPr txBox="1"/>
          <p:nvPr/>
        </p:nvSpPr>
        <p:spPr>
          <a:xfrm>
            <a:off x="3840480" y="2578608"/>
            <a:ext cx="1280160" cy="548640"/>
          </a:xfrm>
          <a:prstGeom prst="rect">
            <a:avLst/>
          </a:prstGeom>
          <a:noFill/>
          <a:ln/>
        </p:spPr>
        <p:txBody>
          <a:bodyPr wrap="square" lIns="0" tIns="0" rIns="0" bIns="0" rtlCol="0" anchor="t"/>
          <a:lstStyle/>
          <a:p>
            <a:pPr algn="r" indent="0" marL="0">
              <a:buNone/>
            </a:pPr>
            <a:r>
              <a:rPr lang="en-US" sz="2800" dirty="0">
                <a:solidFill>
                  <a:schemeClr val="accent2"/>
                </a:solidFill>
              </a:rPr>
              <a:t>−1 g</a:t>
            </a:r>
            <a:endParaRPr lang="en-US" sz="2800" dirty="0"/>
          </a:p>
        </p:txBody>
      </p:sp>
      <p:sp>
        <p:nvSpPr>
          <p:cNvPr id="10" name="Suction row 2"/>
          <p:cNvSpPr/>
          <p:nvPr/>
        </p:nvSpPr>
        <p:spPr>
          <a:xfrm>
            <a:off x="640080" y="3383280"/>
            <a:ext cx="4663440" cy="749808"/>
          </a:xfrm>
          <a:prstGeom prst="roundRect">
            <a:avLst>
              <a:gd name="adj" fmla="val 12195"/>
            </a:avLst>
          </a:prstGeom>
          <a:solidFill>
            <a:schemeClr val="bg2"/>
          </a:solidFill>
          <a:ln/>
        </p:spPr>
      </p:sp>
      <p:sp>
        <p:nvSpPr>
          <p:cNvPr id="11" name="Text 8"/>
          <p:cNvSpPr txBox="1"/>
          <p:nvPr/>
        </p:nvSpPr>
        <p:spPr>
          <a:xfrm>
            <a:off x="868680" y="3602736"/>
            <a:ext cx="3200400" cy="365760"/>
          </a:xfrm>
          <a:prstGeom prst="rect">
            <a:avLst/>
          </a:prstGeom>
          <a:noFill/>
          <a:ln/>
        </p:spPr>
        <p:txBody>
          <a:bodyPr wrap="square" lIns="0" tIns="0" rIns="0" bIns="0" rtlCol="0" anchor="t"/>
          <a:lstStyle/>
          <a:p>
            <a:pPr indent="0" marL="0">
              <a:buNone/>
            </a:pPr>
            <a:r>
              <a:rPr lang="en-US" sz="1400" dirty="0">
                <a:solidFill>
                  <a:schemeClr val="tx1"/>
                </a:solidFill>
              </a:rPr>
              <a:t>Left to press the tyres on</a:t>
            </a:r>
            <a:endParaRPr lang="en-US" sz="1400" dirty="0"/>
          </a:p>
        </p:txBody>
      </p:sp>
      <p:sp>
        <p:nvSpPr>
          <p:cNvPr id="12" name="Text 9"/>
          <p:cNvSpPr txBox="1"/>
          <p:nvPr/>
        </p:nvSpPr>
        <p:spPr>
          <a:xfrm>
            <a:off x="3840480" y="3493008"/>
            <a:ext cx="1280160" cy="548640"/>
          </a:xfrm>
          <a:prstGeom prst="rect">
            <a:avLst/>
          </a:prstGeom>
          <a:noFill/>
          <a:ln/>
        </p:spPr>
        <p:txBody>
          <a:bodyPr wrap="square" lIns="0" tIns="0" rIns="0" bIns="0" rtlCol="0" anchor="t"/>
          <a:lstStyle/>
          <a:p>
            <a:pPr algn="r" indent="0" marL="0">
              <a:buNone/>
            </a:pPr>
            <a:r>
              <a:rPr lang="en-US" sz="2800" dirty="0">
                <a:solidFill>
                  <a:schemeClr val="accent3"/>
                </a:solidFill>
              </a:rPr>
              <a:t>1 g</a:t>
            </a:r>
            <a:endParaRPr lang="en-US" sz="2800" dirty="0"/>
          </a:p>
        </p:txBody>
      </p:sp>
      <p:sp>
        <p:nvSpPr>
          <p:cNvPr id="13" name="Text 10"/>
          <p:cNvSpPr txBox="1"/>
          <p:nvPr/>
        </p:nvSpPr>
        <p:spPr>
          <a:xfrm>
            <a:off x="640080" y="4434840"/>
            <a:ext cx="4663440" cy="1463040"/>
          </a:xfrm>
          <a:prstGeom prst="rect">
            <a:avLst/>
          </a:prstGeom>
          <a:noFill/>
          <a:ln/>
        </p:spPr>
        <p:txBody>
          <a:bodyPr wrap="square" lIns="0" tIns="0" rIns="0" bIns="0" rtlCol="0" anchor="t"/>
          <a:lstStyle/>
          <a:p>
            <a:pPr indent="0" marL="0">
              <a:buNone/>
            </a:pPr>
            <a:r>
              <a:rPr lang="en-US" sz="1400" dirty="0">
                <a:solidFill>
                  <a:schemeClr val="tx2"/>
                </a:solidFill>
              </a:rPr>
              <a:t>It only works while the underbody seals against the surface. In the model, suction fades once the gap passes about 0.3 m. Fans off and the car falls, which is exactly how the stunt ends.</a:t>
            </a:r>
            <a:endParaRPr lang="en-US" sz="14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0 to 60 mph: the model lands near both claims</a:t>
            </a:r>
            <a:endParaRPr lang="en-US" sz="3400" dirty="0"/>
          </a:p>
        </p:txBody>
      </p:sp>
      <p:graphicFrame>
        <p:nvGraphicFramePr>
          <p:cNvPr id="3" name="Chart 0" descr=""/>
          <p:cNvGraphicFramePr/>
          <p:nvPr/>
        </p:nvGraphicFramePr>
        <p:xfrm>
          <a:off x="640080" y="14630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Claim 0"/>
          <p:cNvSpPr/>
          <p:nvPr/>
        </p:nvSpPr>
        <p:spPr>
          <a:xfrm>
            <a:off x="7680960" y="1554480"/>
            <a:ext cx="3840480" cy="1371600"/>
          </a:xfrm>
          <a:prstGeom prst="roundRect">
            <a:avLst>
              <a:gd name="adj" fmla="val 6667"/>
            </a:avLst>
          </a:prstGeom>
          <a:solidFill>
            <a:schemeClr val="bg2"/>
          </a:solidFill>
          <a:ln/>
        </p:spPr>
      </p:sp>
      <p:sp>
        <p:nvSpPr>
          <p:cNvPr id="5" name="Text 2"/>
          <p:cNvSpPr txBox="1"/>
          <p:nvPr/>
        </p:nvSpPr>
        <p:spPr>
          <a:xfrm>
            <a:off x="7955280" y="1737360"/>
            <a:ext cx="2194560" cy="320040"/>
          </a:xfrm>
          <a:prstGeom prst="rect">
            <a:avLst/>
          </a:prstGeom>
          <a:noFill/>
          <a:ln/>
        </p:spPr>
        <p:txBody>
          <a:bodyPr wrap="square" lIns="0" tIns="0" rIns="0" bIns="0" rtlCol="0" anchor="t"/>
          <a:lstStyle/>
          <a:p>
            <a:pPr indent="0" marL="0">
              <a:buNone/>
            </a:pPr>
            <a:r>
              <a:rPr lang="en-US" sz="1400" dirty="0">
                <a:solidFill>
                  <a:schemeClr val="tx2"/>
                </a:solidFill>
              </a:rPr>
              <a:t>Tesla, 2017 claim</a:t>
            </a:r>
            <a:endParaRPr lang="en-US" sz="1400" dirty="0"/>
          </a:p>
        </p:txBody>
      </p:sp>
      <p:sp>
        <p:nvSpPr>
          <p:cNvPr id="6" name="Text 3"/>
          <p:cNvSpPr txBox="1"/>
          <p:nvPr/>
        </p:nvSpPr>
        <p:spPr>
          <a:xfrm>
            <a:off x="9966960" y="1664208"/>
            <a:ext cx="1371600" cy="457200"/>
          </a:xfrm>
          <a:prstGeom prst="rect">
            <a:avLst/>
          </a:prstGeom>
          <a:noFill/>
          <a:ln/>
        </p:spPr>
        <p:txBody>
          <a:bodyPr wrap="square" lIns="0" tIns="0" rIns="0" bIns="0" rtlCol="0" anchor="t"/>
          <a:lstStyle/>
          <a:p>
            <a:pPr algn="r" indent="0" marL="0">
              <a:buNone/>
            </a:pPr>
            <a:r>
              <a:rPr lang="en-US" sz="2400" dirty="0">
                <a:solidFill>
                  <a:schemeClr val="tx1"/>
                </a:solidFill>
              </a:rPr>
              <a:t>1.9 s</a:t>
            </a:r>
            <a:endParaRPr lang="en-US" sz="2400" dirty="0"/>
          </a:p>
        </p:txBody>
      </p:sp>
      <p:sp>
        <p:nvSpPr>
          <p:cNvPr id="7" name="Text 4"/>
          <p:cNvSpPr txBox="1"/>
          <p:nvPr/>
        </p:nvSpPr>
        <p:spPr>
          <a:xfrm>
            <a:off x="7955280" y="2331720"/>
            <a:ext cx="3383280" cy="365760"/>
          </a:xfrm>
          <a:prstGeom prst="rect">
            <a:avLst/>
          </a:prstGeom>
          <a:noFill/>
          <a:ln/>
        </p:spPr>
        <p:txBody>
          <a:bodyPr wrap="square" lIns="0" tIns="0" rIns="0" bIns="0" rtlCol="0" anchor="t"/>
          <a:lstStyle/>
          <a:p>
            <a:pPr indent="0" marL="0">
              <a:buNone/>
            </a:pPr>
            <a:r>
              <a:rPr lang="en-US" sz="1400" b="1" dirty="0">
                <a:solidFill>
                  <a:schemeClr val="accent3"/>
                </a:solidFill>
              </a:rPr>
              <a:t>Model, wheels + fans: 1.88 s</a:t>
            </a:r>
            <a:endParaRPr lang="en-US" sz="1400" dirty="0"/>
          </a:p>
        </p:txBody>
      </p:sp>
      <p:sp>
        <p:nvSpPr>
          <p:cNvPr id="8" name="Claim 1"/>
          <p:cNvSpPr/>
          <p:nvPr/>
        </p:nvSpPr>
        <p:spPr>
          <a:xfrm>
            <a:off x="7680960" y="3154680"/>
            <a:ext cx="3840480" cy="1371600"/>
          </a:xfrm>
          <a:prstGeom prst="roundRect">
            <a:avLst>
              <a:gd name="adj" fmla="val 6667"/>
            </a:avLst>
          </a:prstGeom>
          <a:solidFill>
            <a:schemeClr val="bg2"/>
          </a:solidFill>
          <a:ln/>
        </p:spPr>
      </p:sp>
      <p:sp>
        <p:nvSpPr>
          <p:cNvPr id="9" name="Text 6"/>
          <p:cNvSpPr txBox="1"/>
          <p:nvPr/>
        </p:nvSpPr>
        <p:spPr>
          <a:xfrm>
            <a:off x="7955280" y="3337560"/>
            <a:ext cx="2194560" cy="320040"/>
          </a:xfrm>
          <a:prstGeom prst="rect">
            <a:avLst/>
          </a:prstGeom>
          <a:noFill/>
          <a:ln/>
        </p:spPr>
        <p:txBody>
          <a:bodyPr wrap="square" lIns="0" tIns="0" rIns="0" bIns="0" rtlCol="0" anchor="t"/>
          <a:lstStyle/>
          <a:p>
            <a:pPr indent="0" marL="0">
              <a:buNone/>
            </a:pPr>
            <a:r>
              <a:rPr lang="en-US" sz="1400" dirty="0">
                <a:solidFill>
                  <a:schemeClr val="tx2"/>
                </a:solidFill>
              </a:rPr>
              <a:t>Reveal run, Oct 2026</a:t>
            </a:r>
            <a:endParaRPr lang="en-US" sz="1400" dirty="0"/>
          </a:p>
        </p:txBody>
      </p:sp>
      <p:sp>
        <p:nvSpPr>
          <p:cNvPr id="10" name="Text 7"/>
          <p:cNvSpPr txBox="1"/>
          <p:nvPr/>
        </p:nvSpPr>
        <p:spPr>
          <a:xfrm>
            <a:off x="9966960" y="3264408"/>
            <a:ext cx="1371600" cy="457200"/>
          </a:xfrm>
          <a:prstGeom prst="rect">
            <a:avLst/>
          </a:prstGeom>
          <a:noFill/>
          <a:ln/>
        </p:spPr>
        <p:txBody>
          <a:bodyPr wrap="square" lIns="0" tIns="0" rIns="0" bIns="0" rtlCol="0" anchor="t"/>
          <a:lstStyle/>
          <a:p>
            <a:pPr algn="r" indent="0" marL="0">
              <a:buNone/>
            </a:pPr>
            <a:r>
              <a:rPr lang="en-US" sz="2400" dirty="0">
                <a:solidFill>
                  <a:schemeClr val="tx1"/>
                </a:solidFill>
              </a:rPr>
              <a:t>0.81 s</a:t>
            </a:r>
            <a:endParaRPr lang="en-US" sz="2400" dirty="0"/>
          </a:p>
        </p:txBody>
      </p:sp>
      <p:sp>
        <p:nvSpPr>
          <p:cNvPr id="11" name="Text 8"/>
          <p:cNvSpPr txBox="1"/>
          <p:nvPr/>
        </p:nvSpPr>
        <p:spPr>
          <a:xfrm>
            <a:off x="7955280" y="3931920"/>
            <a:ext cx="3383280" cy="365760"/>
          </a:xfrm>
          <a:prstGeom prst="rect">
            <a:avLst/>
          </a:prstGeom>
          <a:noFill/>
          <a:ln/>
        </p:spPr>
        <p:txBody>
          <a:bodyPr wrap="square" lIns="0" tIns="0" rIns="0" bIns="0" rtlCol="0" anchor="t"/>
          <a:lstStyle/>
          <a:p>
            <a:pPr indent="0" marL="0">
              <a:buNone/>
            </a:pPr>
            <a:r>
              <a:rPr lang="en-US" sz="1400" b="1" dirty="0">
                <a:solidFill>
                  <a:schemeClr val="accent3"/>
                </a:solidFill>
              </a:rPr>
              <a:t>Model, with thrusters: 0.85 s</a:t>
            </a:r>
            <a:endParaRPr lang="en-US" sz="1400" dirty="0"/>
          </a:p>
        </p:txBody>
      </p:sp>
      <p:sp>
        <p:nvSpPr>
          <p:cNvPr id="12" name="Text 9"/>
          <p:cNvSpPr txBox="1"/>
          <p:nvPr/>
        </p:nvSpPr>
        <p:spPr>
          <a:xfrm>
            <a:off x="7680960" y="4846320"/>
            <a:ext cx="3840480" cy="1097280"/>
          </a:xfrm>
          <a:prstGeom prst="rect">
            <a:avLst/>
          </a:prstGeom>
          <a:noFill/>
          <a:ln/>
        </p:spPr>
        <p:txBody>
          <a:bodyPr wrap="square" lIns="0" tIns="0" rIns="0" bIns="0" rtlCol="0" anchor="t"/>
          <a:lstStyle/>
          <a:p>
            <a:pPr indent="0" marL="0">
              <a:buNone/>
            </a:pPr>
            <a:r>
              <a:rPr lang="en-US" sz="1300" dirty="0">
                <a:solidFill>
                  <a:schemeClr val="tx2"/>
                </a:solidFill>
              </a:rPr>
              <a:t>Nothing was tuned to hit these. Tyres alone stop at about 1.2 g. Fans add grip without adding weight. Thrusters push without needing grip.</a:t>
            </a:r>
            <a:endParaRPr lang="en-US" sz="13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The stunts, recreated in live physics</a:t>
            </a:r>
            <a:endParaRPr lang="en-US" sz="3400" dirty="0"/>
          </a:p>
        </p:txBody>
      </p:sp>
      <p:pic>
        <p:nvPicPr>
          <p:cNvPr id="3" name="Reveal ramp" descr="C:\Users\arko4\Desktop\Roadster Simulation\shots\ramp_flip.jpg">    </p:cNvPr>
          <p:cNvPicPr>
            <a:picLocks noChangeAspect="1"/>
          </p:cNvPicPr>
          <p:nvPr/>
        </p:nvPicPr>
        <p:blipFill>
          <a:blip r:embed="rId1"/>
          <a:srcRect l="0" r="0" t="0" b="0"/>
          <a:stretch/>
        </p:blipFill>
        <p:spPr>
          <a:xfrm>
            <a:off x="640080" y="1463040"/>
            <a:ext cx="3474720" cy="1956816"/>
          </a:xfrm>
          <a:prstGeom prst="rect">
            <a:avLst/>
          </a:prstGeom>
        </p:spPr>
      </p:pic>
      <p:sp>
        <p:nvSpPr>
          <p:cNvPr id="4" name="Text 1"/>
          <p:cNvSpPr txBox="1"/>
          <p:nvPr/>
        </p:nvSpPr>
        <p:spPr>
          <a:xfrm>
            <a:off x="640080" y="3611880"/>
            <a:ext cx="3474720" cy="365760"/>
          </a:xfrm>
          <a:prstGeom prst="rect">
            <a:avLst/>
          </a:prstGeom>
          <a:noFill/>
          <a:ln/>
        </p:spPr>
        <p:txBody>
          <a:bodyPr wrap="square" lIns="0" tIns="0" rIns="0" bIns="0" rtlCol="0" anchor="t"/>
          <a:lstStyle/>
          <a:p>
            <a:pPr indent="0" marL="0">
              <a:buNone/>
            </a:pPr>
            <a:r>
              <a:rPr lang="en-US" sz="1800" b="1" dirty="0">
                <a:solidFill>
                  <a:schemeClr val="tx1"/>
                </a:solidFill>
              </a:rPr>
              <a:t>Reveal ramp</a:t>
            </a:r>
            <a:endParaRPr lang="en-US" sz="1800" dirty="0"/>
          </a:p>
        </p:txBody>
      </p:sp>
      <p:sp>
        <p:nvSpPr>
          <p:cNvPr id="5" name="Text 2"/>
          <p:cNvSpPr txBox="1"/>
          <p:nvPr/>
        </p:nvSpPr>
        <p:spPr>
          <a:xfrm>
            <a:off x="640080" y="4023360"/>
            <a:ext cx="3474720" cy="1097280"/>
          </a:xfrm>
          <a:prstGeom prst="rect">
            <a:avLst/>
          </a:prstGeom>
          <a:noFill/>
          <a:ln/>
        </p:spPr>
        <p:txBody>
          <a:bodyPr wrap="square" lIns="0" tIns="0" rIns="0" bIns="0" rtlCol="0" anchor="t"/>
          <a:lstStyle/>
          <a:p>
            <a:pPr indent="0" marL="0">
              <a:buNone/>
            </a:pPr>
            <a:r>
              <a:rPr lang="en-US" sz="1400" dirty="0">
                <a:solidFill>
                  <a:schemeClr val="tx2"/>
                </a:solidFill>
              </a:rPr>
              <a:t>Climbs a 6 m curve, hangs 11 m up for 3 s, drops, rolls upright, lands.</a:t>
            </a:r>
            <a:endParaRPr lang="en-US" sz="1400" dirty="0"/>
          </a:p>
        </p:txBody>
      </p:sp>
      <p:pic>
        <p:nvPicPr>
          <p:cNvPr id="6" name="Kickflip" descr="C:\Users\arko4\Desktop\Roadster Simulation\shots\kickflip.jpg">    </p:cNvPr>
          <p:cNvPicPr>
            <a:picLocks noChangeAspect="1"/>
          </p:cNvPicPr>
          <p:nvPr/>
        </p:nvPicPr>
        <p:blipFill>
          <a:blip r:embed="rId2"/>
          <a:srcRect l="0" r="0" t="0" b="0"/>
          <a:stretch/>
        </p:blipFill>
        <p:spPr>
          <a:xfrm>
            <a:off x="4325112" y="1463040"/>
            <a:ext cx="3474720" cy="1956816"/>
          </a:xfrm>
          <a:prstGeom prst="rect">
            <a:avLst/>
          </a:prstGeom>
        </p:spPr>
      </p:pic>
      <p:sp>
        <p:nvSpPr>
          <p:cNvPr id="7" name="Text 3"/>
          <p:cNvSpPr txBox="1"/>
          <p:nvPr/>
        </p:nvSpPr>
        <p:spPr>
          <a:xfrm>
            <a:off x="4325112" y="3611880"/>
            <a:ext cx="3474720" cy="365760"/>
          </a:xfrm>
          <a:prstGeom prst="rect">
            <a:avLst/>
          </a:prstGeom>
          <a:noFill/>
          <a:ln/>
        </p:spPr>
        <p:txBody>
          <a:bodyPr wrap="square" lIns="0" tIns="0" rIns="0" bIns="0" rtlCol="0" anchor="t"/>
          <a:lstStyle/>
          <a:p>
            <a:pPr indent="0" marL="0">
              <a:buNone/>
            </a:pPr>
            <a:r>
              <a:rPr lang="en-US" sz="1800" b="1" dirty="0">
                <a:solidFill>
                  <a:schemeClr val="tx1"/>
                </a:solidFill>
              </a:rPr>
              <a:t>Kickflip</a:t>
            </a:r>
            <a:endParaRPr lang="en-US" sz="1800" dirty="0"/>
          </a:p>
        </p:txBody>
      </p:sp>
      <p:sp>
        <p:nvSpPr>
          <p:cNvPr id="8" name="Text 4"/>
          <p:cNvSpPr txBox="1"/>
          <p:nvPr/>
        </p:nvSpPr>
        <p:spPr>
          <a:xfrm>
            <a:off x="4325112" y="4023360"/>
            <a:ext cx="3474720" cy="1097280"/>
          </a:xfrm>
          <a:prstGeom prst="rect">
            <a:avLst/>
          </a:prstGeom>
          <a:noFill/>
          <a:ln/>
        </p:spPr>
        <p:txBody>
          <a:bodyPr wrap="square" lIns="0" tIns="0" rIns="0" bIns="0" rtlCol="0" anchor="t"/>
          <a:lstStyle/>
          <a:p>
            <a:pPr indent="0" marL="0">
              <a:buNone/>
            </a:pPr>
            <a:r>
              <a:rPr lang="en-US" sz="1400" dirty="0">
                <a:solidFill>
                  <a:schemeClr val="tx2"/>
                </a:solidFill>
              </a:rPr>
              <a:t>Jumps at 68 km/h, clears the 3.8 m Semi, spins 365°, lands.</a:t>
            </a:r>
            <a:endParaRPr lang="en-US" sz="1400" dirty="0"/>
          </a:p>
        </p:txBody>
      </p:sp>
      <p:pic>
        <p:nvPicPr>
          <p:cNvPr id="9" name="Drop test" descr="C:\Users\arko4\Desktop\Roadster Simulation\shots\drop.jpg">    </p:cNvPr>
          <p:cNvPicPr>
            <a:picLocks noChangeAspect="1"/>
          </p:cNvPicPr>
          <p:nvPr/>
        </p:nvPicPr>
        <p:blipFill>
          <a:blip r:embed="rId3"/>
          <a:srcRect l="0" r="0" t="0" b="0"/>
          <a:stretch/>
        </p:blipFill>
        <p:spPr>
          <a:xfrm>
            <a:off x="8010144" y="1463040"/>
            <a:ext cx="3474720" cy="1956816"/>
          </a:xfrm>
          <a:prstGeom prst="rect">
            <a:avLst/>
          </a:prstGeom>
        </p:spPr>
      </p:pic>
      <p:sp>
        <p:nvSpPr>
          <p:cNvPr id="10" name="Text 5"/>
          <p:cNvSpPr txBox="1"/>
          <p:nvPr/>
        </p:nvSpPr>
        <p:spPr>
          <a:xfrm>
            <a:off x="8010144" y="3611880"/>
            <a:ext cx="3474720" cy="365760"/>
          </a:xfrm>
          <a:prstGeom prst="rect">
            <a:avLst/>
          </a:prstGeom>
          <a:noFill/>
          <a:ln/>
        </p:spPr>
        <p:txBody>
          <a:bodyPr wrap="square" lIns="0" tIns="0" rIns="0" bIns="0" rtlCol="0" anchor="t"/>
          <a:lstStyle/>
          <a:p>
            <a:pPr indent="0" marL="0">
              <a:buNone/>
            </a:pPr>
            <a:r>
              <a:rPr lang="en-US" sz="1800" b="1" dirty="0">
                <a:solidFill>
                  <a:schemeClr val="tx1"/>
                </a:solidFill>
              </a:rPr>
              <a:t>Drop test</a:t>
            </a:r>
            <a:endParaRPr lang="en-US" sz="1800" dirty="0"/>
          </a:p>
        </p:txBody>
      </p:sp>
      <p:sp>
        <p:nvSpPr>
          <p:cNvPr id="11" name="Text 6"/>
          <p:cNvSpPr txBox="1"/>
          <p:nvPr/>
        </p:nvSpPr>
        <p:spPr>
          <a:xfrm>
            <a:off x="8010144" y="4023360"/>
            <a:ext cx="3474720" cy="1097280"/>
          </a:xfrm>
          <a:prstGeom prst="rect">
            <a:avLst/>
          </a:prstGeom>
          <a:noFill/>
          <a:ln/>
        </p:spPr>
        <p:txBody>
          <a:bodyPr wrap="square" lIns="0" tIns="0" rIns="0" bIns="0" rtlCol="0" anchor="t"/>
          <a:lstStyle/>
          <a:p>
            <a:pPr indent="0" marL="0">
              <a:buNone/>
            </a:pPr>
            <a:r>
              <a:rPr lang="en-US" sz="1400" dirty="0">
                <a:solidFill>
                  <a:schemeClr val="tx2"/>
                </a:solidFill>
              </a:rPr>
              <a:t>Dropped upside down from 14 m, nobody steering. Auto-rescue lands it.</a:t>
            </a:r>
            <a:endParaRPr lang="en-US" sz="1400" dirty="0"/>
          </a:p>
        </p:txBody>
      </p:sp>
      <p:sp>
        <p:nvSpPr>
          <p:cNvPr id="12" name="Text 7"/>
          <p:cNvSpPr txBox="1"/>
          <p:nvPr/>
        </p:nvSpPr>
        <p:spPr>
          <a:xfrm>
            <a:off x="640080" y="5394960"/>
            <a:ext cx="10881360" cy="548640"/>
          </a:xfrm>
          <a:prstGeom prst="rect">
            <a:avLst/>
          </a:prstGeom>
          <a:noFill/>
          <a:ln/>
        </p:spPr>
        <p:txBody>
          <a:bodyPr wrap="square" lIns="0" tIns="0" rIns="0" bIns="0" rtlCol="0" anchor="t"/>
          <a:lstStyle/>
          <a:p>
            <a:pPr indent="0" marL="0">
              <a:buNone/>
            </a:pPr>
            <a:r>
              <a:rPr lang="en-US" sz="1500" dirty="0">
                <a:solidFill>
                  <a:schemeClr val="accent1"/>
                </a:solidFill>
              </a:rPr>
              <a:t>The autopilot only presses the same controls you would. If you change gravity or the air supply, the stunts can fail.</a:t>
            </a:r>
            <a:endParaRPr lang="en-US" sz="15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t"/>
          <a:lstStyle/>
          <a:p>
            <a:pPr algn="l" indent="0" marL="0">
              <a:buNone/>
            </a:pPr>
            <a:r>
              <a:rPr lang="en-US" sz="3400" dirty="0">
                <a:solidFill>
                  <a:schemeClr val="tx1"/>
                </a:solidFill>
              </a:rPr>
              <a:t>What this model cannot tell us</a:t>
            </a:r>
            <a:endParaRPr lang="en-US" sz="3400" dirty="0"/>
          </a:p>
        </p:txBody>
      </p:sp>
      <p:sp>
        <p:nvSpPr>
          <p:cNvPr id="3" name="Text 1"/>
          <p:cNvSpPr txBox="1"/>
          <p:nvPr/>
        </p:nvSpPr>
        <p:spPr>
          <a:xfrm>
            <a:off x="640080" y="1645920"/>
            <a:ext cx="4206240" cy="1005840"/>
          </a:xfrm>
          <a:prstGeom prst="rect">
            <a:avLst/>
          </a:prstGeom>
          <a:noFill/>
          <a:ln/>
        </p:spPr>
        <p:txBody>
          <a:bodyPr wrap="square" lIns="0" tIns="0" rIns="0" bIns="0" rtlCol="0" anchor="t"/>
          <a:lstStyle/>
          <a:p>
            <a:pPr indent="0" marL="0">
              <a:buNone/>
            </a:pPr>
            <a:r>
              <a:rPr lang="en-US" sz="5400" dirty="0">
                <a:solidFill>
                  <a:schemeClr val="accent4"/>
                </a:solidFill>
              </a:rPr>
              <a:t>Model ≠ car</a:t>
            </a:r>
            <a:endParaRPr lang="en-US" sz="5400" dirty="0"/>
          </a:p>
        </p:txBody>
      </p:sp>
      <p:sp>
        <p:nvSpPr>
          <p:cNvPr id="4" name="Text 2"/>
          <p:cNvSpPr txBox="1"/>
          <p:nvPr/>
        </p:nvSpPr>
        <p:spPr>
          <a:xfrm>
            <a:off x="640080" y="2743200"/>
            <a:ext cx="4023360" cy="914400"/>
          </a:xfrm>
          <a:prstGeom prst="rect">
            <a:avLst/>
          </a:prstGeom>
          <a:noFill/>
          <a:ln/>
        </p:spPr>
        <p:txBody>
          <a:bodyPr wrap="square" lIns="0" tIns="0" rIns="0" bIns="0" rtlCol="0" anchor="t"/>
          <a:lstStyle/>
          <a:p>
            <a:pPr indent="0" marL="0">
              <a:buNone/>
            </a:pPr>
            <a:r>
              <a:rPr lang="en-US" sz="1700" dirty="0">
                <a:solidFill>
                  <a:schemeClr val="tx2"/>
                </a:solidFill>
              </a:rPr>
              <a:t>It is as good as its inputs, and most of them are estimates.</a:t>
            </a:r>
            <a:endParaRPr lang="en-US" sz="1700" dirty="0"/>
          </a:p>
        </p:txBody>
      </p:sp>
      <p:sp>
        <p:nvSpPr>
          <p:cNvPr id="5" name="Text 3"/>
          <p:cNvSpPr txBox="1"/>
          <p:nvPr/>
        </p:nvSpPr>
        <p:spPr>
          <a:xfrm>
            <a:off x="5303520" y="1645920"/>
            <a:ext cx="6217920" cy="38404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Nothing was measured on a real Roadster. Tesla's engineering data is not public.</a:t>
            </a:r>
            <a:endParaRPr lang="en-US" sz="1700" dirty="0"/>
          </a:p>
          <a:p>
            <a:pPr marL="342900" indent="-342900">
              <a:spcAft>
                <a:spcPts val="1200"/>
              </a:spcAft>
              <a:buSzPct val="100000"/>
              <a:buChar char="•"/>
            </a:pPr>
            <a:r>
              <a:rPr lang="en-US" sz="1700" dirty="0">
                <a:solidFill>
                  <a:schemeClr val="tx1"/>
                </a:solidFill>
              </a:rPr>
              <a:t>Tyres use a simplified grip curve, not a full tyre model.</a:t>
            </a:r>
            <a:endParaRPr lang="en-US" sz="1700" dirty="0"/>
          </a:p>
          <a:p>
            <a:pPr marL="342900" indent="-342900">
              <a:spcAft>
                <a:spcPts val="1200"/>
              </a:spcAft>
              <a:buSzPct val="100000"/>
              <a:buChar char="•"/>
            </a:pPr>
            <a:r>
              <a:rPr lang="en-US" sz="1700" dirty="0">
                <a:solidFill>
                  <a:schemeClr val="tx1"/>
                </a:solidFill>
              </a:rPr>
              <a:t>Air flow ignores the temperature drop as the tank empties.</a:t>
            </a:r>
            <a:endParaRPr lang="en-US" sz="1700" dirty="0"/>
          </a:p>
          <a:p>
            <a:pPr marL="342900" indent="-342900">
              <a:spcAft>
                <a:spcPts val="1200"/>
              </a:spcAft>
              <a:buSzPct val="100000"/>
              <a:buChar char="•"/>
            </a:pPr>
            <a:r>
              <a:rPr lang="en-US" sz="1700" dirty="0">
                <a:solidFill>
                  <a:schemeClr val="tx1"/>
                </a:solidFill>
              </a:rPr>
              <a:t>The thruster layout and rescue controller are my design. The real car may differ.</a:t>
            </a:r>
            <a:endParaRPr lang="en-US" sz="1700" dirty="0"/>
          </a:p>
        </p:txBody>
      </p:sp>
      <p:sp>
        <p:nvSpPr>
          <p:cNvPr id="25" name="Slide Number Placeholder 0"/>
          <p:cNvSpPr>
            <a:spLocks noGrp="1"/>
          </p:cNvSpPr>
          <p:nvPr>
            <p:ph type="sldNum" sz="quarter" idx="4294967295"/>
          </p:nvPr>
        </p:nvSpPr>
        <p:spPr>
          <a:xfrm>
            <a:off x="11064240"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ark render" descr="C:\Users\arko4\Desktop\Roadster Simulation\shots\park.jpg">    </p:cNvPr>
          <p:cNvPicPr>
            <a:picLocks noChangeAspect="1"/>
          </p:cNvPicPr>
          <p:nvPr/>
        </p:nvPicPr>
        <p:blipFill>
          <a:blip r:embed="rId1"/>
          <a:srcRect l="0" r="0" t="0" b="0"/>
          <a:stretch/>
        </p:blipFill>
        <p:spPr>
          <a:xfrm>
            <a:off x="0" y="0"/>
            <a:ext cx="12191695" cy="6858000"/>
          </a:xfrm>
          <a:prstGeom prst="rect">
            <a:avLst/>
          </a:prstGeom>
        </p:spPr>
      </p:pic>
      <p:sp>
        <p:nvSpPr>
          <p:cNvPr id="3" name="Shade"/>
          <p:cNvSpPr/>
          <p:nvPr/>
        </p:nvSpPr>
        <p:spPr>
          <a:xfrm>
            <a:off x="0" y="3566160"/>
            <a:ext cx="12191695" cy="3291840"/>
          </a:xfrm>
          <a:prstGeom prst="rect">
            <a:avLst/>
          </a:prstGeom>
          <a:solidFill>
            <a:srgbClr val="000000">
              <a:alpha val="70000"/>
            </a:srgbClr>
          </a:solidFill>
          <a:ln/>
        </p:spPr>
      </p:sp>
      <p:sp>
        <p:nvSpPr>
          <p:cNvPr id="4" name="Text 0"/>
          <p:cNvSpPr/>
          <p:nvPr>
            <p:ph idx="100" type="title" hasCustomPrompt="1"/>
          </p:nvPr>
        </p:nvSpPr>
        <p:spPr>
          <a:xfrm>
            <a:off x="731520" y="4206240"/>
            <a:ext cx="7315200" cy="1097280"/>
          </a:xfrm>
          <a:prstGeom prst="rect">
            <a:avLst/>
          </a:prstGeom>
          <a:noFill/>
          <a:ln/>
        </p:spPr>
        <p:txBody>
          <a:bodyPr wrap="square" lIns="0" tIns="0" rIns="0" bIns="0" rtlCol="0" anchor="b"/>
          <a:lstStyle/>
          <a:p>
            <a:pPr algn="l" indent="0" marL="0">
              <a:buNone/>
            </a:pPr>
            <a:r>
              <a:rPr lang="en-US" sz="6000" dirty="0">
                <a:solidFill>
                  <a:srgbClr val="FFFFFF"/>
                </a:solidFill>
              </a:rPr>
              <a:t>Let's drive it</a:t>
            </a:r>
            <a:endParaRPr lang="en-US" sz="6000" dirty="0"/>
          </a:p>
        </p:txBody>
      </p:sp>
      <p:sp>
        <p:nvSpPr>
          <p:cNvPr id="5" name="Text 0"/>
          <p:cNvSpPr/>
          <p:nvPr>
            <p:ph idx="101" type="body" hasCustomPrompt="1"/>
          </p:nvPr>
        </p:nvSpPr>
        <p:spPr>
          <a:xfrm>
            <a:off x="731520" y="5349240"/>
            <a:ext cx="7315200" cy="822960"/>
          </a:xfrm>
          <a:prstGeom prst="rect">
            <a:avLst/>
          </a:prstGeom>
          <a:noFill/>
          <a:ln/>
        </p:spPr>
        <p:txBody>
          <a:bodyPr wrap="square" lIns="0" tIns="0" rIns="0" bIns="0" rtlCol="0" anchor="t"/>
          <a:lstStyle/>
          <a:p>
            <a:pPr algn="l" indent="0" marL="0">
              <a:buNone/>
            </a:pPr>
            <a:r>
              <a:rPr lang="en-US" sz="1800" dirty="0">
                <a:solidFill>
                  <a:srgbClr val="FFFFFF"/>
                </a:solidFill>
              </a:rPr>
              <a:t>Open RoadsterLab.html  ·  github.com/Zarif0101/Roadster-Sim</a:t>
            </a:r>
            <a:endParaRPr lang="en-US" sz="1800" dirty="0"/>
          </a:p>
        </p:txBody>
      </p:sp>
      <p:sp>
        <p:nvSpPr>
          <p:cNvPr id="6" name="Text 3"/>
          <p:cNvSpPr txBox="1"/>
          <p:nvPr/>
        </p:nvSpPr>
        <p:spPr>
          <a:xfrm>
            <a:off x="731520" y="6172200"/>
            <a:ext cx="8229600" cy="320040"/>
          </a:xfrm>
          <a:prstGeom prst="rect">
            <a:avLst/>
          </a:prstGeom>
          <a:noFill/>
          <a:ln/>
        </p:spPr>
        <p:txBody>
          <a:bodyPr wrap="square" lIns="0" tIns="0" rIns="0" bIns="0" rtlCol="0" anchor="t"/>
          <a:lstStyle/>
          <a:p>
            <a:pPr indent="0" marL="0">
              <a:buNone/>
            </a:pPr>
            <a:r>
              <a:rPr lang="en-US" sz="1200" dirty="0">
                <a:solidFill>
                  <a:srgbClr val="FFFFFF"/>
                </a:solidFill>
              </a:rPr>
              <a:t>Designed and directed by Zarif. Built with Claude (AI).</a:t>
            </a:r>
            <a:endParaRPr lang="en-US" sz="1200" dirty="0"/>
          </a:p>
        </p:txBody>
      </p:sp>
    </p:spTree>
  </p:cSld>
  <p:clrMapOvr>
    <a:masterClrMapping/>
  </p:clrMapOvr>
</p:sld>
</file>

<file path=ppt/theme/theme1.xml><?xml version="1.0" encoding="utf-8"?>
<a:theme xmlns:a="http://schemas.openxmlformats.org/drawingml/2006/main" name="Roadster Lab">
  <a:themeElements>
    <a:clrScheme name="Roadster Lab">
      <a:dk1>
        <a:srgbClr val="171A1F"/>
      </a:dk1>
      <a:lt1>
        <a:srgbClr val="FFFFFF"/>
      </a:lt1>
      <a:dk2>
        <a:srgbClr val="5C6470"/>
      </a:dk2>
      <a:lt2>
        <a:srgbClr val="F4F5F7"/>
      </a:lt2>
      <a:accent1>
        <a:srgbClr val="3E6AE1"/>
      </a:accent1>
      <a:accent2>
        <a:srgbClr val="E82127"/>
      </a:accent2>
      <a:accent3>
        <a:srgbClr val="1A8F5A"/>
      </a:accent3>
      <a:accent4>
        <a:srgbClr val="B7791F"/>
      </a:accent4>
      <a:accent5>
        <a:srgbClr val="7A4FD1"/>
      </a:accent5>
      <a:accent6>
        <a:srgbClr val="D3D8DE"/>
      </a:accent6>
      <a:hlink>
        <a:srgbClr val="3E6AE1"/>
      </a:hlink>
      <a:folHlink>
        <a:srgbClr val="7A4FD1"/>
      </a:folHlink>
    </a:clrScheme>
    <a:fontScheme name="Roadster Lab">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Roadster Lab</dc:title>
  <dc:subject>PptxGenJS Presentation</dc:subject>
  <dc:creator>Zarif</dc:creator>
  <cp:lastModifiedBy>Zarif</cp:lastModifiedBy>
  <cp:revision>1</cp:revision>
  <dcterms:created xsi:type="dcterms:W3CDTF">2026-10-18T00:42:54Z</dcterms:created>
  <dcterms:modified xsi:type="dcterms:W3CDTF">2026-10-18T00:42:54Z</dcterms:modified>
</cp:coreProperties>
</file>