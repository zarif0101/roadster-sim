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c505eed-497d-13e9-c701-5f8a57b48eb5}">
          <p14:sldIdLst>
            <p14:sldId id="256"/>
            <p14:sldId id="257"/>
            <p14:sldId id="258"/>
          </p14:sldIdLst>
        </p14:section>
        <p14:section name="The simulator" id="{2498d7b7-56f9-ee27-6937-835c33511bf5}">
          <p14:sldIdLst>
            <p14:sldId id="259"/>
            <p14:sldId id="260"/>
          </p14:sldIdLst>
        </p14:section>
        <p14:section name="The physics" id="{f27003f3-6b0f-6245-6edc-2e1161f4db85}">
          <p14:sldIdLst>
            <p14:sldId id="261"/>
            <p14:sldId id="262"/>
            <p14:sldId id="263"/>
            <p14:sldId id="264"/>
            <p14:sldId id="265"/>
            <p14:sldId id="266"/>
          </p14:sldIdLst>
        </p14:section>
        <p14:section name="Proof and limits" id="{32dd79db-4e6f-912f-56ea-7673bec11bc0}">
          <p14:sldIdLst>
            <p14:sldId id="267"/>
            <p14:sldId id="268"/>
          </p14:sldIdLst>
        </p14:section>
        <p14:section name="Next" id="{e6479daf-5a6a-c5d4-720e-e40537de881e}">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A9B3BF"/>
                </a:solidFill>
                <a:latin typeface="+mn-lt"/>
              </a:defRPr>
            </a:pPr>
            <a:r>
              <a:rPr sz="1300" b="0" i="0" u="none" strike="noStrike">
                <a:solidFill>
                  <a:srgbClr val="A9B3BF"/>
                </a:solidFill>
                <a:latin typeface="+mn-lt"/>
              </a:rPr>
              <a:t>Simulated time, seconds (shorter is faster)</a:t>
            </a:r>
          </a:p>
        </c:rich>
      </c:tx>
      <c:layout/>
      <c:overlay val="0"/>
    </c:title>
    <c:autoTitleDeleted val="0"/>
    <c:plotArea>
      <c:layout/>
      <c:barChart>
        <c:barDir val="bar"/>
        <c:grouping val="clustered"/>
        <c:varyColors val="0"/>
        <c:ser>
          <c:idx val="0"/>
          <c:order val="0"/>
          <c:tx>
            <c:strRef>
              <c:f>Sheet1!$B$1</c:f>
              <c:strCache>
                <c:ptCount val="1"/>
                <c:pt idx="0">
                  <c:v>Simulated 0-60 mph (s)</c:v>
                </c:pt>
              </c:strCache>
            </c:strRef>
          </c:tx>
          <c:spPr>
            <a:solidFill>
              <a:srgbClr val="5CC8FF"/>
            </a:solidFill>
            <a:effectLst/>
          </c:spPr>
          <c:invertIfNegative val="0"/>
          <c:dLbls>
            <c:numFmt formatCode="0.00&quot; s&quot;" sourceLinked="0"/>
            <c:txPr>
              <a:bodyPr/>
              <a:lstStyle/>
              <a:p>
                <a:pPr>
                  <a:defRPr b="0" i="0" strike="noStrike" sz="1400" u="none">
                    <a:solidFill>
                      <a:srgbClr val="EEF1F4"/>
                    </a:solidFill>
                    <a:latin typeface="+mn-lt"/>
                  </a:defRPr>
                </a:pPr>
              </a:p>
            </c:txPr>
            <c:showLegendKey val="0"/>
            <c:showVal val="1"/>
            <c:showCatName val="0"/>
            <c:showSerName val="0"/>
            <c:showPercent val="0"/>
            <c:showBubbleSize val="0"/>
            <c:showLeaderLines val="0"/>
          </c:dLbls>
          <c:cat>
            <c:multiLvlStrRef>
              <c:f>Sheet1!$A$2:$A$4</c:f>
              <c:multiLvlStrCache>
                <c:ptCount val="3"/>
                <c:lvl>
                  <c:pt idx="0">
                    <c:v>Wheels only</c:v>
                  </c:pt>
                  <c:pt idx="1">
                    <c:v>Wheels + fans</c:v>
                  </c:pt>
                  <c:pt idx="2">
                    <c:v>Wheels + fans + thrusters</c:v>
                  </c:pt>
                </c:lvl>
              </c:multiLvlStrCache>
            </c:multiLvlStrRef>
          </c:cat>
          <c:val>
            <c:numRef>
              <c:f>Sheet1!$B$2:$B$4</c:f>
              <c:numCache>
                <c:formatCode>General</c:formatCode>
                <c:ptCount val="3"/>
                <c:pt idx="0">
                  <c:v>2.31</c:v>
                </c:pt>
                <c:pt idx="1">
                  <c:v>1.88</c:v>
                </c:pt>
                <c:pt idx="2">
                  <c:v>0.85</c:v>
                </c:pt>
              </c:numCache>
            </c:numRef>
          </c:val>
        </c:ser>
        <c:dLbls>
          <c:numFmt formatCode="0.00&quot; s&quot;" sourceLinked="0"/>
          <c:txPr>
            <a:bodyPr/>
            <a:lstStyle/>
            <a:p>
              <a:pPr>
                <a:defRPr b="0" i="0" strike="noStrike" sz="1400" u="none">
                  <a:solidFill>
                    <a:srgbClr val="EEF1F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EEF1F4"/>
                </a:solidFill>
                <a:latin typeface="+mn-lt"/>
              </a:defRPr>
            </a:pPr>
            <a:endParaRPr lang="en-US"/>
          </a:p>
        </c:txPr>
        <c:crossAx val="2094734552"/>
        <c:crosses val="autoZero"/>
        <c:auto val="1"/>
        <c:lblAlgn val="ctr"/>
        <c:noMultiLvlLbl val="1"/>
      </c:catAx>
      <c:valAx>
        <c:axId val="2094734552"/>
        <c:scaling>
          <c:orientation val="minMax"/>
          <c:max val="2.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days ago Tesla showed a Roadster that hangs upside down and flips in the air. I wanted to know if the numbers add up, so I built a simulator that runs the real physics. This talk shows what I built, what it found, and what our club could build next with the same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are what Tesla or the press reported. Everything else, like how hard each thruster pushes, was never published. That gap is why a simulator is useful: we can test which numbers make the stunt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questions the simulator answers. The blue numbers are our model's answers, and I will show where each one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 model was built by hand from the three reveal photos, because no 3D model of the 2026 car exists yet. The physics engine is Rapier, the same kind of engine games use, and on top of it I wrote every force on the car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four inputs are actually reported. Thirteen are estimates I worked out, like how much air fits in a 600 litre tank at 690 bar. The thruster layout is my own design. If a value is a guess, the simulator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loop. The engine only knows the car as one solid body. I calculate every push and pull on it, apply each one at the exact point where it acts, and the engine works out how the car moves and turns. Because the step is fixed at 1/120 of a second, a slow laptop gives the same answer as a fast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equation in the project. A cold-gas thruster has no fire. It just throws air out fast. To hold a 2.3 tonne car up you need about 23 kilonewtons, which means throwing out 32 kilograms of air every second. Three hundred kilograms of air lasts about nine seconds. That is why the reveal showed hops, not long flights.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Upside down, the fans pull the car up with twice its weight. Gravity takes one weight away, so the tyres are still pressed into the ceiling with one full weight, the same as driving on a road. That is enough grip to drive on the ceiling. Lose the seal and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thrusters were reported. Where they sit is my design, chosen so the car can lift, push forward and spin. The controller is the same idea as a drone flight controller, and that is the first thing our club could build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tune the model to hit these numbers. With only the reported torque and normal tyre grip, the car does 2.3 seconds. Turn the fans on and it lands on 1.88, almost exactly the 2017 claim. Add thrusters and it lands on 0.85, close to the 0.81 shown at the reveal. That tells me the estimates are in the right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videos. The autopilot gives throttle, steering and thruster commands and the physics decides what happens. If I change the gravity or the air supply, the stunts can fail, and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simulator is only useful if it is right about the things we can check. Free fall should match the school physics formula, and it does to 0.2 percent. The spin from one side nozzle matches r cross F exactly. These are consistency checks, not proof about the real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this is. It is a careful model that passes its own checks and lands close to Tesla's published times. It is not proof the real car works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in the car scales down. My first pick is the wall-climbing robot: it uses the same suction maths, it is cheap, and we can test it in the simulator first by changing the mass and fan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ask. Then I will switch to the simulator and show the ramp stunt live, open the see-through view while the thrusters fire, and export the data the run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6949440" cy="137160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
        <p:nvSpPr>
          <p:cNvPr id="3" name="Text 0"/>
          <p:cNvSpPr/>
          <p:nvPr>
            <p:ph idx="101" type="body" hasCustomPrompt="1"/>
          </p:nvPr>
        </p:nvSpPr>
        <p:spPr>
          <a:xfrm>
            <a:off x="640080" y="3611880"/>
            <a:ext cx="6035040" cy="128016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Roadster Lab · all results are simulated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veal photo" descr="C:\Users\arko4\Desktop\Roadster Simulation\Screenshot 2026-10-18 020142.png">    </p:cNvPr>
          <p:cNvPicPr>
            <a:picLocks noChangeAspect="1"/>
          </p:cNvPicPr>
          <p:nvPr/>
        </p:nvPicPr>
        <p:blipFill>
          <a:blip r:embed="rId1"/>
          <a:srcRect l="0" r="0" t="0" b="0"/>
          <a:stretch/>
        </p:blipFill>
        <p:spPr>
          <a:xfrm>
            <a:off x="0" y="0"/>
            <a:ext cx="12191695" cy="6858000"/>
          </a:xfrm>
          <a:prstGeom prst="rect">
            <a:avLst/>
          </a:prstGeom>
        </p:spPr>
      </p:pic>
      <p:sp>
        <p:nvSpPr>
          <p:cNvPr id="3" name="Shade"/>
          <p:cNvSpPr/>
          <p:nvPr/>
        </p:nvSpPr>
        <p:spPr>
          <a:xfrm>
            <a:off x="0" y="0"/>
            <a:ext cx="7680960" cy="6858000"/>
          </a:xfrm>
          <a:prstGeom prst="rect">
            <a:avLst/>
          </a:prstGeom>
          <a:solidFill>
            <a:schemeClr val="tx1">
              <a:alpha val="82000"/>
            </a:schemeClr>
          </a:solidFill>
          <a:ln/>
        </p:spPr>
      </p:sp>
      <p:sp>
        <p:nvSpPr>
          <p:cNvPr id="4" name="Text 1"/>
          <p:cNvSpPr txBox="1"/>
          <p:nvPr/>
        </p:nvSpPr>
        <p:spPr>
          <a:xfrm>
            <a:off x="640080" y="1554480"/>
            <a:ext cx="6400800" cy="365760"/>
          </a:xfrm>
          <a:prstGeom prst="rect">
            <a:avLst/>
          </a:prstGeom>
          <a:noFill/>
          <a:ln/>
        </p:spPr>
        <p:txBody>
          <a:bodyPr wrap="square" lIns="0" tIns="0" rIns="0" bIns="0" rtlCol="0" anchor="t"/>
          <a:lstStyle/>
          <a:p>
            <a:pPr indent="0" marL="0">
              <a:buNone/>
            </a:pPr>
            <a:r>
              <a:rPr lang="en-US" sz="1300" b="1" spc="300" kern="0" dirty="0">
                <a:solidFill>
                  <a:schemeClr val="accent1"/>
                </a:solidFill>
              </a:rPr>
              <a:t>ROBOTICS CLUB · 19 OCTOBER 2026</a:t>
            </a:r>
            <a:endParaRPr lang="en-US" sz="1300" dirty="0"/>
          </a:p>
        </p:txBody>
      </p:sp>
      <p:sp>
        <p:nvSpPr>
          <p:cNvPr id="5" name="Text 0"/>
          <p:cNvSpPr/>
          <p:nvPr>
            <p:ph idx="100" type="title" hasCustomPrompt="1"/>
          </p:nvPr>
        </p:nvSpPr>
        <p:spPr>
          <a:xfrm>
            <a:off x="640080" y="2103120"/>
            <a:ext cx="6949440" cy="1371600"/>
          </a:xfrm>
          <a:prstGeom prst="rect">
            <a:avLst/>
          </a:prstGeom>
          <a:noFill/>
          <a:ln/>
        </p:spPr>
        <p:txBody>
          <a:bodyPr wrap="square" lIns="0" tIns="0" rIns="0" bIns="0" rtlCol="0" anchor="b"/>
          <a:lstStyle/>
          <a:p>
            <a:pPr indent="0" marL="0">
              <a:buNone/>
            </a:pPr>
            <a:r>
              <a:rPr lang="en-US" sz="6000" b="1" dirty="0">
                <a:solidFill>
                  <a:schemeClr val="bg1"/>
                </a:solidFill>
              </a:rPr>
              <a:t>Roadster Lab</a:t>
            </a:r>
            <a:endParaRPr lang="en-US" sz="6000" dirty="0"/>
          </a:p>
        </p:txBody>
      </p:sp>
      <p:sp>
        <p:nvSpPr>
          <p:cNvPr id="6" name="Text 0"/>
          <p:cNvSpPr/>
          <p:nvPr>
            <p:ph idx="101" type="body" hasCustomPrompt="1"/>
          </p:nvPr>
        </p:nvSpPr>
        <p:spPr>
          <a:xfrm>
            <a:off x="640080" y="3611880"/>
            <a:ext cx="6035040" cy="1280160"/>
          </a:xfrm>
          <a:prstGeom prst="rect">
            <a:avLst/>
          </a:prstGeom>
          <a:noFill/>
          <a:ln/>
        </p:spPr>
        <p:txBody>
          <a:bodyPr wrap="square" lIns="0" tIns="0" rIns="0" bIns="0" rtlCol="0" anchor="t"/>
          <a:lstStyle/>
          <a:p>
            <a:pPr indent="0" marL="0">
              <a:buNone/>
            </a:pPr>
            <a:r>
              <a:rPr lang="en-US" sz="2000" dirty="0">
                <a:solidFill>
                  <a:schemeClr val="bg1"/>
                </a:solidFill>
              </a:rPr>
              <a:t>We rebuilt Tesla's 15 October stunt in a physics engine to find out how much thrust, air and suction it really takes.</a:t>
            </a:r>
            <a:endParaRPr lang="en-US" sz="2000" dirty="0"/>
          </a:p>
        </p:txBody>
      </p:sp>
      <p:sp>
        <p:nvSpPr>
          <p:cNvPr id="7" name="Text 4"/>
          <p:cNvSpPr txBox="1"/>
          <p:nvPr/>
        </p:nvSpPr>
        <p:spPr>
          <a:xfrm>
            <a:off x="640080" y="5852160"/>
            <a:ext cx="4572000" cy="365760"/>
          </a:xfrm>
          <a:prstGeom prst="rect">
            <a:avLst/>
          </a:prstGeom>
          <a:noFill/>
          <a:ln/>
        </p:spPr>
        <p:txBody>
          <a:bodyPr wrap="square" lIns="0" tIns="0" rIns="0" bIns="0" rtlCol="0" anchor="t"/>
          <a:lstStyle/>
          <a:p>
            <a:pPr indent="0" marL="0">
              <a:buNone/>
            </a:pPr>
            <a:r>
              <a:rPr lang="en-US" sz="1400" dirty="0">
                <a:solidFill>
                  <a:schemeClr val="bg2"/>
                </a:solidFill>
              </a:rPr>
              <a:t>Zarif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On 15 October a Roadster hung upside down from a ramp</a:t>
            </a:r>
            <a:endParaRPr lang="en-US" sz="3200" dirty="0"/>
          </a:p>
        </p:txBody>
      </p:sp>
      <p:pic>
        <p:nvPicPr>
          <p:cNvPr id="3" name="Rear photo" descr="C:\Users\arko4\Desktop\Roadster Simulation\Screenshot 2026-10-18 020038.png">    </p:cNvPr>
          <p:cNvPicPr>
            <a:picLocks noChangeAspect="1"/>
          </p:cNvPicPr>
          <p:nvPr/>
        </p:nvPicPr>
        <p:blipFill>
          <a:blip r:embed="rId1"/>
          <a:srcRect l="0" r="0" t="0" b="0"/>
          <a:stretch/>
        </p:blipFill>
        <p:spPr>
          <a:xfrm>
            <a:off x="7223760" y="1417320"/>
            <a:ext cx="4389120" cy="3291840"/>
          </a:xfrm>
          <a:prstGeom prst="rect">
            <a:avLst/>
          </a:prstGeom>
        </p:spPr>
      </p:pic>
      <p:sp>
        <p:nvSpPr>
          <p:cNvPr id="4" name="Text 1"/>
          <p:cNvSpPr txBox="1"/>
          <p:nvPr/>
        </p:nvSpPr>
        <p:spPr>
          <a:xfrm>
            <a:off x="548640" y="1417320"/>
            <a:ext cx="6217920" cy="1463040"/>
          </a:xfrm>
          <a:prstGeom prst="rect">
            <a:avLst/>
          </a:prstGeom>
          <a:noFill/>
          <a:ln/>
        </p:spPr>
        <p:txBody>
          <a:bodyPr wrap="square" lIns="0" tIns="0" rIns="0" bIns="0" rtlCol="0" anchor="t"/>
          <a:lstStyle/>
          <a:p>
            <a:pPr indent="0" marL="0">
              <a:buNone/>
            </a:pPr>
            <a:r>
              <a:rPr lang="en-US" sz="1700" dirty="0">
                <a:solidFill>
                  <a:schemeClr val="bg1"/>
                </a:solidFill>
              </a:rPr>
              <a:t>It drove up a curved ramp and stopped underneath it. Fans under the car held it there. Then it dropped, flipped onto its wheels with cold-gas thrusters, and later jumped a row of five parked Teslas while spinning.</a:t>
            </a:r>
            <a:endParaRPr lang="en-US" sz="1700" dirty="0"/>
          </a:p>
        </p:txBody>
      </p:sp>
      <p:sp>
        <p:nvSpPr>
          <p:cNvPr id="5" name="Text 2"/>
          <p:cNvSpPr txBox="1"/>
          <p:nvPr/>
        </p:nvSpPr>
        <p:spPr>
          <a:xfrm>
            <a:off x="548640" y="3200400"/>
            <a:ext cx="146304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0.81 s</a:t>
            </a:r>
            <a:endParaRPr lang="en-US" sz="4000" dirty="0"/>
          </a:p>
        </p:txBody>
      </p:sp>
      <p:sp>
        <p:nvSpPr>
          <p:cNvPr id="6" name="Text 3"/>
          <p:cNvSpPr txBox="1"/>
          <p:nvPr/>
        </p:nvSpPr>
        <p:spPr>
          <a:xfrm>
            <a:off x="548640" y="3950208"/>
            <a:ext cx="1463040" cy="548640"/>
          </a:xfrm>
          <a:prstGeom prst="rect">
            <a:avLst/>
          </a:prstGeom>
          <a:noFill/>
          <a:ln/>
        </p:spPr>
        <p:txBody>
          <a:bodyPr wrap="square" lIns="0" tIns="0" rIns="0" bIns="0" rtlCol="0" anchor="t"/>
          <a:lstStyle/>
          <a:p>
            <a:pPr indent="0" marL="0">
              <a:buNone/>
            </a:pPr>
            <a:r>
              <a:rPr lang="en-US" sz="1300" dirty="0">
                <a:solidFill>
                  <a:schemeClr val="bg2"/>
                </a:solidFill>
              </a:rPr>
              <a:t>0 to 60 mph at the event</a:t>
            </a:r>
            <a:endParaRPr lang="en-US" sz="1300" dirty="0"/>
          </a:p>
        </p:txBody>
      </p:sp>
      <p:sp>
        <p:nvSpPr>
          <p:cNvPr id="7" name="Text 4"/>
          <p:cNvSpPr txBox="1"/>
          <p:nvPr/>
        </p:nvSpPr>
        <p:spPr>
          <a:xfrm>
            <a:off x="548640" y="4498848"/>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8" name="Text 5"/>
          <p:cNvSpPr txBox="1"/>
          <p:nvPr/>
        </p:nvSpPr>
        <p:spPr>
          <a:xfrm>
            <a:off x="2148840" y="3200400"/>
            <a:ext cx="146304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10</a:t>
            </a:r>
            <a:endParaRPr lang="en-US" sz="4000" dirty="0"/>
          </a:p>
        </p:txBody>
      </p:sp>
      <p:sp>
        <p:nvSpPr>
          <p:cNvPr id="9" name="Text 6"/>
          <p:cNvSpPr txBox="1"/>
          <p:nvPr/>
        </p:nvSpPr>
        <p:spPr>
          <a:xfrm>
            <a:off x="2148840" y="3950208"/>
            <a:ext cx="1463040" cy="548640"/>
          </a:xfrm>
          <a:prstGeom prst="rect">
            <a:avLst/>
          </a:prstGeom>
          <a:noFill/>
          <a:ln/>
        </p:spPr>
        <p:txBody>
          <a:bodyPr wrap="square" lIns="0" tIns="0" rIns="0" bIns="0" rtlCol="0" anchor="t"/>
          <a:lstStyle/>
          <a:p>
            <a:pPr indent="0" marL="0">
              <a:buNone/>
            </a:pPr>
            <a:r>
              <a:rPr lang="en-US" sz="1300" dirty="0">
                <a:solidFill>
                  <a:schemeClr val="bg2"/>
                </a:solidFill>
              </a:rPr>
              <a:t>cold-gas thrusters</a:t>
            </a:r>
            <a:endParaRPr lang="en-US" sz="1300" dirty="0"/>
          </a:p>
        </p:txBody>
      </p:sp>
      <p:sp>
        <p:nvSpPr>
          <p:cNvPr id="10" name="Text 7"/>
          <p:cNvSpPr txBox="1"/>
          <p:nvPr/>
        </p:nvSpPr>
        <p:spPr>
          <a:xfrm>
            <a:off x="2148840" y="4498848"/>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11" name="Text 8"/>
          <p:cNvSpPr txBox="1"/>
          <p:nvPr/>
        </p:nvSpPr>
        <p:spPr>
          <a:xfrm>
            <a:off x="3749040" y="3200400"/>
            <a:ext cx="146304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600 L</a:t>
            </a:r>
            <a:endParaRPr lang="en-US" sz="4000" dirty="0"/>
          </a:p>
        </p:txBody>
      </p:sp>
      <p:sp>
        <p:nvSpPr>
          <p:cNvPr id="12" name="Text 9"/>
          <p:cNvSpPr txBox="1"/>
          <p:nvPr/>
        </p:nvSpPr>
        <p:spPr>
          <a:xfrm>
            <a:off x="3749040" y="3950208"/>
            <a:ext cx="1463040" cy="548640"/>
          </a:xfrm>
          <a:prstGeom prst="rect">
            <a:avLst/>
          </a:prstGeom>
          <a:noFill/>
          <a:ln/>
        </p:spPr>
        <p:txBody>
          <a:bodyPr wrap="square" lIns="0" tIns="0" rIns="0" bIns="0" rtlCol="0" anchor="t"/>
          <a:lstStyle/>
          <a:p>
            <a:pPr indent="0" marL="0">
              <a:buNone/>
            </a:pPr>
            <a:r>
              <a:rPr lang="en-US" sz="1300" dirty="0">
                <a:solidFill>
                  <a:schemeClr val="bg2"/>
                </a:solidFill>
              </a:rPr>
              <a:t>compressed-air tank</a:t>
            </a:r>
            <a:endParaRPr lang="en-US" sz="1300" dirty="0"/>
          </a:p>
        </p:txBody>
      </p:sp>
      <p:sp>
        <p:nvSpPr>
          <p:cNvPr id="13" name="Text 10"/>
          <p:cNvSpPr txBox="1"/>
          <p:nvPr/>
        </p:nvSpPr>
        <p:spPr>
          <a:xfrm>
            <a:off x="3749040" y="4498848"/>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14" name="Text 11"/>
          <p:cNvSpPr txBox="1"/>
          <p:nvPr/>
        </p:nvSpPr>
        <p:spPr>
          <a:xfrm>
            <a:off x="5349240" y="3200400"/>
            <a:ext cx="146304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2 g</a:t>
            </a:r>
            <a:endParaRPr lang="en-US" sz="4000" dirty="0"/>
          </a:p>
        </p:txBody>
      </p:sp>
      <p:sp>
        <p:nvSpPr>
          <p:cNvPr id="15" name="Text 12"/>
          <p:cNvSpPr txBox="1"/>
          <p:nvPr/>
        </p:nvSpPr>
        <p:spPr>
          <a:xfrm>
            <a:off x="5349240" y="3950208"/>
            <a:ext cx="1463040" cy="548640"/>
          </a:xfrm>
          <a:prstGeom prst="rect">
            <a:avLst/>
          </a:prstGeom>
          <a:noFill/>
          <a:ln/>
        </p:spPr>
        <p:txBody>
          <a:bodyPr wrap="square" lIns="0" tIns="0" rIns="0" bIns="0" rtlCol="0" anchor="t"/>
          <a:lstStyle/>
          <a:p>
            <a:pPr indent="0" marL="0">
              <a:buNone/>
            </a:pPr>
            <a:r>
              <a:rPr lang="en-US" sz="1300" dirty="0">
                <a:solidFill>
                  <a:schemeClr val="bg2"/>
                </a:solidFill>
              </a:rPr>
              <a:t>fan suction, "up to"</a:t>
            </a:r>
            <a:endParaRPr lang="en-US" sz="1300" dirty="0"/>
          </a:p>
        </p:txBody>
      </p:sp>
      <p:sp>
        <p:nvSpPr>
          <p:cNvPr id="16" name="Text 13"/>
          <p:cNvSpPr txBox="1"/>
          <p:nvPr/>
        </p:nvSpPr>
        <p:spPr>
          <a:xfrm>
            <a:off x="5349240" y="4498848"/>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17" name="Text 14"/>
          <p:cNvSpPr txBox="1"/>
          <p:nvPr/>
        </p:nvSpPr>
        <p:spPr>
          <a:xfrm>
            <a:off x="548640" y="5715000"/>
            <a:ext cx="10972800" cy="365760"/>
          </a:xfrm>
          <a:prstGeom prst="rect">
            <a:avLst/>
          </a:prstGeom>
          <a:noFill/>
          <a:ln/>
        </p:spPr>
        <p:txBody>
          <a:bodyPr wrap="square" lIns="0" tIns="0" rIns="0" bIns="0" rtlCol="0" anchor="t"/>
          <a:lstStyle/>
          <a:p>
            <a:pPr indent="0" marL="0">
              <a:buNone/>
            </a:pPr>
            <a:r>
              <a:rPr lang="en-US" sz="1100" dirty="0">
                <a:solidFill>
                  <a:schemeClr val="bg2"/>
                </a:solidFill>
              </a:rPr>
              <a:t>Sources: TechCrunch, Teslarati, CBS News coverage of the 15 Oct 2026 reveal. Tesla published no thrust, pressure or ramp dimensions.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Nobody published the numbers that make it work</a:t>
            </a:r>
            <a:endParaRPr lang="en-US" sz="3200" dirty="0"/>
          </a:p>
        </p:txBody>
      </p:sp>
      <p:sp>
        <p:nvSpPr>
          <p:cNvPr id="3" name="Question 1"/>
          <p:cNvSpPr/>
          <p:nvPr/>
        </p:nvSpPr>
        <p:spPr>
          <a:xfrm>
            <a:off x="548640" y="1463040"/>
            <a:ext cx="3520440" cy="4206240"/>
          </a:xfrm>
          <a:prstGeom prst="roundRect">
            <a:avLst>
              <a:gd name="adj" fmla="val 3117"/>
            </a:avLst>
          </a:prstGeom>
          <a:solidFill>
            <a:schemeClr val="tx2"/>
          </a:solidFill>
          <a:ln w="9525">
            <a:solidFill>
              <a:schemeClr val="accent6"/>
            </a:solidFill>
            <a:prstDash val="solid"/>
          </a:ln>
        </p:spPr>
      </p:sp>
      <p:sp>
        <p:nvSpPr>
          <p:cNvPr id="4" name="Text 2"/>
          <p:cNvSpPr txBox="1"/>
          <p:nvPr/>
        </p:nvSpPr>
        <p:spPr>
          <a:xfrm>
            <a:off x="822960" y="1737360"/>
            <a:ext cx="2971800" cy="91440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How hard must the thrusters push?</a:t>
            </a:r>
            <a:endParaRPr lang="en-US" sz="2100" dirty="0"/>
          </a:p>
        </p:txBody>
      </p:sp>
      <p:sp>
        <p:nvSpPr>
          <p:cNvPr id="5" name="Text 3"/>
          <p:cNvSpPr txBox="1"/>
          <p:nvPr/>
        </p:nvSpPr>
        <p:spPr>
          <a:xfrm>
            <a:off x="822960" y="2697480"/>
            <a:ext cx="2971800" cy="1097280"/>
          </a:xfrm>
          <a:prstGeom prst="rect">
            <a:avLst/>
          </a:prstGeom>
          <a:noFill/>
          <a:ln/>
        </p:spPr>
        <p:txBody>
          <a:bodyPr wrap="square" lIns="0" tIns="0" rIns="0" bIns="0" rtlCol="0" anchor="t"/>
          <a:lstStyle/>
          <a:p>
            <a:pPr indent="0" marL="0">
              <a:buNone/>
            </a:pPr>
            <a:r>
              <a:rPr lang="en-US" sz="1500" dirty="0">
                <a:solidFill>
                  <a:schemeClr val="bg2"/>
                </a:solidFill>
              </a:rPr>
              <a:t>To flip a 2.3-tonne car in under a second and float it over a 3.8 m truck.</a:t>
            </a:r>
            <a:endParaRPr lang="en-US" sz="1500" dirty="0"/>
          </a:p>
        </p:txBody>
      </p:sp>
      <p:sp>
        <p:nvSpPr>
          <p:cNvPr id="6" name="Text 4"/>
          <p:cNvSpPr txBox="1"/>
          <p:nvPr/>
        </p:nvSpPr>
        <p:spPr>
          <a:xfrm>
            <a:off x="822960" y="4069080"/>
            <a:ext cx="2971800" cy="82296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44 kN</a:t>
            </a:r>
            <a:endParaRPr lang="en-US" sz="4400" dirty="0"/>
          </a:p>
        </p:txBody>
      </p:sp>
      <p:sp>
        <p:nvSpPr>
          <p:cNvPr id="7" name="Text 5"/>
          <p:cNvSpPr txBox="1"/>
          <p:nvPr/>
        </p:nvSpPr>
        <p:spPr>
          <a:xfrm>
            <a:off x="822960" y="4892040"/>
            <a:ext cx="2971800" cy="548640"/>
          </a:xfrm>
          <a:prstGeom prst="rect">
            <a:avLst/>
          </a:prstGeom>
          <a:noFill/>
          <a:ln/>
        </p:spPr>
        <p:txBody>
          <a:bodyPr wrap="square" lIns="0" tIns="0" rIns="0" bIns="0" rtlCol="0" anchor="t"/>
          <a:lstStyle/>
          <a:p>
            <a:pPr indent="0" marL="0">
              <a:buNone/>
            </a:pPr>
            <a:r>
              <a:rPr lang="en-US" sz="1300" dirty="0">
                <a:solidFill>
                  <a:schemeClr val="bg2"/>
                </a:solidFill>
              </a:rPr>
              <a:t>from both rear boost nozzles in our model</a:t>
            </a:r>
            <a:endParaRPr lang="en-US" sz="1300" dirty="0"/>
          </a:p>
        </p:txBody>
      </p:sp>
      <p:sp>
        <p:nvSpPr>
          <p:cNvPr id="8" name="Question 2"/>
          <p:cNvSpPr/>
          <p:nvPr/>
        </p:nvSpPr>
        <p:spPr>
          <a:xfrm>
            <a:off x="4297680" y="1463040"/>
            <a:ext cx="3520440" cy="4206240"/>
          </a:xfrm>
          <a:prstGeom prst="roundRect">
            <a:avLst>
              <a:gd name="adj" fmla="val 3117"/>
            </a:avLst>
          </a:prstGeom>
          <a:solidFill>
            <a:schemeClr val="tx2"/>
          </a:solidFill>
          <a:ln w="9525">
            <a:solidFill>
              <a:schemeClr val="accent6"/>
            </a:solidFill>
            <a:prstDash val="solid"/>
          </a:ln>
        </p:spPr>
      </p:sp>
      <p:sp>
        <p:nvSpPr>
          <p:cNvPr id="9" name="Text 7"/>
          <p:cNvSpPr txBox="1"/>
          <p:nvPr/>
        </p:nvSpPr>
        <p:spPr>
          <a:xfrm>
            <a:off x="4572000" y="1737360"/>
            <a:ext cx="2971800" cy="91440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How long does the air last?</a:t>
            </a:r>
            <a:endParaRPr lang="en-US" sz="2100" dirty="0"/>
          </a:p>
        </p:txBody>
      </p:sp>
      <p:sp>
        <p:nvSpPr>
          <p:cNvPr id="10" name="Text 8"/>
          <p:cNvSpPr txBox="1"/>
          <p:nvPr/>
        </p:nvSpPr>
        <p:spPr>
          <a:xfrm>
            <a:off x="4572000" y="2697480"/>
            <a:ext cx="2971800" cy="1097280"/>
          </a:xfrm>
          <a:prstGeom prst="rect">
            <a:avLst/>
          </a:prstGeom>
          <a:noFill/>
          <a:ln/>
        </p:spPr>
        <p:txBody>
          <a:bodyPr wrap="square" lIns="0" tIns="0" rIns="0" bIns="0" rtlCol="0" anchor="t"/>
          <a:lstStyle/>
          <a:p>
            <a:pPr indent="0" marL="0">
              <a:buNone/>
            </a:pPr>
            <a:r>
              <a:rPr lang="en-US" sz="1500" dirty="0">
                <a:solidFill>
                  <a:schemeClr val="bg2"/>
                </a:solidFill>
              </a:rPr>
              <a:t>600 L sounds like a lot. Thrusters burn it in kilograms per second.</a:t>
            </a:r>
            <a:endParaRPr lang="en-US" sz="1500" dirty="0"/>
          </a:p>
        </p:txBody>
      </p:sp>
      <p:sp>
        <p:nvSpPr>
          <p:cNvPr id="11" name="Text 9"/>
          <p:cNvSpPr txBox="1"/>
          <p:nvPr/>
        </p:nvSpPr>
        <p:spPr>
          <a:xfrm>
            <a:off x="4572000" y="4069080"/>
            <a:ext cx="2971800" cy="82296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~9 s</a:t>
            </a:r>
            <a:endParaRPr lang="en-US" sz="4400" dirty="0"/>
          </a:p>
        </p:txBody>
      </p:sp>
      <p:sp>
        <p:nvSpPr>
          <p:cNvPr id="12" name="Text 10"/>
          <p:cNvSpPr txBox="1"/>
          <p:nvPr/>
        </p:nvSpPr>
        <p:spPr>
          <a:xfrm>
            <a:off x="4572000" y="4892040"/>
            <a:ext cx="2971800" cy="548640"/>
          </a:xfrm>
          <a:prstGeom prst="rect">
            <a:avLst/>
          </a:prstGeom>
          <a:noFill/>
          <a:ln/>
        </p:spPr>
        <p:txBody>
          <a:bodyPr wrap="square" lIns="0" tIns="0" rIns="0" bIns="0" rtlCol="0" anchor="t"/>
          <a:lstStyle/>
          <a:p>
            <a:pPr indent="0" marL="0">
              <a:buNone/>
            </a:pPr>
            <a:r>
              <a:rPr lang="en-US" sz="1300" dirty="0">
                <a:solidFill>
                  <a:schemeClr val="bg2"/>
                </a:solidFill>
              </a:rPr>
              <a:t>of hover on a full tank</a:t>
            </a:r>
            <a:endParaRPr lang="en-US" sz="1300" dirty="0"/>
          </a:p>
        </p:txBody>
      </p:sp>
      <p:sp>
        <p:nvSpPr>
          <p:cNvPr id="13" name="Question 3"/>
          <p:cNvSpPr/>
          <p:nvPr/>
        </p:nvSpPr>
        <p:spPr>
          <a:xfrm>
            <a:off x="8046720" y="1463040"/>
            <a:ext cx="3520440" cy="4206240"/>
          </a:xfrm>
          <a:prstGeom prst="roundRect">
            <a:avLst>
              <a:gd name="adj" fmla="val 3117"/>
            </a:avLst>
          </a:prstGeom>
          <a:solidFill>
            <a:schemeClr val="tx2"/>
          </a:solidFill>
          <a:ln w="9525">
            <a:solidFill>
              <a:schemeClr val="accent6"/>
            </a:solidFill>
            <a:prstDash val="solid"/>
          </a:ln>
        </p:spPr>
      </p:sp>
      <p:sp>
        <p:nvSpPr>
          <p:cNvPr id="14" name="Text 12"/>
          <p:cNvSpPr txBox="1"/>
          <p:nvPr/>
        </p:nvSpPr>
        <p:spPr>
          <a:xfrm>
            <a:off x="8321040" y="1737360"/>
            <a:ext cx="2971800" cy="914400"/>
          </a:xfrm>
          <a:prstGeom prst="rect">
            <a:avLst/>
          </a:prstGeom>
          <a:noFill/>
          <a:ln/>
        </p:spPr>
        <p:txBody>
          <a:bodyPr wrap="square" lIns="0" tIns="0" rIns="0" bIns="0" rtlCol="0" anchor="t"/>
          <a:lstStyle/>
          <a:p>
            <a:pPr indent="0" marL="0">
              <a:buNone/>
            </a:pPr>
            <a:r>
              <a:rPr lang="en-US" sz="2100" b="1" dirty="0">
                <a:solidFill>
                  <a:schemeClr val="bg1"/>
                </a:solidFill>
                <a:latin typeface="Arial" pitchFamily="34" charset="0"/>
                <a:ea typeface="Arial" pitchFamily="34" charset="-122"/>
                <a:cs typeface="Arial" pitchFamily="34" charset="-120"/>
              </a:rPr>
              <a:t>Is 2 g of suction enough?</a:t>
            </a:r>
            <a:endParaRPr lang="en-US" sz="2100" dirty="0"/>
          </a:p>
        </p:txBody>
      </p:sp>
      <p:sp>
        <p:nvSpPr>
          <p:cNvPr id="15" name="Text 13"/>
          <p:cNvSpPr txBox="1"/>
          <p:nvPr/>
        </p:nvSpPr>
        <p:spPr>
          <a:xfrm>
            <a:off x="8321040" y="2697480"/>
            <a:ext cx="2971800" cy="1097280"/>
          </a:xfrm>
          <a:prstGeom prst="rect">
            <a:avLst/>
          </a:prstGeom>
          <a:noFill/>
          <a:ln/>
        </p:spPr>
        <p:txBody>
          <a:bodyPr wrap="square" lIns="0" tIns="0" rIns="0" bIns="0" rtlCol="0" anchor="t"/>
          <a:lstStyle/>
          <a:p>
            <a:pPr indent="0" marL="0">
              <a:buNone/>
            </a:pPr>
            <a:r>
              <a:rPr lang="en-US" sz="1500" dirty="0">
                <a:solidFill>
                  <a:schemeClr val="bg2"/>
                </a:solidFill>
              </a:rPr>
              <a:t>Upside down, the fans have to beat gravity and still press the tyres on.</a:t>
            </a:r>
            <a:endParaRPr lang="en-US" sz="1500" dirty="0"/>
          </a:p>
        </p:txBody>
      </p:sp>
      <p:sp>
        <p:nvSpPr>
          <p:cNvPr id="16" name="Text 14"/>
          <p:cNvSpPr txBox="1"/>
          <p:nvPr/>
        </p:nvSpPr>
        <p:spPr>
          <a:xfrm>
            <a:off x="8321040" y="4069080"/>
            <a:ext cx="2971800" cy="82296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1 g</a:t>
            </a:r>
            <a:endParaRPr lang="en-US" sz="4400" dirty="0"/>
          </a:p>
        </p:txBody>
      </p:sp>
      <p:sp>
        <p:nvSpPr>
          <p:cNvPr id="17" name="Text 15"/>
          <p:cNvSpPr txBox="1"/>
          <p:nvPr/>
        </p:nvSpPr>
        <p:spPr>
          <a:xfrm>
            <a:off x="8321040" y="4892040"/>
            <a:ext cx="2971800" cy="548640"/>
          </a:xfrm>
          <a:prstGeom prst="rect">
            <a:avLst/>
          </a:prstGeom>
          <a:noFill/>
          <a:ln/>
        </p:spPr>
        <p:txBody>
          <a:bodyPr wrap="square" lIns="0" tIns="0" rIns="0" bIns="0" rtlCol="0" anchor="t"/>
          <a:lstStyle/>
          <a:p>
            <a:pPr indent="0" marL="0">
              <a:buNone/>
            </a:pPr>
            <a:r>
              <a:rPr lang="en-US" sz="1300" dirty="0">
                <a:solidFill>
                  <a:schemeClr val="bg2"/>
                </a:solidFill>
              </a:rPr>
              <a:t>left over to press the tyres into the ceiling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Roadster Lab runs the stunt in real physics</a:t>
            </a:r>
            <a:endParaRPr lang="en-US" sz="3200" dirty="0"/>
          </a:p>
        </p:txBody>
      </p:sp>
      <p:pic>
        <p:nvPicPr>
          <p:cNvPr id="3" name="Hero render" descr="C:\Users\arko4\Desktop\Roadster Simulation\shots\hero.jpg">    </p:cNvPr>
          <p:cNvPicPr>
            <a:picLocks noChangeAspect="1"/>
          </p:cNvPicPr>
          <p:nvPr/>
        </p:nvPicPr>
        <p:blipFill>
          <a:blip r:embed="rId1"/>
          <a:srcRect l="0" r="0" t="0" b="0"/>
          <a:stretch/>
        </p:blipFill>
        <p:spPr>
          <a:xfrm>
            <a:off x="548640" y="1371600"/>
            <a:ext cx="6766560" cy="3803904"/>
          </a:xfrm>
          <a:prstGeom prst="rect">
            <a:avLst/>
          </a:prstGeom>
        </p:spPr>
      </p:pic>
      <p:sp>
        <p:nvSpPr>
          <p:cNvPr id="4" name="Text 1"/>
          <p:cNvSpPr txBox="1"/>
          <p:nvPr/>
        </p:nvSpPr>
        <p:spPr>
          <a:xfrm>
            <a:off x="7680960" y="137160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Drive</a:t>
            </a:r>
            <a:endParaRPr lang="en-US" sz="1800" dirty="0"/>
          </a:p>
        </p:txBody>
      </p:sp>
      <p:sp>
        <p:nvSpPr>
          <p:cNvPr id="5" name="Text 2"/>
          <p:cNvSpPr txBox="1"/>
          <p:nvPr/>
        </p:nvSpPr>
        <p:spPr>
          <a:xfrm>
            <a:off x="7680960" y="1737360"/>
            <a:ext cx="3931920" cy="640080"/>
          </a:xfrm>
          <a:prstGeom prst="rect">
            <a:avLst/>
          </a:prstGeom>
          <a:noFill/>
          <a:ln/>
        </p:spPr>
        <p:txBody>
          <a:bodyPr wrap="square" lIns="0" tIns="0" rIns="0" bIns="0" rtlCol="0" anchor="t"/>
          <a:lstStyle/>
          <a:p>
            <a:pPr indent="0" marL="0">
              <a:buNone/>
            </a:pPr>
            <a:r>
              <a:rPr lang="en-US" sz="1400" dirty="0">
                <a:solidFill>
                  <a:schemeClr val="bg2"/>
                </a:solidFill>
              </a:rPr>
              <a:t>Keyboard driving, suspension, tyre grip, drag. Hover with H.</a:t>
            </a:r>
            <a:endParaRPr lang="en-US" sz="1400" dirty="0"/>
          </a:p>
        </p:txBody>
      </p:sp>
      <p:sp>
        <p:nvSpPr>
          <p:cNvPr id="6" name="Text 3"/>
          <p:cNvSpPr txBox="1"/>
          <p:nvPr/>
        </p:nvSpPr>
        <p:spPr>
          <a:xfrm>
            <a:off x="7680960" y="2395728"/>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Stunts</a:t>
            </a:r>
            <a:endParaRPr lang="en-US" sz="1800" dirty="0"/>
          </a:p>
        </p:txBody>
      </p:sp>
      <p:sp>
        <p:nvSpPr>
          <p:cNvPr id="7" name="Text 4"/>
          <p:cNvSpPr txBox="1"/>
          <p:nvPr/>
        </p:nvSpPr>
        <p:spPr>
          <a:xfrm>
            <a:off x="7680960" y="2761488"/>
            <a:ext cx="3931920" cy="640080"/>
          </a:xfrm>
          <a:prstGeom prst="rect">
            <a:avLst/>
          </a:prstGeom>
          <a:noFill/>
          <a:ln/>
        </p:spPr>
        <p:txBody>
          <a:bodyPr wrap="square" lIns="0" tIns="0" rIns="0" bIns="0" rtlCol="0" anchor="t"/>
          <a:lstStyle/>
          <a:p>
            <a:pPr indent="0" marL="0">
              <a:buNone/>
            </a:pPr>
            <a:r>
              <a:rPr lang="en-US" sz="1400" dirty="0">
                <a:solidFill>
                  <a:schemeClr val="bg2"/>
                </a:solidFill>
              </a:rPr>
              <a:t>Autopilot replays the ramp, the kickflip, a hover and a 0 to 60 run. Press any key to take over.</a:t>
            </a:r>
            <a:endParaRPr lang="en-US" sz="1400" dirty="0"/>
          </a:p>
        </p:txBody>
      </p:sp>
      <p:sp>
        <p:nvSpPr>
          <p:cNvPr id="8" name="Text 5"/>
          <p:cNvSpPr txBox="1"/>
          <p:nvPr/>
        </p:nvSpPr>
        <p:spPr>
          <a:xfrm>
            <a:off x="7680960" y="3419856"/>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How it works</a:t>
            </a:r>
            <a:endParaRPr lang="en-US" sz="1800" dirty="0"/>
          </a:p>
        </p:txBody>
      </p:sp>
      <p:sp>
        <p:nvSpPr>
          <p:cNvPr id="9" name="Text 6"/>
          <p:cNvSpPr txBox="1"/>
          <p:nvPr/>
        </p:nvSpPr>
        <p:spPr>
          <a:xfrm>
            <a:off x="7680960" y="3785616"/>
            <a:ext cx="3931920" cy="640080"/>
          </a:xfrm>
          <a:prstGeom prst="rect">
            <a:avLst/>
          </a:prstGeom>
          <a:noFill/>
          <a:ln/>
        </p:spPr>
        <p:txBody>
          <a:bodyPr wrap="square" lIns="0" tIns="0" rIns="0" bIns="0" rtlCol="0" anchor="t"/>
          <a:lstStyle/>
          <a:p>
            <a:pPr indent="0" marL="0">
              <a:buNone/>
            </a:pPr>
            <a:r>
              <a:rPr lang="en-US" sz="1400" dirty="0">
                <a:solidFill>
                  <a:schemeClr val="bg2"/>
                </a:solidFill>
              </a:rPr>
              <a:t>The body turns see-through. Power, air and fan flows move only when that system is working.</a:t>
            </a:r>
            <a:endParaRPr lang="en-US" sz="1400" dirty="0"/>
          </a:p>
        </p:txBody>
      </p:sp>
      <p:sp>
        <p:nvSpPr>
          <p:cNvPr id="10" name="Text 7"/>
          <p:cNvSpPr txBox="1"/>
          <p:nvPr/>
        </p:nvSpPr>
        <p:spPr>
          <a:xfrm>
            <a:off x="7680960" y="4443984"/>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Arial" pitchFamily="34" charset="0"/>
                <a:ea typeface="Arial" pitchFamily="34" charset="-122"/>
                <a:cs typeface="Arial" pitchFamily="34" charset="-120"/>
              </a:rPr>
              <a:t>Data</a:t>
            </a:r>
            <a:endParaRPr lang="en-US" sz="1800" dirty="0"/>
          </a:p>
        </p:txBody>
      </p:sp>
      <p:sp>
        <p:nvSpPr>
          <p:cNvPr id="11" name="Text 8"/>
          <p:cNvSpPr txBox="1"/>
          <p:nvPr/>
        </p:nvSpPr>
        <p:spPr>
          <a:xfrm>
            <a:off x="7680960" y="4809744"/>
            <a:ext cx="3931920" cy="640080"/>
          </a:xfrm>
          <a:prstGeom prst="rect">
            <a:avLst/>
          </a:prstGeom>
          <a:noFill/>
          <a:ln/>
        </p:spPr>
        <p:txBody>
          <a:bodyPr wrap="square" lIns="0" tIns="0" rIns="0" bIns="0" rtlCol="0" anchor="t"/>
          <a:lstStyle/>
          <a:p>
            <a:pPr indent="0" marL="0">
              <a:buNone/>
            </a:pPr>
            <a:r>
              <a:rPr lang="en-US" sz="1400" dirty="0">
                <a:solidFill>
                  <a:schemeClr val="bg2"/>
                </a:solidFill>
              </a:rPr>
              <a:t>Live readings, graphs, recorded runs, CSV export with every parameter and its source.</a:t>
            </a:r>
            <a:endParaRPr lang="en-US" sz="1400" dirty="0"/>
          </a:p>
        </p:txBody>
      </p:sp>
      <p:sp>
        <p:nvSpPr>
          <p:cNvPr id="12" name="Text 9"/>
          <p:cNvSpPr txBox="1"/>
          <p:nvPr/>
        </p:nvSpPr>
        <p:spPr>
          <a:xfrm>
            <a:off x="548640" y="5440680"/>
            <a:ext cx="6766560" cy="457200"/>
          </a:xfrm>
          <a:prstGeom prst="rect">
            <a:avLst/>
          </a:prstGeom>
          <a:noFill/>
          <a:ln/>
        </p:spPr>
        <p:txBody>
          <a:bodyPr wrap="square" lIns="0" tIns="0" rIns="0" bIns="0" rtlCol="0" anchor="t"/>
          <a:lstStyle/>
          <a:p>
            <a:pPr indent="0" marL="0">
              <a:buNone/>
            </a:pPr>
            <a:r>
              <a:rPr lang="en-US" sz="1500" b="1" dirty="0">
                <a:solidFill>
                  <a:schemeClr val="bg1"/>
                </a:solidFill>
              </a:rPr>
              <a:t>One file, RoadsterLab.html. Double-click it on any laptop. No install, no internet.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Every number carries a tag</a:t>
            </a:r>
            <a:endParaRPr lang="en-US" sz="3200" dirty="0"/>
          </a:p>
        </p:txBody>
      </p:sp>
      <p:sp>
        <p:nvSpPr>
          <p:cNvPr id="3" name="Text 1"/>
          <p:cNvSpPr txBox="1"/>
          <p:nvPr/>
        </p:nvSpPr>
        <p:spPr>
          <a:xfrm>
            <a:off x="548640" y="1325880"/>
            <a:ext cx="10515600" cy="548640"/>
          </a:xfrm>
          <a:prstGeom prst="rect">
            <a:avLst/>
          </a:prstGeom>
          <a:noFill/>
          <a:ln/>
        </p:spPr>
        <p:txBody>
          <a:bodyPr wrap="square" lIns="0" tIns="0" rIns="0" bIns="0" rtlCol="0" anchor="t"/>
          <a:lstStyle/>
          <a:p>
            <a:pPr indent="0" marL="0">
              <a:buNone/>
            </a:pPr>
            <a:r>
              <a:rPr lang="en-US" sz="1700" dirty="0">
                <a:solidFill>
                  <a:schemeClr val="bg2"/>
                </a:solidFill>
              </a:rPr>
              <a:t>A guess must never look like a spec. The simulator and every exported file label each value one of three ways.</a:t>
            </a:r>
            <a:endParaRPr lang="en-US" sz="1700" dirty="0"/>
          </a:p>
        </p:txBody>
      </p:sp>
      <p:sp>
        <p:nvSpPr>
          <p:cNvPr id="4" name="Tag R"/>
          <p:cNvSpPr/>
          <p:nvPr/>
        </p:nvSpPr>
        <p:spPr>
          <a:xfrm>
            <a:off x="548640" y="2148840"/>
            <a:ext cx="3520440" cy="3566160"/>
          </a:xfrm>
          <a:prstGeom prst="roundRect">
            <a:avLst>
              <a:gd name="adj" fmla="val 3117"/>
            </a:avLst>
          </a:prstGeom>
          <a:solidFill>
            <a:schemeClr val="tx2"/>
          </a:solidFill>
          <a:ln w="9525">
            <a:solidFill>
              <a:schemeClr val="accent6"/>
            </a:solidFill>
            <a:prstDash val="solid"/>
          </a:ln>
        </p:spPr>
      </p:sp>
      <p:sp>
        <p:nvSpPr>
          <p:cNvPr id="5" name="Text 3"/>
          <p:cNvSpPr txBox="1"/>
          <p:nvPr/>
        </p:nvSpPr>
        <p:spPr>
          <a:xfrm>
            <a:off x="822960" y="2423160"/>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6" name="Text 4"/>
          <p:cNvSpPr txBox="1"/>
          <p:nvPr/>
        </p:nvSpPr>
        <p:spPr>
          <a:xfrm>
            <a:off x="822960" y="2834640"/>
            <a:ext cx="2926080" cy="91440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4</a:t>
            </a:r>
            <a:endParaRPr lang="en-US" sz="5400" dirty="0"/>
          </a:p>
        </p:txBody>
      </p:sp>
      <p:sp>
        <p:nvSpPr>
          <p:cNvPr id="7" name="Text 5"/>
          <p:cNvSpPr txBox="1"/>
          <p:nvPr/>
        </p:nvSpPr>
        <p:spPr>
          <a:xfrm>
            <a:off x="822960" y="3749040"/>
            <a:ext cx="2926080" cy="365760"/>
          </a:xfrm>
          <a:prstGeom prst="rect">
            <a:avLst/>
          </a:prstGeom>
          <a:noFill/>
          <a:ln/>
        </p:spPr>
        <p:txBody>
          <a:bodyPr wrap="square" lIns="0" tIns="0" rIns="0" bIns="0" rtlCol="0" anchor="t"/>
          <a:lstStyle/>
          <a:p>
            <a:pPr indent="0" marL="0">
              <a:buNone/>
            </a:pPr>
            <a:r>
              <a:rPr lang="en-US" sz="1800" b="1" dirty="0">
                <a:solidFill>
                  <a:schemeClr val="bg1"/>
                </a:solidFill>
              </a:rPr>
              <a:t>Reported in public</a:t>
            </a:r>
            <a:endParaRPr lang="en-US" sz="1800" dirty="0"/>
          </a:p>
        </p:txBody>
      </p:sp>
      <p:sp>
        <p:nvSpPr>
          <p:cNvPr id="8" name="Text 6"/>
          <p:cNvSpPr txBox="1"/>
          <p:nvPr/>
        </p:nvSpPr>
        <p:spPr>
          <a:xfrm>
            <a:off x="822960" y="4160520"/>
            <a:ext cx="2971800" cy="1371600"/>
          </a:xfrm>
          <a:prstGeom prst="rect">
            <a:avLst/>
          </a:prstGeom>
          <a:noFill/>
          <a:ln/>
        </p:spPr>
        <p:txBody>
          <a:bodyPr wrap="square" lIns="0" tIns="0" rIns="0" bIns="0" rtlCol="0" anchor="t"/>
          <a:lstStyle/>
          <a:p>
            <a:pPr indent="0" marL="0">
              <a:buNone/>
            </a:pPr>
            <a:r>
              <a:rPr lang="en-US" sz="1400" dirty="0">
                <a:solidFill>
                  <a:schemeClr val="bg2"/>
                </a:solidFill>
              </a:rPr>
              <a:t>Wheel torque 10,000 N·m, tank 600 L, fan suction 2 g, gravity.</a:t>
            </a:r>
            <a:endParaRPr lang="en-US" sz="1400" dirty="0"/>
          </a:p>
        </p:txBody>
      </p:sp>
      <p:sp>
        <p:nvSpPr>
          <p:cNvPr id="9" name="Tag E"/>
          <p:cNvSpPr/>
          <p:nvPr/>
        </p:nvSpPr>
        <p:spPr>
          <a:xfrm>
            <a:off x="4297680" y="2148840"/>
            <a:ext cx="3520440" cy="3566160"/>
          </a:xfrm>
          <a:prstGeom prst="roundRect">
            <a:avLst>
              <a:gd name="adj" fmla="val 3117"/>
            </a:avLst>
          </a:prstGeom>
          <a:solidFill>
            <a:schemeClr val="tx2"/>
          </a:solidFill>
          <a:ln w="9525">
            <a:solidFill>
              <a:schemeClr val="accent6"/>
            </a:solidFill>
            <a:prstDash val="solid"/>
          </a:ln>
        </p:spPr>
      </p:sp>
      <p:sp>
        <p:nvSpPr>
          <p:cNvPr id="10" name="Text 8"/>
          <p:cNvSpPr txBox="1"/>
          <p:nvPr/>
        </p:nvSpPr>
        <p:spPr>
          <a:xfrm>
            <a:off x="4572000" y="2423160"/>
            <a:ext cx="1234440" cy="256032"/>
          </a:xfrm>
          <a:prstGeom prst="rect">
            <a:avLst/>
          </a:prstGeom>
          <a:noFill/>
          <a:ln w="12700">
            <a:solidFill>
              <a:schemeClr val="accent4"/>
            </a:solidFill>
          </a:ln>
        </p:spPr>
        <p:txBody>
          <a:bodyPr wrap="square" lIns="0" tIns="0" rIns="0" bIns="0" rtlCol="0" anchor="ctr"/>
          <a:lstStyle/>
          <a:p>
            <a:pPr algn="ctr" indent="0" marL="0">
              <a:buNone/>
            </a:pPr>
            <a:r>
              <a:rPr lang="en-US" sz="1000" b="1" dirty="0">
                <a:solidFill>
                  <a:schemeClr val="accent4"/>
                </a:solidFill>
              </a:rPr>
              <a:t>ESTIMATE</a:t>
            </a:r>
            <a:endParaRPr lang="en-US" sz="1000" dirty="0"/>
          </a:p>
        </p:txBody>
      </p:sp>
      <p:sp>
        <p:nvSpPr>
          <p:cNvPr id="11" name="Text 9"/>
          <p:cNvSpPr txBox="1"/>
          <p:nvPr/>
        </p:nvSpPr>
        <p:spPr>
          <a:xfrm>
            <a:off x="4572000" y="2834640"/>
            <a:ext cx="2926080" cy="91440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13</a:t>
            </a:r>
            <a:endParaRPr lang="en-US" sz="5400" dirty="0"/>
          </a:p>
        </p:txBody>
      </p:sp>
      <p:sp>
        <p:nvSpPr>
          <p:cNvPr id="12" name="Text 10"/>
          <p:cNvSpPr txBox="1"/>
          <p:nvPr/>
        </p:nvSpPr>
        <p:spPr>
          <a:xfrm>
            <a:off x="4572000" y="3749040"/>
            <a:ext cx="2926080" cy="365760"/>
          </a:xfrm>
          <a:prstGeom prst="rect">
            <a:avLst/>
          </a:prstGeom>
          <a:noFill/>
          <a:ln/>
        </p:spPr>
        <p:txBody>
          <a:bodyPr wrap="square" lIns="0" tIns="0" rIns="0" bIns="0" rtlCol="0" anchor="t"/>
          <a:lstStyle/>
          <a:p>
            <a:pPr indent="0" marL="0">
              <a:buNone/>
            </a:pPr>
            <a:r>
              <a:rPr lang="en-US" sz="1800" b="1" dirty="0">
                <a:solidFill>
                  <a:schemeClr val="bg1"/>
                </a:solidFill>
              </a:rPr>
              <a:t>Our estimates</a:t>
            </a:r>
            <a:endParaRPr lang="en-US" sz="1800" dirty="0"/>
          </a:p>
        </p:txBody>
      </p:sp>
      <p:sp>
        <p:nvSpPr>
          <p:cNvPr id="13" name="Text 11"/>
          <p:cNvSpPr txBox="1"/>
          <p:nvPr/>
        </p:nvSpPr>
        <p:spPr>
          <a:xfrm>
            <a:off x="4572000" y="4160520"/>
            <a:ext cx="2971800" cy="1371600"/>
          </a:xfrm>
          <a:prstGeom prst="rect">
            <a:avLst/>
          </a:prstGeom>
          <a:noFill/>
          <a:ln/>
        </p:spPr>
        <p:txBody>
          <a:bodyPr wrap="square" lIns="0" tIns="0" rIns="0" bIns="0" rtlCol="0" anchor="t"/>
          <a:lstStyle/>
          <a:p>
            <a:pPr indent="0" marL="0">
              <a:buNone/>
            </a:pPr>
            <a:r>
              <a:rPr lang="en-US" sz="1400" dirty="0">
                <a:solidFill>
                  <a:schemeClr val="bg2"/>
                </a:solidFill>
              </a:rPr>
              <a:t>Mass 2,000 kg, tyre grip 1.2, drag 0.30, 300 kg of air at 690 bar, exhaust speed 700 m/s.</a:t>
            </a:r>
            <a:endParaRPr lang="en-US" sz="1400" dirty="0"/>
          </a:p>
        </p:txBody>
      </p:sp>
      <p:sp>
        <p:nvSpPr>
          <p:cNvPr id="14" name="Tag H"/>
          <p:cNvSpPr/>
          <p:nvPr/>
        </p:nvSpPr>
        <p:spPr>
          <a:xfrm>
            <a:off x="8046720" y="2148840"/>
            <a:ext cx="3520440" cy="3566160"/>
          </a:xfrm>
          <a:prstGeom prst="roundRect">
            <a:avLst>
              <a:gd name="adj" fmla="val 3117"/>
            </a:avLst>
          </a:prstGeom>
          <a:solidFill>
            <a:schemeClr val="tx2"/>
          </a:solidFill>
          <a:ln w="9525">
            <a:solidFill>
              <a:schemeClr val="accent6"/>
            </a:solidFill>
            <a:prstDash val="solid"/>
          </a:ln>
        </p:spPr>
      </p:sp>
      <p:sp>
        <p:nvSpPr>
          <p:cNvPr id="15" name="Text 13"/>
          <p:cNvSpPr txBox="1"/>
          <p:nvPr/>
        </p:nvSpPr>
        <p:spPr>
          <a:xfrm>
            <a:off x="8321040" y="2423160"/>
            <a:ext cx="1234440" cy="256032"/>
          </a:xfrm>
          <a:prstGeom prst="rect">
            <a:avLst/>
          </a:prstGeom>
          <a:noFill/>
          <a:ln w="12700">
            <a:solidFill>
              <a:schemeClr val="accent5"/>
            </a:solidFill>
          </a:ln>
        </p:spPr>
        <p:txBody>
          <a:bodyPr wrap="square" lIns="0" tIns="0" rIns="0" bIns="0" rtlCol="0" anchor="ctr"/>
          <a:lstStyle/>
          <a:p>
            <a:pPr algn="ctr" indent="0" marL="0">
              <a:buNone/>
            </a:pPr>
            <a:r>
              <a:rPr lang="en-US" sz="1000" b="1" dirty="0">
                <a:solidFill>
                  <a:schemeClr val="accent5"/>
                </a:solidFill>
              </a:rPr>
              <a:t>HYPOTHETICAL</a:t>
            </a:r>
            <a:endParaRPr lang="en-US" sz="1000" dirty="0"/>
          </a:p>
        </p:txBody>
      </p:sp>
      <p:sp>
        <p:nvSpPr>
          <p:cNvPr id="16" name="Text 14"/>
          <p:cNvSpPr txBox="1"/>
          <p:nvPr/>
        </p:nvSpPr>
        <p:spPr>
          <a:xfrm>
            <a:off x="8321040" y="2834640"/>
            <a:ext cx="2926080" cy="914400"/>
          </a:xfrm>
          <a:prstGeom prst="rect">
            <a:avLst/>
          </a:prstGeom>
          <a:noFill/>
          <a:ln/>
        </p:spPr>
        <p:txBody>
          <a:bodyPr wrap="square" lIns="0" tIns="0" rIns="0" bIns="0" rtlCol="0" anchor="t"/>
          <a:lstStyle/>
          <a:p>
            <a:pPr indent="0" marL="0">
              <a:buNone/>
            </a:pPr>
            <a:r>
              <a:rPr lang="en-US" sz="5400" b="1" dirty="0">
                <a:solidFill>
                  <a:schemeClr val="accent5"/>
                </a:solidFill>
                <a:latin typeface="Arial" pitchFamily="34" charset="0"/>
                <a:ea typeface="Arial" pitchFamily="34" charset="-122"/>
                <a:cs typeface="Arial" pitchFamily="34" charset="-120"/>
              </a:rPr>
              <a:t>13</a:t>
            </a:r>
            <a:endParaRPr lang="en-US" sz="5400" dirty="0"/>
          </a:p>
        </p:txBody>
      </p:sp>
      <p:sp>
        <p:nvSpPr>
          <p:cNvPr id="17" name="Text 15"/>
          <p:cNvSpPr txBox="1"/>
          <p:nvPr/>
        </p:nvSpPr>
        <p:spPr>
          <a:xfrm>
            <a:off x="8321040" y="3749040"/>
            <a:ext cx="2926080" cy="365760"/>
          </a:xfrm>
          <a:prstGeom prst="rect">
            <a:avLst/>
          </a:prstGeom>
          <a:noFill/>
          <a:ln/>
        </p:spPr>
        <p:txBody>
          <a:bodyPr wrap="square" lIns="0" tIns="0" rIns="0" bIns="0" rtlCol="0" anchor="t"/>
          <a:lstStyle/>
          <a:p>
            <a:pPr indent="0" marL="0">
              <a:buNone/>
            </a:pPr>
            <a:r>
              <a:rPr lang="en-US" sz="1800" b="1" dirty="0">
                <a:solidFill>
                  <a:schemeClr val="bg1"/>
                </a:solidFill>
              </a:rPr>
              <a:t>Our design</a:t>
            </a:r>
            <a:endParaRPr lang="en-US" sz="1800" dirty="0"/>
          </a:p>
        </p:txBody>
      </p:sp>
      <p:sp>
        <p:nvSpPr>
          <p:cNvPr id="18" name="Text 16"/>
          <p:cNvSpPr txBox="1"/>
          <p:nvPr/>
        </p:nvSpPr>
        <p:spPr>
          <a:xfrm>
            <a:off x="8321040" y="4160520"/>
            <a:ext cx="2971800" cy="1371600"/>
          </a:xfrm>
          <a:prstGeom prst="rect">
            <a:avLst/>
          </a:prstGeom>
          <a:noFill/>
          <a:ln/>
        </p:spPr>
        <p:txBody>
          <a:bodyPr wrap="square" lIns="0" tIns="0" rIns="0" bIns="0" rtlCol="0" anchor="t"/>
          <a:lstStyle/>
          <a:p>
            <a:pPr indent="0" marL="0">
              <a:buNone/>
            </a:pPr>
            <a:r>
              <a:rPr lang="en-US" sz="1400" dirty="0">
                <a:solidFill>
                  <a:schemeClr val="bg2"/>
                </a:solidFill>
              </a:rPr>
              <a:t>Where all 10 thrusters sit and how hard each pushes, the pressure regulator, the controller gains.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120 times a second, every force is computed and applied</a:t>
            </a:r>
            <a:endParaRPr lang="en-US" sz="3200" dirty="0"/>
          </a:p>
        </p:txBody>
      </p:sp>
      <p:pic>
        <p:nvPicPr>
          <p:cNvPr id="3" name="Systems render" descr="C:\Users\arko4\Desktop\Roadster Simulation\shots\systems.jpg">    </p:cNvPr>
          <p:cNvPicPr>
            <a:picLocks noChangeAspect="1"/>
          </p:cNvPicPr>
          <p:nvPr/>
        </p:nvPicPr>
        <p:blipFill>
          <a:blip r:embed="rId1"/>
          <a:srcRect l="0" r="0" t="0" b="0"/>
          <a:stretch/>
        </p:blipFill>
        <p:spPr>
          <a:xfrm>
            <a:off x="6675120" y="1371600"/>
            <a:ext cx="4937760" cy="2779776"/>
          </a:xfrm>
          <a:prstGeom prst="rect">
            <a:avLst/>
          </a:prstGeom>
        </p:spPr>
      </p:pic>
      <p:sp>
        <p:nvSpPr>
          <p:cNvPr id="4" name="Step 1"/>
          <p:cNvSpPr/>
          <p:nvPr/>
        </p:nvSpPr>
        <p:spPr>
          <a:xfrm>
            <a:off x="548640" y="1371600"/>
            <a:ext cx="502920" cy="502920"/>
          </a:xfrm>
          <a:prstGeom prst="ellipse">
            <a:avLst/>
          </a:prstGeom>
          <a:solidFill>
            <a:schemeClr val="accent1"/>
          </a:solidFill>
          <a:ln/>
        </p:spPr>
      </p:sp>
      <p:sp>
        <p:nvSpPr>
          <p:cNvPr id="5" name="Text 2"/>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3"/>
          <p:cNvSpPr txBox="1"/>
          <p:nvPr/>
        </p:nvSpPr>
        <p:spPr>
          <a:xfrm>
            <a:off x="1280160" y="1353312"/>
            <a:ext cx="5120640" cy="365760"/>
          </a:xfrm>
          <a:prstGeom prst="rect">
            <a:avLst/>
          </a:prstGeom>
          <a:noFill/>
          <a:ln/>
        </p:spPr>
        <p:txBody>
          <a:bodyPr wrap="square" lIns="0" tIns="0" rIns="0" bIns="0" rtlCol="0" anchor="t"/>
          <a:lstStyle/>
          <a:p>
            <a:pPr indent="0" marL="0">
              <a:buNone/>
            </a:pPr>
            <a:r>
              <a:rPr lang="en-US" sz="1800" b="1" dirty="0">
                <a:solidFill>
                  <a:schemeClr val="bg1"/>
                </a:solidFill>
              </a:rPr>
              <a:t>Measure</a:t>
            </a:r>
            <a:endParaRPr lang="en-US" sz="1800" dirty="0"/>
          </a:p>
        </p:txBody>
      </p:sp>
      <p:sp>
        <p:nvSpPr>
          <p:cNvPr id="7" name="Text 4"/>
          <p:cNvSpPr txBox="1"/>
          <p:nvPr/>
        </p:nvSpPr>
        <p:spPr>
          <a:xfrm>
            <a:off x="1280160" y="1719072"/>
            <a:ext cx="5120640" cy="640080"/>
          </a:xfrm>
          <a:prstGeom prst="rect">
            <a:avLst/>
          </a:prstGeom>
          <a:noFill/>
          <a:ln/>
        </p:spPr>
        <p:txBody>
          <a:bodyPr wrap="square" lIns="0" tIns="0" rIns="0" bIns="0" rtlCol="0" anchor="t"/>
          <a:lstStyle/>
          <a:p>
            <a:pPr indent="0" marL="0">
              <a:buNone/>
            </a:pPr>
            <a:r>
              <a:rPr lang="en-US" sz="1400" dirty="0">
                <a:solidFill>
                  <a:schemeClr val="bg2"/>
                </a:solidFill>
              </a:rPr>
              <a:t>Four rays find where each tyre touches the ground, or a ramp, or a ceiling.</a:t>
            </a:r>
            <a:endParaRPr lang="en-US" sz="1400" dirty="0"/>
          </a:p>
        </p:txBody>
      </p:sp>
      <p:sp>
        <p:nvSpPr>
          <p:cNvPr id="8" name="Step 2"/>
          <p:cNvSpPr/>
          <p:nvPr/>
        </p:nvSpPr>
        <p:spPr>
          <a:xfrm>
            <a:off x="548640" y="2487168"/>
            <a:ext cx="502920" cy="502920"/>
          </a:xfrm>
          <a:prstGeom prst="ellipse">
            <a:avLst/>
          </a:prstGeom>
          <a:solidFill>
            <a:schemeClr val="accent1"/>
          </a:solidFill>
          <a:ln/>
        </p:spPr>
      </p:sp>
      <p:sp>
        <p:nvSpPr>
          <p:cNvPr id="9" name="Text 6"/>
          <p:cNvSpPr txBox="1"/>
          <p:nvPr/>
        </p:nvSpPr>
        <p:spPr>
          <a:xfrm>
            <a:off x="548640" y="248716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Text 7"/>
          <p:cNvSpPr txBox="1"/>
          <p:nvPr/>
        </p:nvSpPr>
        <p:spPr>
          <a:xfrm>
            <a:off x="1280160" y="2468880"/>
            <a:ext cx="5120640" cy="365760"/>
          </a:xfrm>
          <a:prstGeom prst="rect">
            <a:avLst/>
          </a:prstGeom>
          <a:noFill/>
          <a:ln/>
        </p:spPr>
        <p:txBody>
          <a:bodyPr wrap="square" lIns="0" tIns="0" rIns="0" bIns="0" rtlCol="0" anchor="t"/>
          <a:lstStyle/>
          <a:p>
            <a:pPr indent="0" marL="0">
              <a:buNone/>
            </a:pPr>
            <a:r>
              <a:rPr lang="en-US" sz="1800" b="1" dirty="0">
                <a:solidFill>
                  <a:schemeClr val="bg1"/>
                </a:solidFill>
              </a:rPr>
              <a:t>Compute</a:t>
            </a:r>
            <a:endParaRPr lang="en-US" sz="1800" dirty="0"/>
          </a:p>
        </p:txBody>
      </p:sp>
      <p:sp>
        <p:nvSpPr>
          <p:cNvPr id="11" name="Text 8"/>
          <p:cNvSpPr txBox="1"/>
          <p:nvPr/>
        </p:nvSpPr>
        <p:spPr>
          <a:xfrm>
            <a:off x="1280160" y="2834640"/>
            <a:ext cx="5120640" cy="640080"/>
          </a:xfrm>
          <a:prstGeom prst="rect">
            <a:avLst/>
          </a:prstGeom>
          <a:noFill/>
          <a:ln/>
        </p:spPr>
        <p:txBody>
          <a:bodyPr wrap="square" lIns="0" tIns="0" rIns="0" bIns="0" rtlCol="0" anchor="t"/>
          <a:lstStyle/>
          <a:p>
            <a:pPr indent="0" marL="0">
              <a:buNone/>
            </a:pPr>
            <a:r>
              <a:rPr lang="en-US" sz="1400" dirty="0">
                <a:solidFill>
                  <a:schemeClr val="bg2"/>
                </a:solidFill>
              </a:rPr>
              <a:t>Spring, tyre grip, drag, fan suction and thrust, each in newtons.</a:t>
            </a:r>
            <a:endParaRPr lang="en-US" sz="1400" dirty="0"/>
          </a:p>
        </p:txBody>
      </p:sp>
      <p:sp>
        <p:nvSpPr>
          <p:cNvPr id="12" name="Step 3"/>
          <p:cNvSpPr/>
          <p:nvPr/>
        </p:nvSpPr>
        <p:spPr>
          <a:xfrm>
            <a:off x="548640" y="3602736"/>
            <a:ext cx="502920" cy="502920"/>
          </a:xfrm>
          <a:prstGeom prst="ellipse">
            <a:avLst/>
          </a:prstGeom>
          <a:solidFill>
            <a:schemeClr val="accent1"/>
          </a:solidFill>
          <a:ln/>
        </p:spPr>
      </p:sp>
      <p:sp>
        <p:nvSpPr>
          <p:cNvPr id="13" name="Text 10"/>
          <p:cNvSpPr txBox="1"/>
          <p:nvPr/>
        </p:nvSpPr>
        <p:spPr>
          <a:xfrm>
            <a:off x="548640" y="3602736"/>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4" name="Text 11"/>
          <p:cNvSpPr txBox="1"/>
          <p:nvPr/>
        </p:nvSpPr>
        <p:spPr>
          <a:xfrm>
            <a:off x="1280160" y="3584448"/>
            <a:ext cx="5120640" cy="365760"/>
          </a:xfrm>
          <a:prstGeom prst="rect">
            <a:avLst/>
          </a:prstGeom>
          <a:noFill/>
          <a:ln/>
        </p:spPr>
        <p:txBody>
          <a:bodyPr wrap="square" lIns="0" tIns="0" rIns="0" bIns="0" rtlCol="0" anchor="t"/>
          <a:lstStyle/>
          <a:p>
            <a:pPr indent="0" marL="0">
              <a:buNone/>
            </a:pPr>
            <a:r>
              <a:rPr lang="en-US" sz="1800" b="1" dirty="0">
                <a:solidFill>
                  <a:schemeClr val="bg1"/>
                </a:solidFill>
              </a:rPr>
              <a:t>Apply at the real point</a:t>
            </a:r>
            <a:endParaRPr lang="en-US" sz="1800" dirty="0"/>
          </a:p>
        </p:txBody>
      </p:sp>
      <p:sp>
        <p:nvSpPr>
          <p:cNvPr id="15" name="Text 12"/>
          <p:cNvSpPr txBox="1"/>
          <p:nvPr/>
        </p:nvSpPr>
        <p:spPr>
          <a:xfrm>
            <a:off x="1280160" y="3950208"/>
            <a:ext cx="5120640" cy="640080"/>
          </a:xfrm>
          <a:prstGeom prst="rect">
            <a:avLst/>
          </a:prstGeom>
          <a:noFill/>
          <a:ln/>
        </p:spPr>
        <p:txBody>
          <a:bodyPr wrap="square" lIns="0" tIns="0" rIns="0" bIns="0" rtlCol="0" anchor="t"/>
          <a:lstStyle/>
          <a:p>
            <a:pPr indent="0" marL="0">
              <a:buNone/>
            </a:pPr>
            <a:r>
              <a:rPr lang="en-US" sz="1400" dirty="0">
                <a:solidFill>
                  <a:schemeClr val="bg2"/>
                </a:solidFill>
              </a:rPr>
              <a:t>A force off the centre of mass also spins the car. Torque = r × F, nothing faked.</a:t>
            </a:r>
            <a:endParaRPr lang="en-US" sz="1400" dirty="0"/>
          </a:p>
        </p:txBody>
      </p:sp>
      <p:sp>
        <p:nvSpPr>
          <p:cNvPr id="16" name="Step 4"/>
          <p:cNvSpPr/>
          <p:nvPr/>
        </p:nvSpPr>
        <p:spPr>
          <a:xfrm>
            <a:off x="548640" y="4718304"/>
            <a:ext cx="502920" cy="502920"/>
          </a:xfrm>
          <a:prstGeom prst="ellipse">
            <a:avLst/>
          </a:prstGeom>
          <a:solidFill>
            <a:schemeClr val="accent1"/>
          </a:solidFill>
          <a:ln/>
        </p:spPr>
      </p:sp>
      <p:sp>
        <p:nvSpPr>
          <p:cNvPr id="17" name="Text 14"/>
          <p:cNvSpPr txBox="1"/>
          <p:nvPr/>
        </p:nvSpPr>
        <p:spPr>
          <a:xfrm>
            <a:off x="548640" y="4718304"/>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8" name="Text 15"/>
          <p:cNvSpPr txBox="1"/>
          <p:nvPr/>
        </p:nvSpPr>
        <p:spPr>
          <a:xfrm>
            <a:off x="1280160" y="4700016"/>
            <a:ext cx="5120640" cy="365760"/>
          </a:xfrm>
          <a:prstGeom prst="rect">
            <a:avLst/>
          </a:prstGeom>
          <a:noFill/>
          <a:ln/>
        </p:spPr>
        <p:txBody>
          <a:bodyPr wrap="square" lIns="0" tIns="0" rIns="0" bIns="0" rtlCol="0" anchor="t"/>
          <a:lstStyle/>
          <a:p>
            <a:pPr indent="0" marL="0">
              <a:buNone/>
            </a:pPr>
            <a:r>
              <a:rPr lang="en-US" sz="1800" b="1" dirty="0">
                <a:solidFill>
                  <a:schemeClr val="bg1"/>
                </a:solidFill>
              </a:rPr>
              <a:t>Step</a:t>
            </a:r>
            <a:endParaRPr lang="en-US" sz="1800" dirty="0"/>
          </a:p>
        </p:txBody>
      </p:sp>
      <p:sp>
        <p:nvSpPr>
          <p:cNvPr id="19" name="Text 16"/>
          <p:cNvSpPr txBox="1"/>
          <p:nvPr/>
        </p:nvSpPr>
        <p:spPr>
          <a:xfrm>
            <a:off x="1280160" y="5065776"/>
            <a:ext cx="5120640" cy="640080"/>
          </a:xfrm>
          <a:prstGeom prst="rect">
            <a:avLst/>
          </a:prstGeom>
          <a:noFill/>
          <a:ln/>
        </p:spPr>
        <p:txBody>
          <a:bodyPr wrap="square" lIns="0" tIns="0" rIns="0" bIns="0" rtlCol="0" anchor="t"/>
          <a:lstStyle/>
          <a:p>
            <a:pPr indent="0" marL="0">
              <a:buNone/>
            </a:pPr>
            <a:r>
              <a:rPr lang="en-US" sz="1400" dirty="0">
                <a:solidFill>
                  <a:schemeClr val="bg2"/>
                </a:solidFill>
              </a:rPr>
              <a:t>The Rapier engine moves the car 1/120 s. Same result at 30 or 144 fps.</a:t>
            </a:r>
            <a:endParaRPr lang="en-US" sz="1400" dirty="0"/>
          </a:p>
        </p:txBody>
      </p:sp>
      <p:sp>
        <p:nvSpPr>
          <p:cNvPr id="20" name="Text 17"/>
          <p:cNvSpPr txBox="1"/>
          <p:nvPr/>
        </p:nvSpPr>
        <p:spPr>
          <a:xfrm>
            <a:off x="6675120" y="4343400"/>
            <a:ext cx="4937760" cy="731520"/>
          </a:xfrm>
          <a:prstGeom prst="rect">
            <a:avLst/>
          </a:prstGeom>
          <a:noFill/>
          <a:ln/>
        </p:spPr>
        <p:txBody>
          <a:bodyPr wrap="square" lIns="0" tIns="0" rIns="0" bIns="0" rtlCol="0" anchor="t"/>
          <a:lstStyle/>
          <a:p>
            <a:pPr indent="0" marL="0">
              <a:buNone/>
            </a:pPr>
            <a:r>
              <a:rPr lang="en-US" sz="1500" dirty="0">
                <a:solidFill>
                  <a:schemeClr val="bg2"/>
                </a:solidFill>
              </a:rPr>
              <a:t>The arrows in the simulator are these same forces, drawn where they act.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A thruster turns kilograms of air into push</a:t>
            </a:r>
            <a:endParaRPr lang="en-US" sz="3200" dirty="0"/>
          </a:p>
        </p:txBody>
      </p:sp>
      <p:pic>
        <p:nvPicPr>
          <p:cNvPr id="3" name="Hover render" descr="C:\Users\arko4\Desktop\Roadster Simulation\shots\hover.jpg">    </p:cNvPr>
          <p:cNvPicPr>
            <a:picLocks noChangeAspect="1"/>
          </p:cNvPicPr>
          <p:nvPr/>
        </p:nvPicPr>
        <p:blipFill>
          <a:blip r:embed="rId1"/>
          <a:srcRect l="0" r="0" t="0" b="0"/>
          <a:stretch/>
        </p:blipFill>
        <p:spPr>
          <a:xfrm>
            <a:off x="548640" y="1371600"/>
            <a:ext cx="5852160" cy="3291840"/>
          </a:xfrm>
          <a:prstGeom prst="rect">
            <a:avLst/>
          </a:prstGeom>
        </p:spPr>
      </p:pic>
      <p:sp>
        <p:nvSpPr>
          <p:cNvPr id="4" name="Text 1"/>
          <p:cNvSpPr txBox="1"/>
          <p:nvPr/>
        </p:nvSpPr>
        <p:spPr>
          <a:xfrm>
            <a:off x="6858000" y="1325880"/>
            <a:ext cx="475488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F = ṁ × vₑ</a:t>
            </a:r>
            <a:endParaRPr lang="en-US" sz="4800" dirty="0"/>
          </a:p>
        </p:txBody>
      </p:sp>
      <p:sp>
        <p:nvSpPr>
          <p:cNvPr id="5" name="Text 2"/>
          <p:cNvSpPr txBox="1"/>
          <p:nvPr/>
        </p:nvSpPr>
        <p:spPr>
          <a:xfrm>
            <a:off x="6858000" y="2286000"/>
            <a:ext cx="4754880" cy="914400"/>
          </a:xfrm>
          <a:prstGeom prst="rect">
            <a:avLst/>
          </a:prstGeom>
          <a:noFill/>
          <a:ln/>
        </p:spPr>
        <p:txBody>
          <a:bodyPr wrap="square" lIns="0" tIns="0" rIns="0" bIns="0" rtlCol="0" anchor="t"/>
          <a:lstStyle/>
          <a:p>
            <a:pPr indent="0" marL="0">
              <a:buNone/>
            </a:pPr>
            <a:r>
              <a:rPr lang="en-US" sz="1500" dirty="0">
                <a:solidFill>
                  <a:schemeClr val="bg2"/>
                </a:solidFill>
              </a:rPr>
              <a:t>Push equals air flow (kg/s) times exhaust speed (about 700 m/s). So 1 kg of air per second gives 0.7 kN.</a:t>
            </a:r>
            <a:endParaRPr lang="en-US" sz="1500" dirty="0"/>
          </a:p>
        </p:txBody>
      </p:sp>
      <p:sp>
        <p:nvSpPr>
          <p:cNvPr id="6" name="Text 3"/>
          <p:cNvSpPr txBox="1"/>
          <p:nvPr/>
        </p:nvSpPr>
        <p:spPr>
          <a:xfrm>
            <a:off x="6858000" y="3337560"/>
            <a:ext cx="228600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300 kg</a:t>
            </a:r>
            <a:endParaRPr lang="en-US" sz="4000" dirty="0"/>
          </a:p>
        </p:txBody>
      </p:sp>
      <p:sp>
        <p:nvSpPr>
          <p:cNvPr id="7" name="Text 4"/>
          <p:cNvSpPr txBox="1"/>
          <p:nvPr/>
        </p:nvSpPr>
        <p:spPr>
          <a:xfrm>
            <a:off x="6858000" y="4087368"/>
            <a:ext cx="2286000" cy="548640"/>
          </a:xfrm>
          <a:prstGeom prst="rect">
            <a:avLst/>
          </a:prstGeom>
          <a:noFill/>
          <a:ln/>
        </p:spPr>
        <p:txBody>
          <a:bodyPr wrap="square" lIns="0" tIns="0" rIns="0" bIns="0" rtlCol="0" anchor="t"/>
          <a:lstStyle/>
          <a:p>
            <a:pPr indent="0" marL="0">
              <a:buNone/>
            </a:pPr>
            <a:r>
              <a:rPr lang="en-US" sz="1300" dirty="0">
                <a:solidFill>
                  <a:schemeClr val="bg2"/>
                </a:solidFill>
              </a:rPr>
              <a:t>of air in the 600 L tank</a:t>
            </a:r>
            <a:endParaRPr lang="en-US" sz="1300" dirty="0"/>
          </a:p>
        </p:txBody>
      </p:sp>
      <p:sp>
        <p:nvSpPr>
          <p:cNvPr id="8" name="Text 5"/>
          <p:cNvSpPr txBox="1"/>
          <p:nvPr/>
        </p:nvSpPr>
        <p:spPr>
          <a:xfrm>
            <a:off x="6858000" y="4636008"/>
            <a:ext cx="1234440" cy="256032"/>
          </a:xfrm>
          <a:prstGeom prst="rect">
            <a:avLst/>
          </a:prstGeom>
          <a:noFill/>
          <a:ln w="12700">
            <a:solidFill>
              <a:schemeClr val="accent4"/>
            </a:solidFill>
          </a:ln>
        </p:spPr>
        <p:txBody>
          <a:bodyPr wrap="square" lIns="0" tIns="0" rIns="0" bIns="0" rtlCol="0" anchor="ctr"/>
          <a:lstStyle/>
          <a:p>
            <a:pPr algn="ctr" indent="0" marL="0">
              <a:buNone/>
            </a:pPr>
            <a:r>
              <a:rPr lang="en-US" sz="1000" b="1" dirty="0">
                <a:solidFill>
                  <a:schemeClr val="accent4"/>
                </a:solidFill>
              </a:rPr>
              <a:t>ESTIMATE</a:t>
            </a:r>
            <a:endParaRPr lang="en-US" sz="1000" dirty="0"/>
          </a:p>
        </p:txBody>
      </p:sp>
      <p:sp>
        <p:nvSpPr>
          <p:cNvPr id="9" name="Text 6"/>
          <p:cNvSpPr txBox="1"/>
          <p:nvPr/>
        </p:nvSpPr>
        <p:spPr>
          <a:xfrm>
            <a:off x="9326880" y="3337560"/>
            <a:ext cx="2286000" cy="731520"/>
          </a:xfrm>
          <a:prstGeom prst="rect">
            <a:avLst/>
          </a:prstGeom>
          <a:noFill/>
          <a:ln/>
        </p:spPr>
        <p:txBody>
          <a:bodyPr wrap="square" lIns="0" tIns="0" rIns="0" bIns="0" rtlCol="0" anchor="t"/>
          <a:lstStyle/>
          <a:p>
            <a:pPr indent="0" marL="0">
              <a:buNone/>
            </a:pPr>
            <a:r>
              <a:rPr lang="en-US" sz="4000" b="1" dirty="0">
                <a:solidFill>
                  <a:schemeClr val="bg1"/>
                </a:solidFill>
                <a:latin typeface="Arial" pitchFamily="34" charset="0"/>
                <a:ea typeface="Arial" pitchFamily="34" charset="-122"/>
                <a:cs typeface="Arial" pitchFamily="34" charset="-120"/>
              </a:rPr>
              <a:t>32 kg/s</a:t>
            </a:r>
            <a:endParaRPr lang="en-US" sz="4000" dirty="0"/>
          </a:p>
        </p:txBody>
      </p:sp>
      <p:sp>
        <p:nvSpPr>
          <p:cNvPr id="10" name="Text 7"/>
          <p:cNvSpPr txBox="1"/>
          <p:nvPr/>
        </p:nvSpPr>
        <p:spPr>
          <a:xfrm>
            <a:off x="9326880" y="4087368"/>
            <a:ext cx="2286000" cy="548640"/>
          </a:xfrm>
          <a:prstGeom prst="rect">
            <a:avLst/>
          </a:prstGeom>
          <a:noFill/>
          <a:ln/>
        </p:spPr>
        <p:txBody>
          <a:bodyPr wrap="square" lIns="0" tIns="0" rIns="0" bIns="0" rtlCol="0" anchor="t"/>
          <a:lstStyle/>
          <a:p>
            <a:pPr indent="0" marL="0">
              <a:buNone/>
            </a:pPr>
            <a:r>
              <a:rPr lang="en-US" sz="1300" dirty="0">
                <a:solidFill>
                  <a:schemeClr val="bg2"/>
                </a:solidFill>
              </a:rPr>
              <a:t>to hold the car up in a hover</a:t>
            </a:r>
            <a:endParaRPr lang="en-US" sz="1300" dirty="0"/>
          </a:p>
        </p:txBody>
      </p:sp>
      <p:sp>
        <p:nvSpPr>
          <p:cNvPr id="11" name="Text 8"/>
          <p:cNvSpPr txBox="1"/>
          <p:nvPr/>
        </p:nvSpPr>
        <p:spPr>
          <a:xfrm>
            <a:off x="9326880" y="4636008"/>
            <a:ext cx="1234440" cy="256032"/>
          </a:xfrm>
          <a:prstGeom prst="rect">
            <a:avLst/>
          </a:prstGeom>
          <a:noFill/>
          <a:ln w="12700">
            <a:solidFill>
              <a:schemeClr val="accent4"/>
            </a:solidFill>
          </a:ln>
        </p:spPr>
        <p:txBody>
          <a:bodyPr wrap="square" lIns="0" tIns="0" rIns="0" bIns="0" rtlCol="0" anchor="ctr"/>
          <a:lstStyle/>
          <a:p>
            <a:pPr algn="ctr" indent="0" marL="0">
              <a:buNone/>
            </a:pPr>
            <a:r>
              <a:rPr lang="en-US" sz="1000" b="1" dirty="0">
                <a:solidFill>
                  <a:schemeClr val="accent4"/>
                </a:solidFill>
              </a:rPr>
              <a:t>ESTIMATE</a:t>
            </a:r>
            <a:endParaRPr lang="en-US" sz="1000" dirty="0"/>
          </a:p>
        </p:txBody>
      </p:sp>
      <p:sp>
        <p:nvSpPr>
          <p:cNvPr id="12" name="Text 9"/>
          <p:cNvSpPr txBox="1"/>
          <p:nvPr/>
        </p:nvSpPr>
        <p:spPr>
          <a:xfrm>
            <a:off x="548640" y="4892040"/>
            <a:ext cx="11064240" cy="822960"/>
          </a:xfrm>
          <a:prstGeom prst="rect">
            <a:avLst/>
          </a:prstGeom>
          <a:noFill/>
          <a:ln/>
        </p:spPr>
        <p:txBody>
          <a:bodyPr wrap="square" lIns="0" tIns="0" rIns="0" bIns="0" rtlCol="0" anchor="t"/>
          <a:lstStyle/>
          <a:p>
            <a:pPr indent="0" marL="0">
              <a:buNone/>
            </a:pPr>
            <a:r>
              <a:rPr lang="en-US" sz="1600" dirty="0">
                <a:solidFill>
                  <a:schemeClr val="bg1"/>
                </a:solidFill>
              </a:rPr>
              <a:t>Full boost empties the tank in under 5 s. A hover lasts about 9 s, so the hover mode lands itself when 30 % of the air is left. Flying around all day is not possible with this tank.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Suction is what holds it upside down</a:t>
            </a:r>
            <a:endParaRPr lang="en-US" sz="3200" dirty="0"/>
          </a:p>
        </p:txBody>
      </p:sp>
      <p:pic>
        <p:nvPicPr>
          <p:cNvPr id="3" name="Ceiling hold render" descr="C:\Users\arko4\Desktop\Roadster Simulation\shots\ramp_hold.jpg">    </p:cNvPr>
          <p:cNvPicPr>
            <a:picLocks noChangeAspect="1"/>
          </p:cNvPicPr>
          <p:nvPr/>
        </p:nvPicPr>
        <p:blipFill>
          <a:blip r:embed="rId1"/>
          <a:srcRect l="0" r="0" t="0" b="0"/>
          <a:stretch/>
        </p:blipFill>
        <p:spPr>
          <a:xfrm>
            <a:off x="5577840" y="1371600"/>
            <a:ext cx="6035040" cy="3392424"/>
          </a:xfrm>
          <a:prstGeom prst="rect">
            <a:avLst/>
          </a:prstGeom>
        </p:spPr>
      </p:pic>
      <p:sp>
        <p:nvSpPr>
          <p:cNvPr id="4" name="Suction row 0"/>
          <p:cNvSpPr/>
          <p:nvPr/>
        </p:nvSpPr>
        <p:spPr>
          <a:xfrm>
            <a:off x="548640" y="1463040"/>
            <a:ext cx="4754880" cy="777240"/>
          </a:xfrm>
          <a:prstGeom prst="roundRect">
            <a:avLst>
              <a:gd name="adj" fmla="val 14118"/>
            </a:avLst>
          </a:prstGeom>
          <a:solidFill>
            <a:schemeClr val="tx2"/>
          </a:solidFill>
          <a:ln w="9525">
            <a:solidFill>
              <a:schemeClr val="accent6"/>
            </a:solidFill>
            <a:prstDash val="solid"/>
          </a:ln>
        </p:spPr>
      </p:sp>
      <p:sp>
        <p:nvSpPr>
          <p:cNvPr id="5" name="Text 2"/>
          <p:cNvSpPr txBox="1"/>
          <p:nvPr/>
        </p:nvSpPr>
        <p:spPr>
          <a:xfrm>
            <a:off x="777240" y="1664208"/>
            <a:ext cx="3291840" cy="411480"/>
          </a:xfrm>
          <a:prstGeom prst="rect">
            <a:avLst/>
          </a:prstGeom>
          <a:noFill/>
          <a:ln/>
        </p:spPr>
        <p:txBody>
          <a:bodyPr wrap="square" lIns="0" tIns="0" rIns="0" bIns="0" rtlCol="0" anchor="t"/>
          <a:lstStyle/>
          <a:p>
            <a:pPr indent="0" marL="0">
              <a:buNone/>
            </a:pPr>
            <a:r>
              <a:rPr lang="en-US" sz="1500" dirty="0">
                <a:solidFill>
                  <a:schemeClr val="bg1"/>
                </a:solidFill>
              </a:rPr>
              <a:t>Fans pull the car toward the surface</a:t>
            </a:r>
            <a:endParaRPr lang="en-US" sz="1500" dirty="0"/>
          </a:p>
        </p:txBody>
      </p:sp>
      <p:sp>
        <p:nvSpPr>
          <p:cNvPr id="6" name="Text 3"/>
          <p:cNvSpPr txBox="1"/>
          <p:nvPr/>
        </p:nvSpPr>
        <p:spPr>
          <a:xfrm>
            <a:off x="3931920" y="1572768"/>
            <a:ext cx="1188720" cy="548640"/>
          </a:xfrm>
          <a:prstGeom prst="rect">
            <a:avLst/>
          </a:prstGeom>
          <a:noFill/>
          <a:ln/>
        </p:spPr>
        <p:txBody>
          <a:bodyPr wrap="square" lIns="0" tIns="0" rIns="0" bIns="0" rtlCol="0" anchor="t"/>
          <a:lstStyle/>
          <a:p>
            <a:pPr algn="r" indent="0" marL="0">
              <a:buNone/>
            </a:pPr>
            <a:r>
              <a:rPr lang="en-US" sz="2800" b="1" dirty="0">
                <a:solidFill>
                  <a:schemeClr val="accent1"/>
                </a:solidFill>
                <a:latin typeface="Arial" pitchFamily="34" charset="0"/>
                <a:ea typeface="Arial" pitchFamily="34" charset="-122"/>
                <a:cs typeface="Arial" pitchFamily="34" charset="-120"/>
              </a:rPr>
              <a:t>2 g</a:t>
            </a:r>
            <a:endParaRPr lang="en-US" sz="2800" dirty="0"/>
          </a:p>
        </p:txBody>
      </p:sp>
      <p:sp>
        <p:nvSpPr>
          <p:cNvPr id="7" name="Suction row 1"/>
          <p:cNvSpPr/>
          <p:nvPr/>
        </p:nvSpPr>
        <p:spPr>
          <a:xfrm>
            <a:off x="548640" y="2423160"/>
            <a:ext cx="4754880" cy="777240"/>
          </a:xfrm>
          <a:prstGeom prst="roundRect">
            <a:avLst>
              <a:gd name="adj" fmla="val 14118"/>
            </a:avLst>
          </a:prstGeom>
          <a:solidFill>
            <a:schemeClr val="tx2"/>
          </a:solidFill>
          <a:ln w="9525">
            <a:solidFill>
              <a:schemeClr val="accent6"/>
            </a:solidFill>
            <a:prstDash val="solid"/>
          </a:ln>
        </p:spPr>
      </p:sp>
      <p:sp>
        <p:nvSpPr>
          <p:cNvPr id="8" name="Text 5"/>
          <p:cNvSpPr txBox="1"/>
          <p:nvPr/>
        </p:nvSpPr>
        <p:spPr>
          <a:xfrm>
            <a:off x="777240" y="2624328"/>
            <a:ext cx="3291840" cy="411480"/>
          </a:xfrm>
          <a:prstGeom prst="rect">
            <a:avLst/>
          </a:prstGeom>
          <a:noFill/>
          <a:ln/>
        </p:spPr>
        <p:txBody>
          <a:bodyPr wrap="square" lIns="0" tIns="0" rIns="0" bIns="0" rtlCol="0" anchor="t"/>
          <a:lstStyle/>
          <a:p>
            <a:pPr indent="0" marL="0">
              <a:buNone/>
            </a:pPr>
            <a:r>
              <a:rPr lang="en-US" sz="1500" dirty="0">
                <a:solidFill>
                  <a:schemeClr val="bg1"/>
                </a:solidFill>
              </a:rPr>
              <a:t>Gravity pulls it away from the ceiling</a:t>
            </a:r>
            <a:endParaRPr lang="en-US" sz="1500" dirty="0"/>
          </a:p>
        </p:txBody>
      </p:sp>
      <p:sp>
        <p:nvSpPr>
          <p:cNvPr id="9" name="Text 6"/>
          <p:cNvSpPr txBox="1"/>
          <p:nvPr/>
        </p:nvSpPr>
        <p:spPr>
          <a:xfrm>
            <a:off x="3931920" y="2532888"/>
            <a:ext cx="1188720" cy="548640"/>
          </a:xfrm>
          <a:prstGeom prst="rect">
            <a:avLst/>
          </a:prstGeom>
          <a:noFill/>
          <a:ln/>
        </p:spPr>
        <p:txBody>
          <a:bodyPr wrap="square" lIns="0" tIns="0" rIns="0" bIns="0" rtlCol="0" anchor="t"/>
          <a:lstStyle/>
          <a:p>
            <a:pPr algn="r" indent="0" marL="0">
              <a:buNone/>
            </a:pPr>
            <a:r>
              <a:rPr lang="en-US" sz="2800" b="1" dirty="0">
                <a:solidFill>
                  <a:schemeClr val="accent2"/>
                </a:solidFill>
                <a:latin typeface="Arial" pitchFamily="34" charset="0"/>
                <a:ea typeface="Arial" pitchFamily="34" charset="-122"/>
                <a:cs typeface="Arial" pitchFamily="34" charset="-120"/>
              </a:rPr>
              <a:t>−1 g</a:t>
            </a:r>
            <a:endParaRPr lang="en-US" sz="2800" dirty="0"/>
          </a:p>
        </p:txBody>
      </p:sp>
      <p:sp>
        <p:nvSpPr>
          <p:cNvPr id="10" name="Suction row 2"/>
          <p:cNvSpPr/>
          <p:nvPr/>
        </p:nvSpPr>
        <p:spPr>
          <a:xfrm>
            <a:off x="548640" y="3383280"/>
            <a:ext cx="4754880" cy="777240"/>
          </a:xfrm>
          <a:prstGeom prst="roundRect">
            <a:avLst>
              <a:gd name="adj" fmla="val 14118"/>
            </a:avLst>
          </a:prstGeom>
          <a:solidFill>
            <a:schemeClr val="tx2"/>
          </a:solidFill>
          <a:ln w="9525">
            <a:solidFill>
              <a:schemeClr val="accent6"/>
            </a:solidFill>
            <a:prstDash val="solid"/>
          </a:ln>
        </p:spPr>
      </p:sp>
      <p:sp>
        <p:nvSpPr>
          <p:cNvPr id="11" name="Text 8"/>
          <p:cNvSpPr txBox="1"/>
          <p:nvPr/>
        </p:nvSpPr>
        <p:spPr>
          <a:xfrm>
            <a:off x="777240" y="3584448"/>
            <a:ext cx="3291840" cy="411480"/>
          </a:xfrm>
          <a:prstGeom prst="rect">
            <a:avLst/>
          </a:prstGeom>
          <a:noFill/>
          <a:ln/>
        </p:spPr>
        <p:txBody>
          <a:bodyPr wrap="square" lIns="0" tIns="0" rIns="0" bIns="0" rtlCol="0" anchor="t"/>
          <a:lstStyle/>
          <a:p>
            <a:pPr indent="0" marL="0">
              <a:buNone/>
            </a:pPr>
            <a:r>
              <a:rPr lang="en-US" sz="1500" dirty="0">
                <a:solidFill>
                  <a:schemeClr val="bg1"/>
                </a:solidFill>
              </a:rPr>
              <a:t>Left over to press the tyres on</a:t>
            </a:r>
            <a:endParaRPr lang="en-US" sz="1500" dirty="0"/>
          </a:p>
        </p:txBody>
      </p:sp>
      <p:sp>
        <p:nvSpPr>
          <p:cNvPr id="12" name="Text 9"/>
          <p:cNvSpPr txBox="1"/>
          <p:nvPr/>
        </p:nvSpPr>
        <p:spPr>
          <a:xfrm>
            <a:off x="3931920" y="3493008"/>
            <a:ext cx="1188720" cy="548640"/>
          </a:xfrm>
          <a:prstGeom prst="rect">
            <a:avLst/>
          </a:prstGeom>
          <a:noFill/>
          <a:ln/>
        </p:spPr>
        <p:txBody>
          <a:bodyPr wrap="square" lIns="0" tIns="0" rIns="0" bIns="0" rtlCol="0" anchor="t"/>
          <a:lstStyle/>
          <a:p>
            <a:pPr algn="r" indent="0" marL="0">
              <a:buNone/>
            </a:pPr>
            <a:r>
              <a:rPr lang="en-US" sz="2800" b="1" dirty="0">
                <a:solidFill>
                  <a:schemeClr val="accent3"/>
                </a:solidFill>
                <a:latin typeface="Arial" pitchFamily="34" charset="0"/>
                <a:ea typeface="Arial" pitchFamily="34" charset="-122"/>
                <a:cs typeface="Arial" pitchFamily="34" charset="-120"/>
              </a:rPr>
              <a:t>1 g</a:t>
            </a:r>
            <a:endParaRPr lang="en-US" sz="2800" dirty="0"/>
          </a:p>
        </p:txBody>
      </p:sp>
      <p:sp>
        <p:nvSpPr>
          <p:cNvPr id="13" name="Text 10"/>
          <p:cNvSpPr txBox="1"/>
          <p:nvPr/>
        </p:nvSpPr>
        <p:spPr>
          <a:xfrm>
            <a:off x="548640" y="4480560"/>
            <a:ext cx="4754880" cy="1463040"/>
          </a:xfrm>
          <a:prstGeom prst="rect">
            <a:avLst/>
          </a:prstGeom>
          <a:noFill/>
          <a:ln/>
        </p:spPr>
        <p:txBody>
          <a:bodyPr wrap="square" lIns="0" tIns="0" rIns="0" bIns="0" rtlCol="0" anchor="t"/>
          <a:lstStyle/>
          <a:p>
            <a:pPr indent="0" marL="0">
              <a:buNone/>
            </a:pPr>
            <a:r>
              <a:rPr lang="en-US" sz="1500" dirty="0">
                <a:solidFill>
                  <a:schemeClr val="bg2"/>
                </a:solidFill>
              </a:rPr>
              <a:t>It only works while the underbody seals against the surface. In the model suction fades to zero once the gap passes about 0.3 m. Turn the fans off and the car falls, which is exactly how the stunt ends.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The hover controller is quadcopter maths</a:t>
            </a:r>
            <a:endParaRPr lang="en-US" sz="3200" dirty="0"/>
          </a:p>
        </p:txBody>
      </p:sp>
      <p:sp>
        <p:nvSpPr>
          <p:cNvPr id="3" name="Car outline"/>
          <p:cNvSpPr/>
          <p:nvPr/>
        </p:nvSpPr>
        <p:spPr>
          <a:xfrm>
            <a:off x="1965960" y="1497330"/>
            <a:ext cx="1920240" cy="4320540"/>
          </a:xfrm>
          <a:prstGeom prst="roundRect">
            <a:avLst>
              <a:gd name="adj" fmla="val 16667"/>
            </a:avLst>
          </a:prstGeom>
          <a:solidFill>
            <a:schemeClr val="tx2"/>
          </a:solidFill>
          <a:ln w="15875">
            <a:solidFill>
              <a:schemeClr val="bg2"/>
            </a:solidFill>
            <a:prstDash val="solid"/>
          </a:ln>
        </p:spPr>
      </p:sp>
      <p:sp>
        <p:nvSpPr>
          <p:cNvPr id="4" name="Thruster 1"/>
          <p:cNvSpPr/>
          <p:nvPr/>
        </p:nvSpPr>
        <p:spPr>
          <a:xfrm>
            <a:off x="2596896" y="5764835"/>
            <a:ext cx="274320" cy="274320"/>
          </a:xfrm>
          <a:prstGeom prst="ellipse">
            <a:avLst/>
          </a:prstGeom>
          <a:solidFill>
            <a:schemeClr val="accent2"/>
          </a:solidFill>
          <a:ln/>
        </p:spPr>
      </p:sp>
      <p:sp>
        <p:nvSpPr>
          <p:cNvPr id="5" name="Thruster 2"/>
          <p:cNvSpPr/>
          <p:nvPr/>
        </p:nvSpPr>
        <p:spPr>
          <a:xfrm>
            <a:off x="2980944" y="5764835"/>
            <a:ext cx="274320" cy="274320"/>
          </a:xfrm>
          <a:prstGeom prst="ellipse">
            <a:avLst/>
          </a:prstGeom>
          <a:solidFill>
            <a:schemeClr val="accent2"/>
          </a:solidFill>
          <a:ln/>
        </p:spPr>
      </p:sp>
      <p:sp>
        <p:nvSpPr>
          <p:cNvPr id="6" name="Thruster 3"/>
          <p:cNvSpPr/>
          <p:nvPr/>
        </p:nvSpPr>
        <p:spPr>
          <a:xfrm>
            <a:off x="2212848" y="1840230"/>
            <a:ext cx="274320" cy="274320"/>
          </a:xfrm>
          <a:prstGeom prst="ellipse">
            <a:avLst/>
          </a:prstGeom>
          <a:solidFill>
            <a:schemeClr val="accent1"/>
          </a:solidFill>
          <a:ln/>
        </p:spPr>
      </p:sp>
      <p:sp>
        <p:nvSpPr>
          <p:cNvPr id="7" name="Thruster 4"/>
          <p:cNvSpPr/>
          <p:nvPr/>
        </p:nvSpPr>
        <p:spPr>
          <a:xfrm>
            <a:off x="3364992" y="1840230"/>
            <a:ext cx="274320" cy="274320"/>
          </a:xfrm>
          <a:prstGeom prst="ellipse">
            <a:avLst/>
          </a:prstGeom>
          <a:solidFill>
            <a:schemeClr val="accent1"/>
          </a:solidFill>
          <a:ln/>
        </p:spPr>
      </p:sp>
      <p:sp>
        <p:nvSpPr>
          <p:cNvPr id="8" name="Thruster 5"/>
          <p:cNvSpPr/>
          <p:nvPr/>
        </p:nvSpPr>
        <p:spPr>
          <a:xfrm>
            <a:off x="2212848" y="5392674"/>
            <a:ext cx="274320" cy="274320"/>
          </a:xfrm>
          <a:prstGeom prst="ellipse">
            <a:avLst/>
          </a:prstGeom>
          <a:solidFill>
            <a:schemeClr val="accent1"/>
          </a:solidFill>
          <a:ln/>
        </p:spPr>
      </p:sp>
      <p:sp>
        <p:nvSpPr>
          <p:cNvPr id="9" name="Thruster 6"/>
          <p:cNvSpPr/>
          <p:nvPr/>
        </p:nvSpPr>
        <p:spPr>
          <a:xfrm>
            <a:off x="3364992" y="5392674"/>
            <a:ext cx="274320" cy="274320"/>
          </a:xfrm>
          <a:prstGeom prst="ellipse">
            <a:avLst/>
          </a:prstGeom>
          <a:solidFill>
            <a:schemeClr val="accent1"/>
          </a:solidFill>
          <a:ln/>
        </p:spPr>
      </p:sp>
      <p:sp>
        <p:nvSpPr>
          <p:cNvPr id="10" name="Thruster 7"/>
          <p:cNvSpPr/>
          <p:nvPr/>
        </p:nvSpPr>
        <p:spPr>
          <a:xfrm>
            <a:off x="2452878" y="1600200"/>
            <a:ext cx="274320" cy="274320"/>
          </a:xfrm>
          <a:prstGeom prst="ellipse">
            <a:avLst/>
          </a:prstGeom>
          <a:solidFill>
            <a:schemeClr val="accent5"/>
          </a:solidFill>
          <a:ln/>
        </p:spPr>
      </p:sp>
      <p:sp>
        <p:nvSpPr>
          <p:cNvPr id="11" name="Thruster 8"/>
          <p:cNvSpPr/>
          <p:nvPr/>
        </p:nvSpPr>
        <p:spPr>
          <a:xfrm>
            <a:off x="3124962" y="1600200"/>
            <a:ext cx="274320" cy="274320"/>
          </a:xfrm>
          <a:prstGeom prst="ellipse">
            <a:avLst/>
          </a:prstGeom>
          <a:solidFill>
            <a:schemeClr val="accent5"/>
          </a:solidFill>
          <a:ln/>
        </p:spPr>
      </p:sp>
      <p:sp>
        <p:nvSpPr>
          <p:cNvPr id="12" name="Thruster 9"/>
          <p:cNvSpPr/>
          <p:nvPr/>
        </p:nvSpPr>
        <p:spPr>
          <a:xfrm>
            <a:off x="2452878" y="5536692"/>
            <a:ext cx="274320" cy="274320"/>
          </a:xfrm>
          <a:prstGeom prst="ellipse">
            <a:avLst/>
          </a:prstGeom>
          <a:solidFill>
            <a:schemeClr val="accent5"/>
          </a:solidFill>
          <a:ln/>
        </p:spPr>
      </p:sp>
      <p:sp>
        <p:nvSpPr>
          <p:cNvPr id="13" name="Thruster 10"/>
          <p:cNvSpPr/>
          <p:nvPr/>
        </p:nvSpPr>
        <p:spPr>
          <a:xfrm>
            <a:off x="3124962" y="5536692"/>
            <a:ext cx="274320" cy="274320"/>
          </a:xfrm>
          <a:prstGeom prst="ellipse">
            <a:avLst/>
          </a:prstGeom>
          <a:solidFill>
            <a:schemeClr val="accent5"/>
          </a:solidFill>
          <a:ln/>
        </p:spPr>
      </p:sp>
      <p:sp>
        <p:nvSpPr>
          <p:cNvPr id="14" name="Text 12"/>
          <p:cNvSpPr txBox="1"/>
          <p:nvPr/>
        </p:nvSpPr>
        <p:spPr>
          <a:xfrm>
            <a:off x="1737360" y="5989320"/>
            <a:ext cx="2377440" cy="274320"/>
          </a:xfrm>
          <a:prstGeom prst="rect">
            <a:avLst/>
          </a:prstGeom>
          <a:noFill/>
          <a:ln/>
        </p:spPr>
        <p:txBody>
          <a:bodyPr wrap="square" lIns="0" tIns="0" rIns="0" bIns="0" rtlCol="0" anchor="t"/>
          <a:lstStyle/>
          <a:p>
            <a:pPr algn="ctr" indent="0" marL="0">
              <a:buNone/>
            </a:pPr>
            <a:r>
              <a:rPr lang="en-US" sz="1100" dirty="0">
                <a:solidFill>
                  <a:schemeClr val="bg2"/>
                </a:solidFill>
              </a:rPr>
              <a:t>Top view, nose up</a:t>
            </a:r>
            <a:endParaRPr lang="en-US" sz="1100" dirty="0"/>
          </a:p>
        </p:txBody>
      </p:sp>
      <p:sp>
        <p:nvSpPr>
          <p:cNvPr id="15" name="Legend 0"/>
          <p:cNvSpPr/>
          <p:nvPr/>
        </p:nvSpPr>
        <p:spPr>
          <a:xfrm>
            <a:off x="5486400" y="1527048"/>
            <a:ext cx="256032" cy="256032"/>
          </a:xfrm>
          <a:prstGeom prst="ellipse">
            <a:avLst/>
          </a:prstGeom>
          <a:solidFill>
            <a:schemeClr val="accent1"/>
          </a:solidFill>
          <a:ln/>
        </p:spPr>
      </p:sp>
      <p:sp>
        <p:nvSpPr>
          <p:cNvPr id="16" name="Text 14"/>
          <p:cNvSpPr txBox="1"/>
          <p:nvPr/>
        </p:nvSpPr>
        <p:spPr>
          <a:xfrm>
            <a:off x="5897880" y="1463040"/>
            <a:ext cx="5669280" cy="320040"/>
          </a:xfrm>
          <a:prstGeom prst="rect">
            <a:avLst/>
          </a:prstGeom>
          <a:noFill/>
          <a:ln/>
        </p:spPr>
        <p:txBody>
          <a:bodyPr wrap="square" lIns="0" tIns="0" rIns="0" bIns="0" rtlCol="0" anchor="t"/>
          <a:lstStyle/>
          <a:p>
            <a:pPr indent="0" marL="0">
              <a:buNone/>
            </a:pPr>
            <a:r>
              <a:rPr lang="en-US" sz="1600" b="1" dirty="0">
                <a:solidFill>
                  <a:schemeClr val="bg1"/>
                </a:solidFill>
              </a:rPr>
              <a:t>4 lift nozzles</a:t>
            </a:r>
            <a:endParaRPr lang="en-US" sz="1600" dirty="0"/>
          </a:p>
        </p:txBody>
      </p:sp>
      <p:sp>
        <p:nvSpPr>
          <p:cNvPr id="17" name="Text 15"/>
          <p:cNvSpPr txBox="1"/>
          <p:nvPr/>
        </p:nvSpPr>
        <p:spPr>
          <a:xfrm>
            <a:off x="5897880" y="1792224"/>
            <a:ext cx="5669280" cy="365760"/>
          </a:xfrm>
          <a:prstGeom prst="rect">
            <a:avLst/>
          </a:prstGeom>
          <a:noFill/>
          <a:ln/>
        </p:spPr>
        <p:txBody>
          <a:bodyPr wrap="square" lIns="0" tIns="0" rIns="0" bIns="0" rtlCol="0" anchor="t"/>
          <a:lstStyle/>
          <a:p>
            <a:pPr indent="0" marL="0">
              <a:buNone/>
            </a:pPr>
            <a:r>
              <a:rPr lang="en-US" sz="1400" dirty="0">
                <a:solidFill>
                  <a:schemeClr val="bg2"/>
                </a:solidFill>
              </a:rPr>
              <a:t>Point down, push up. 10 kN each.</a:t>
            </a:r>
            <a:endParaRPr lang="en-US" sz="1400" dirty="0"/>
          </a:p>
        </p:txBody>
      </p:sp>
      <p:sp>
        <p:nvSpPr>
          <p:cNvPr id="18" name="Legend 1"/>
          <p:cNvSpPr/>
          <p:nvPr/>
        </p:nvSpPr>
        <p:spPr>
          <a:xfrm>
            <a:off x="5486400" y="2304288"/>
            <a:ext cx="256032" cy="256032"/>
          </a:xfrm>
          <a:prstGeom prst="ellipse">
            <a:avLst/>
          </a:prstGeom>
          <a:solidFill>
            <a:schemeClr val="accent2"/>
          </a:solidFill>
          <a:ln/>
        </p:spPr>
      </p:sp>
      <p:sp>
        <p:nvSpPr>
          <p:cNvPr id="19" name="Text 17"/>
          <p:cNvSpPr txBox="1"/>
          <p:nvPr/>
        </p:nvSpPr>
        <p:spPr>
          <a:xfrm>
            <a:off x="5897880" y="2240280"/>
            <a:ext cx="5669280" cy="320040"/>
          </a:xfrm>
          <a:prstGeom prst="rect">
            <a:avLst/>
          </a:prstGeom>
          <a:noFill/>
          <a:ln/>
        </p:spPr>
        <p:txBody>
          <a:bodyPr wrap="square" lIns="0" tIns="0" rIns="0" bIns="0" rtlCol="0" anchor="t"/>
          <a:lstStyle/>
          <a:p>
            <a:pPr indent="0" marL="0">
              <a:buNone/>
            </a:pPr>
            <a:r>
              <a:rPr lang="en-US" sz="1600" b="1" dirty="0">
                <a:solidFill>
                  <a:schemeClr val="bg1"/>
                </a:solidFill>
              </a:rPr>
              <a:t>2 boost nozzles</a:t>
            </a:r>
            <a:endParaRPr lang="en-US" sz="1600" dirty="0"/>
          </a:p>
        </p:txBody>
      </p:sp>
      <p:sp>
        <p:nvSpPr>
          <p:cNvPr id="20" name="Text 18"/>
          <p:cNvSpPr txBox="1"/>
          <p:nvPr/>
        </p:nvSpPr>
        <p:spPr>
          <a:xfrm>
            <a:off x="5897880" y="2569464"/>
            <a:ext cx="5669280" cy="365760"/>
          </a:xfrm>
          <a:prstGeom prst="rect">
            <a:avLst/>
          </a:prstGeom>
          <a:noFill/>
          <a:ln/>
        </p:spPr>
        <p:txBody>
          <a:bodyPr wrap="square" lIns="0" tIns="0" rIns="0" bIns="0" rtlCol="0" anchor="t"/>
          <a:lstStyle/>
          <a:p>
            <a:pPr indent="0" marL="0">
              <a:buNone/>
            </a:pPr>
            <a:r>
              <a:rPr lang="en-US" sz="1400" dirty="0">
                <a:solidFill>
                  <a:schemeClr val="bg2"/>
                </a:solidFill>
              </a:rPr>
              <a:t>Point back, push forward. 22 kN each.</a:t>
            </a:r>
            <a:endParaRPr lang="en-US" sz="1400" dirty="0"/>
          </a:p>
        </p:txBody>
      </p:sp>
      <p:sp>
        <p:nvSpPr>
          <p:cNvPr id="21" name="Legend 2"/>
          <p:cNvSpPr/>
          <p:nvPr/>
        </p:nvSpPr>
        <p:spPr>
          <a:xfrm>
            <a:off x="5486400" y="3081528"/>
            <a:ext cx="256032" cy="256032"/>
          </a:xfrm>
          <a:prstGeom prst="ellipse">
            <a:avLst/>
          </a:prstGeom>
          <a:solidFill>
            <a:schemeClr val="accent5"/>
          </a:solidFill>
          <a:ln/>
        </p:spPr>
      </p:sp>
      <p:sp>
        <p:nvSpPr>
          <p:cNvPr id="22" name="Text 20"/>
          <p:cNvSpPr txBox="1"/>
          <p:nvPr/>
        </p:nvSpPr>
        <p:spPr>
          <a:xfrm>
            <a:off x="5897880" y="3017520"/>
            <a:ext cx="5669280" cy="320040"/>
          </a:xfrm>
          <a:prstGeom prst="rect">
            <a:avLst/>
          </a:prstGeom>
          <a:noFill/>
          <a:ln/>
        </p:spPr>
        <p:txBody>
          <a:bodyPr wrap="square" lIns="0" tIns="0" rIns="0" bIns="0" rtlCol="0" anchor="t"/>
          <a:lstStyle/>
          <a:p>
            <a:pPr indent="0" marL="0">
              <a:buNone/>
            </a:pPr>
            <a:r>
              <a:rPr lang="en-US" sz="1600" b="1" dirty="0">
                <a:solidFill>
                  <a:schemeClr val="bg1"/>
                </a:solidFill>
              </a:rPr>
              <a:t>4 side nozzles</a:t>
            </a:r>
            <a:endParaRPr lang="en-US" sz="1600" dirty="0"/>
          </a:p>
        </p:txBody>
      </p:sp>
      <p:sp>
        <p:nvSpPr>
          <p:cNvPr id="23" name="Text 21"/>
          <p:cNvSpPr txBox="1"/>
          <p:nvPr/>
        </p:nvSpPr>
        <p:spPr>
          <a:xfrm>
            <a:off x="5897880" y="3346704"/>
            <a:ext cx="5669280" cy="365760"/>
          </a:xfrm>
          <a:prstGeom prst="rect">
            <a:avLst/>
          </a:prstGeom>
          <a:noFill/>
          <a:ln/>
        </p:spPr>
        <p:txBody>
          <a:bodyPr wrap="square" lIns="0" tIns="0" rIns="0" bIns="0" rtlCol="0" anchor="t"/>
          <a:lstStyle/>
          <a:p>
            <a:pPr indent="0" marL="0">
              <a:buNone/>
            </a:pPr>
            <a:r>
              <a:rPr lang="en-US" sz="1400" dirty="0">
                <a:solidFill>
                  <a:schemeClr val="bg2"/>
                </a:solidFill>
              </a:rPr>
              <a:t>Push the nose or tail sideways to spin the car.</a:t>
            </a:r>
            <a:endParaRPr lang="en-US" sz="1400" dirty="0"/>
          </a:p>
        </p:txBody>
      </p:sp>
      <p:sp>
        <p:nvSpPr>
          <p:cNvPr id="24" name="Text 22"/>
          <p:cNvSpPr txBox="1"/>
          <p:nvPr/>
        </p:nvSpPr>
        <p:spPr>
          <a:xfrm>
            <a:off x="5486400" y="3977640"/>
            <a:ext cx="6126480" cy="1645920"/>
          </a:xfrm>
          <a:prstGeom prst="rect">
            <a:avLst/>
          </a:prstGeom>
          <a:noFill/>
          <a:ln/>
        </p:spPr>
        <p:txBody>
          <a:bodyPr wrap="square" lIns="0" tIns="0" rIns="0" bIns="0" rtlCol="0" anchor="t"/>
          <a:lstStyle/>
          <a:p>
            <a:pPr indent="0" marL="0">
              <a:buNone/>
            </a:pPr>
            <a:r>
              <a:rPr lang="en-US" sz="1500" dirty="0">
                <a:solidFill>
                  <a:schemeClr val="bg1"/>
                </a:solidFill>
              </a:rPr>
              <a:t>Each step the controller measures tilt and height, decides the push it wants, and splits it across the four lift nozzles, like a drone splits power across four motors. When it asks for more than the nozzles can give, the screen says AT THRUST LIMIT instead of hiding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0 to 60 mph: the model lands near both claims</a:t>
            </a:r>
            <a:endParaRPr lang="en-US" sz="3200" dirty="0"/>
          </a:p>
        </p:txBody>
      </p:sp>
      <p:graphicFrame>
        <p:nvGraphicFramePr>
          <p:cNvPr id="3" name="Chart 0" descr=""/>
          <p:cNvGraphicFramePr/>
          <p:nvPr/>
        </p:nvGraphicFramePr>
        <p:xfrm>
          <a:off x="548640" y="13716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Claim 2017"/>
          <p:cNvSpPr/>
          <p:nvPr/>
        </p:nvSpPr>
        <p:spPr>
          <a:xfrm>
            <a:off x="7589520" y="1463040"/>
            <a:ext cx="4023360" cy="1417320"/>
          </a:xfrm>
          <a:prstGeom prst="roundRect">
            <a:avLst>
              <a:gd name="adj" fmla="val 7742"/>
            </a:avLst>
          </a:prstGeom>
          <a:solidFill>
            <a:schemeClr val="tx2"/>
          </a:solidFill>
          <a:ln w="9525">
            <a:solidFill>
              <a:schemeClr val="accent6"/>
            </a:solidFill>
            <a:prstDash val="solid"/>
          </a:ln>
        </p:spPr>
      </p:sp>
      <p:sp>
        <p:nvSpPr>
          <p:cNvPr id="5" name="Text 2"/>
          <p:cNvSpPr txBox="1"/>
          <p:nvPr/>
        </p:nvSpPr>
        <p:spPr>
          <a:xfrm>
            <a:off x="7818120" y="1645920"/>
            <a:ext cx="3657600" cy="365760"/>
          </a:xfrm>
          <a:prstGeom prst="rect">
            <a:avLst/>
          </a:prstGeom>
          <a:noFill/>
          <a:ln/>
        </p:spPr>
        <p:txBody>
          <a:bodyPr wrap="square" lIns="0" tIns="0" rIns="0" bIns="0" rtlCol="0" anchor="t"/>
          <a:lstStyle/>
          <a:p>
            <a:pPr indent="0" marL="0">
              <a:buNone/>
            </a:pPr>
            <a:r>
              <a:rPr lang="en-US" sz="1700" b="1" dirty="0">
                <a:solidFill>
                  <a:schemeClr val="bg1"/>
                </a:solidFill>
              </a:rPr>
              <a:t>Tesla 2017 claim: 1.9 s</a:t>
            </a:r>
            <a:endParaRPr lang="en-US" sz="1700" dirty="0"/>
          </a:p>
        </p:txBody>
      </p:sp>
      <p:sp>
        <p:nvSpPr>
          <p:cNvPr id="6" name="Text 3"/>
          <p:cNvSpPr txBox="1"/>
          <p:nvPr/>
        </p:nvSpPr>
        <p:spPr>
          <a:xfrm>
            <a:off x="7818120" y="2057400"/>
            <a:ext cx="3657600" cy="365760"/>
          </a:xfrm>
          <a:prstGeom prst="rect">
            <a:avLst/>
          </a:prstGeom>
          <a:noFill/>
          <a:ln/>
        </p:spPr>
        <p:txBody>
          <a:bodyPr wrap="square" lIns="0" tIns="0" rIns="0" bIns="0" rtlCol="0" anchor="t"/>
          <a:lstStyle/>
          <a:p>
            <a:pPr indent="0" marL="0">
              <a:buNone/>
            </a:pPr>
            <a:r>
              <a:rPr lang="en-US" sz="1500" dirty="0">
                <a:solidFill>
                  <a:schemeClr val="accent3"/>
                </a:solidFill>
              </a:rPr>
              <a:t>Our wheels + fans run: 1.88 s</a:t>
            </a:r>
            <a:endParaRPr lang="en-US" sz="1500" dirty="0"/>
          </a:p>
        </p:txBody>
      </p:sp>
      <p:sp>
        <p:nvSpPr>
          <p:cNvPr id="7" name="Text 4"/>
          <p:cNvSpPr txBox="1"/>
          <p:nvPr/>
        </p:nvSpPr>
        <p:spPr>
          <a:xfrm>
            <a:off x="7818120" y="2468880"/>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8" name="Claim 2026"/>
          <p:cNvSpPr/>
          <p:nvPr/>
        </p:nvSpPr>
        <p:spPr>
          <a:xfrm>
            <a:off x="7589520" y="3063240"/>
            <a:ext cx="4023360" cy="1417320"/>
          </a:xfrm>
          <a:prstGeom prst="roundRect">
            <a:avLst>
              <a:gd name="adj" fmla="val 7742"/>
            </a:avLst>
          </a:prstGeom>
          <a:solidFill>
            <a:schemeClr val="tx2"/>
          </a:solidFill>
          <a:ln w="9525">
            <a:solidFill>
              <a:schemeClr val="accent6"/>
            </a:solidFill>
            <a:prstDash val="solid"/>
          </a:ln>
        </p:spPr>
      </p:sp>
      <p:sp>
        <p:nvSpPr>
          <p:cNvPr id="9" name="Text 6"/>
          <p:cNvSpPr txBox="1"/>
          <p:nvPr/>
        </p:nvSpPr>
        <p:spPr>
          <a:xfrm>
            <a:off x="7818120" y="3246120"/>
            <a:ext cx="3657600" cy="365760"/>
          </a:xfrm>
          <a:prstGeom prst="rect">
            <a:avLst/>
          </a:prstGeom>
          <a:noFill/>
          <a:ln/>
        </p:spPr>
        <p:txBody>
          <a:bodyPr wrap="square" lIns="0" tIns="0" rIns="0" bIns="0" rtlCol="0" anchor="t"/>
          <a:lstStyle/>
          <a:p>
            <a:pPr indent="0" marL="0">
              <a:buNone/>
            </a:pPr>
            <a:r>
              <a:rPr lang="en-US" sz="1700" b="1" dirty="0">
                <a:solidFill>
                  <a:schemeClr val="bg1"/>
                </a:solidFill>
              </a:rPr>
              <a:t>Reveal run, Oct 2026: 0.81 s</a:t>
            </a:r>
            <a:endParaRPr lang="en-US" sz="1700" dirty="0"/>
          </a:p>
        </p:txBody>
      </p:sp>
      <p:sp>
        <p:nvSpPr>
          <p:cNvPr id="10" name="Text 7"/>
          <p:cNvSpPr txBox="1"/>
          <p:nvPr/>
        </p:nvSpPr>
        <p:spPr>
          <a:xfrm>
            <a:off x="7818120" y="3657600"/>
            <a:ext cx="3657600" cy="365760"/>
          </a:xfrm>
          <a:prstGeom prst="rect">
            <a:avLst/>
          </a:prstGeom>
          <a:noFill/>
          <a:ln/>
        </p:spPr>
        <p:txBody>
          <a:bodyPr wrap="square" lIns="0" tIns="0" rIns="0" bIns="0" rtlCol="0" anchor="t"/>
          <a:lstStyle/>
          <a:p>
            <a:pPr indent="0" marL="0">
              <a:buNone/>
            </a:pPr>
            <a:r>
              <a:rPr lang="en-US" sz="1500" dirty="0">
                <a:solidFill>
                  <a:schemeClr val="accent3"/>
                </a:solidFill>
              </a:rPr>
              <a:t>Our run with thrusters: 0.85 s</a:t>
            </a:r>
            <a:endParaRPr lang="en-US" sz="1500" dirty="0"/>
          </a:p>
        </p:txBody>
      </p:sp>
      <p:sp>
        <p:nvSpPr>
          <p:cNvPr id="11" name="Text 8"/>
          <p:cNvSpPr txBox="1"/>
          <p:nvPr/>
        </p:nvSpPr>
        <p:spPr>
          <a:xfrm>
            <a:off x="7818120" y="4069080"/>
            <a:ext cx="1234440" cy="256032"/>
          </a:xfrm>
          <a:prstGeom prst="rect">
            <a:avLst/>
          </a:prstGeom>
          <a:noFill/>
          <a:ln w="12700">
            <a:solidFill>
              <a:schemeClr val="accent3"/>
            </a:solidFill>
          </a:ln>
        </p:spPr>
        <p:txBody>
          <a:bodyPr wrap="square" lIns="0" tIns="0" rIns="0" bIns="0" rtlCol="0" anchor="ctr"/>
          <a:lstStyle/>
          <a:p>
            <a:pPr algn="ctr" indent="0" marL="0">
              <a:buNone/>
            </a:pPr>
            <a:r>
              <a:rPr lang="en-US" sz="1000" b="1" dirty="0">
                <a:solidFill>
                  <a:schemeClr val="accent3"/>
                </a:solidFill>
              </a:rPr>
              <a:t>REPORTED</a:t>
            </a:r>
            <a:endParaRPr lang="en-US" sz="1000" dirty="0"/>
          </a:p>
        </p:txBody>
      </p:sp>
      <p:sp>
        <p:nvSpPr>
          <p:cNvPr id="12" name="Text 9"/>
          <p:cNvSpPr txBox="1"/>
          <p:nvPr/>
        </p:nvSpPr>
        <p:spPr>
          <a:xfrm>
            <a:off x="7589520" y="4663440"/>
            <a:ext cx="4023360" cy="1280160"/>
          </a:xfrm>
          <a:prstGeom prst="rect">
            <a:avLst/>
          </a:prstGeom>
          <a:noFill/>
          <a:ln/>
        </p:spPr>
        <p:txBody>
          <a:bodyPr wrap="square" lIns="0" tIns="0" rIns="0" bIns="0" rtlCol="0" anchor="t"/>
          <a:lstStyle/>
          <a:p>
            <a:pPr indent="0" marL="0">
              <a:buNone/>
            </a:pPr>
            <a:r>
              <a:rPr lang="en-US" sz="1400" dirty="0">
                <a:solidFill>
                  <a:schemeClr val="bg2"/>
                </a:solidFill>
              </a:rPr>
              <a:t>Tyres alone stop at about 1.2 g, so 2.31 s. Fan suction adds grip without adding mass. Thrusters push without needing grip at all.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The three stunts, recreated</a:t>
            </a:r>
            <a:endParaRPr lang="en-US" sz="3200" dirty="0"/>
          </a:p>
        </p:txBody>
      </p:sp>
      <p:pic>
        <p:nvPicPr>
          <p:cNvPr id="3" name="Reveal ramp" descr="C:\Users\arko4\Desktop\Roadster Simulation\shots\ramp_flip.jpg">    </p:cNvPr>
          <p:cNvPicPr>
            <a:picLocks noChangeAspect="1"/>
          </p:cNvPicPr>
          <p:nvPr/>
        </p:nvPicPr>
        <p:blipFill>
          <a:blip r:embed="rId1"/>
          <a:srcRect l="0" r="0" t="0" b="0"/>
          <a:stretch/>
        </p:blipFill>
        <p:spPr>
          <a:xfrm>
            <a:off x="548640" y="1417320"/>
            <a:ext cx="3520440" cy="1984248"/>
          </a:xfrm>
          <a:prstGeom prst="rect">
            <a:avLst/>
          </a:prstGeom>
        </p:spPr>
      </p:pic>
      <p:sp>
        <p:nvSpPr>
          <p:cNvPr id="4" name="Text 1"/>
          <p:cNvSpPr txBox="1"/>
          <p:nvPr/>
        </p:nvSpPr>
        <p:spPr>
          <a:xfrm>
            <a:off x="548640" y="3611880"/>
            <a:ext cx="3520440" cy="411480"/>
          </a:xfrm>
          <a:prstGeom prst="rect">
            <a:avLst/>
          </a:prstGeom>
          <a:noFill/>
          <a:ln/>
        </p:spPr>
        <p:txBody>
          <a:bodyPr wrap="square" lIns="0" tIns="0" rIns="0" bIns="0" rtlCol="0" anchor="t"/>
          <a:lstStyle/>
          <a:p>
            <a:pPr indent="0" marL="0">
              <a:buNone/>
            </a:pPr>
            <a:r>
              <a:rPr lang="en-US" sz="1900" b="1" dirty="0">
                <a:solidFill>
                  <a:schemeClr val="accent1"/>
                </a:solidFill>
                <a:latin typeface="Arial" pitchFamily="34" charset="0"/>
                <a:ea typeface="Arial" pitchFamily="34" charset="-122"/>
                <a:cs typeface="Arial" pitchFamily="34" charset="-120"/>
              </a:rPr>
              <a:t>Reveal ramp</a:t>
            </a:r>
            <a:endParaRPr lang="en-US" sz="1900" dirty="0"/>
          </a:p>
        </p:txBody>
      </p:sp>
      <p:sp>
        <p:nvSpPr>
          <p:cNvPr id="5" name="Text 2"/>
          <p:cNvSpPr txBox="1"/>
          <p:nvPr/>
        </p:nvSpPr>
        <p:spPr>
          <a:xfrm>
            <a:off x="548640" y="4069080"/>
            <a:ext cx="3520440" cy="1463040"/>
          </a:xfrm>
          <a:prstGeom prst="rect">
            <a:avLst/>
          </a:prstGeom>
          <a:noFill/>
          <a:ln/>
        </p:spPr>
        <p:txBody>
          <a:bodyPr wrap="square" lIns="0" tIns="0" rIns="0" bIns="0" rtlCol="0" anchor="t"/>
          <a:lstStyle/>
          <a:p>
            <a:pPr indent="0" marL="0">
              <a:buNone/>
            </a:pPr>
            <a:r>
              <a:rPr lang="en-US" sz="1500" dirty="0">
                <a:solidFill>
                  <a:schemeClr val="bg2"/>
                </a:solidFill>
              </a:rPr>
              <a:t>Climbs a 6 m radius curve, hangs 11 m up on suction for 3 s, drops, rolls upright with the lift nozzles, lands.</a:t>
            </a:r>
            <a:endParaRPr lang="en-US" sz="1500" dirty="0"/>
          </a:p>
        </p:txBody>
      </p:sp>
      <p:pic>
        <p:nvPicPr>
          <p:cNvPr id="6" name="Kickflip" descr="C:\Users\arko4\Desktop\Roadster Simulation\shots\kickflip.jpg">    </p:cNvPr>
          <p:cNvPicPr>
            <a:picLocks noChangeAspect="1"/>
          </p:cNvPicPr>
          <p:nvPr/>
        </p:nvPicPr>
        <p:blipFill>
          <a:blip r:embed="rId2"/>
          <a:srcRect l="0" r="0" t="0" b="0"/>
          <a:stretch/>
        </p:blipFill>
        <p:spPr>
          <a:xfrm>
            <a:off x="4297680" y="1417320"/>
            <a:ext cx="3520440" cy="1984248"/>
          </a:xfrm>
          <a:prstGeom prst="rect">
            <a:avLst/>
          </a:prstGeom>
        </p:spPr>
      </p:pic>
      <p:sp>
        <p:nvSpPr>
          <p:cNvPr id="7" name="Text 3"/>
          <p:cNvSpPr txBox="1"/>
          <p:nvPr/>
        </p:nvSpPr>
        <p:spPr>
          <a:xfrm>
            <a:off x="4297680" y="3611880"/>
            <a:ext cx="3520440" cy="411480"/>
          </a:xfrm>
          <a:prstGeom prst="rect">
            <a:avLst/>
          </a:prstGeom>
          <a:noFill/>
          <a:ln/>
        </p:spPr>
        <p:txBody>
          <a:bodyPr wrap="square" lIns="0" tIns="0" rIns="0" bIns="0" rtlCol="0" anchor="t"/>
          <a:lstStyle/>
          <a:p>
            <a:pPr indent="0" marL="0">
              <a:buNone/>
            </a:pPr>
            <a:r>
              <a:rPr lang="en-US" sz="1900" b="1" dirty="0">
                <a:solidFill>
                  <a:schemeClr val="accent1"/>
                </a:solidFill>
                <a:latin typeface="Arial" pitchFamily="34" charset="0"/>
                <a:ea typeface="Arial" pitchFamily="34" charset="-122"/>
                <a:cs typeface="Arial" pitchFamily="34" charset="-120"/>
              </a:rPr>
              <a:t>Kickflip</a:t>
            </a:r>
            <a:endParaRPr lang="en-US" sz="1900" dirty="0"/>
          </a:p>
        </p:txBody>
      </p:sp>
      <p:sp>
        <p:nvSpPr>
          <p:cNvPr id="8" name="Text 4"/>
          <p:cNvSpPr txBox="1"/>
          <p:nvPr/>
        </p:nvSpPr>
        <p:spPr>
          <a:xfrm>
            <a:off x="4297680" y="4069080"/>
            <a:ext cx="3520440" cy="1463040"/>
          </a:xfrm>
          <a:prstGeom prst="rect">
            <a:avLst/>
          </a:prstGeom>
          <a:noFill/>
          <a:ln/>
        </p:spPr>
        <p:txBody>
          <a:bodyPr wrap="square" lIns="0" tIns="0" rIns="0" bIns="0" rtlCol="0" anchor="t"/>
          <a:lstStyle/>
          <a:p>
            <a:pPr indent="0" marL="0">
              <a:buNone/>
            </a:pPr>
            <a:r>
              <a:rPr lang="en-US" sz="1500" dirty="0">
                <a:solidFill>
                  <a:schemeClr val="bg2"/>
                </a:solidFill>
              </a:rPr>
              <a:t>Jumps at 68 km/h, lift nozzles carry half its weight so it clears the 3.8 m Semi, spins 368° and lands.</a:t>
            </a:r>
            <a:endParaRPr lang="en-US" sz="1500" dirty="0"/>
          </a:p>
        </p:txBody>
      </p:sp>
      <p:pic>
        <p:nvPicPr>
          <p:cNvPr id="9" name="Hover" descr="C:\Users\arko4\Desktop\Roadster Simulation\shots\hover.jpg">    </p:cNvPr>
          <p:cNvPicPr>
            <a:picLocks noChangeAspect="1"/>
          </p:cNvPicPr>
          <p:nvPr/>
        </p:nvPicPr>
        <p:blipFill>
          <a:blip r:embed="rId3"/>
          <a:srcRect l="0" r="0" t="0" b="0"/>
          <a:stretch/>
        </p:blipFill>
        <p:spPr>
          <a:xfrm>
            <a:off x="8046720" y="1417320"/>
            <a:ext cx="3520440" cy="1984248"/>
          </a:xfrm>
          <a:prstGeom prst="rect">
            <a:avLst/>
          </a:prstGeom>
        </p:spPr>
      </p:pic>
      <p:sp>
        <p:nvSpPr>
          <p:cNvPr id="10" name="Text 5"/>
          <p:cNvSpPr txBox="1"/>
          <p:nvPr/>
        </p:nvSpPr>
        <p:spPr>
          <a:xfrm>
            <a:off x="8046720" y="3611880"/>
            <a:ext cx="3520440" cy="411480"/>
          </a:xfrm>
          <a:prstGeom prst="rect">
            <a:avLst/>
          </a:prstGeom>
          <a:noFill/>
          <a:ln/>
        </p:spPr>
        <p:txBody>
          <a:bodyPr wrap="square" lIns="0" tIns="0" rIns="0" bIns="0" rtlCol="0" anchor="t"/>
          <a:lstStyle/>
          <a:p>
            <a:pPr indent="0" marL="0">
              <a:buNone/>
            </a:pPr>
            <a:r>
              <a:rPr lang="en-US" sz="1900" b="1" dirty="0">
                <a:solidFill>
                  <a:schemeClr val="accent1"/>
                </a:solidFill>
                <a:latin typeface="Arial" pitchFamily="34" charset="0"/>
                <a:ea typeface="Arial" pitchFamily="34" charset="-122"/>
                <a:cs typeface="Arial" pitchFamily="34" charset="-120"/>
              </a:rPr>
              <a:t>Hover</a:t>
            </a:r>
            <a:endParaRPr lang="en-US" sz="1900" dirty="0"/>
          </a:p>
        </p:txBody>
      </p:sp>
      <p:sp>
        <p:nvSpPr>
          <p:cNvPr id="11" name="Text 6"/>
          <p:cNvSpPr txBox="1"/>
          <p:nvPr/>
        </p:nvSpPr>
        <p:spPr>
          <a:xfrm>
            <a:off x="8046720" y="4069080"/>
            <a:ext cx="3520440" cy="1463040"/>
          </a:xfrm>
          <a:prstGeom prst="rect">
            <a:avLst/>
          </a:prstGeom>
          <a:noFill/>
          <a:ln/>
        </p:spPr>
        <p:txBody>
          <a:bodyPr wrap="square" lIns="0" tIns="0" rIns="0" bIns="0" rtlCol="0" anchor="t"/>
          <a:lstStyle/>
          <a:p>
            <a:pPr indent="0" marL="0">
              <a:buNone/>
            </a:pPr>
            <a:r>
              <a:rPr lang="en-US" sz="1500" dirty="0">
                <a:solidFill>
                  <a:schemeClr val="bg2"/>
                </a:solidFill>
              </a:rPr>
              <a:t>Holds 3 m, climbs to 5 m, turns, and lands itself when the air drops to 30 %.</a:t>
            </a:r>
            <a:endParaRPr lang="en-US" sz="1500" dirty="0"/>
          </a:p>
        </p:txBody>
      </p:sp>
      <p:sp>
        <p:nvSpPr>
          <p:cNvPr id="12" name="Text 7"/>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500" dirty="0">
                <a:solidFill>
                  <a:schemeClr val="bg1"/>
                </a:solidFill>
              </a:rPr>
              <a:t>Each one is the autopilot pressing the same controls you would. Nothing is animated by hand.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We check the model before we trust it</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566160"/>
                <a:gridCol w="2194560"/>
                <a:gridCol w="3200400"/>
                <a:gridCol w="2103120"/>
              </a:tblGrid>
              <a:tr h="566928">
                <a:tc>
                  <a:txBody>
                    <a:bodyPr/>
                    <a:lstStyle/>
                    <a:p>
                      <a:pPr indent="0" marL="0">
                        <a:buNone/>
                      </a:pPr>
                      <a:r>
                        <a:rPr lang="en-US" sz="1400" b="1" dirty="0">
                          <a:solidFill>
                            <a:schemeClr val="accent1"/>
                          </a:solidFill>
                        </a:rPr>
                        <a:t>Check</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1"/>
                          </a:solidFill>
                        </a:rPr>
                        <a:t>Expected</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1"/>
                          </a:solidFill>
                        </a:rPr>
                        <a:t>Simulated</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1"/>
                          </a:solidFill>
                        </a:rPr>
                        <a:t>Result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bg1"/>
                          </a:solidFill>
                        </a:rPr>
                        <a:t>Free fall for 1 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4.905 m</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4.914 m</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accent3"/>
                          </a:solidFill>
                        </a:rPr>
                        <a:t>PASS, 0.2 % off</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r>
              <a:tr h="566928">
                <a:tc>
                  <a:txBody>
                    <a:bodyPr/>
                    <a:lstStyle/>
                    <a:p>
                      <a:pPr indent="0" marL="0">
                        <a:buNone/>
                      </a:pPr>
                      <a:r>
                        <a:rPr lang="en-US" sz="1400" dirty="0">
                          <a:solidFill>
                            <a:schemeClr val="bg1"/>
                          </a:solidFill>
                        </a:rPr>
                        <a:t>Car settles on 4 wheels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at rest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0.03 m/s, 4 contacts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accent3"/>
                          </a:solidFill>
                        </a:rPr>
                        <a:t>PASS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r>
              <a:tr h="566928">
                <a:tc>
                  <a:txBody>
                    <a:bodyPr/>
                    <a:lstStyle/>
                    <a:p>
                      <a:pPr indent="0" marL="0">
                        <a:buNone/>
                      </a:pPr>
                      <a:r>
                        <a:rPr lang="en-US" sz="1400" dirty="0">
                          <a:solidFill>
                            <a:schemeClr val="bg1"/>
                          </a:solidFill>
                        </a:rPr>
                        <a:t>Side nozzle T9 spin (r × F)</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−0.0241 rad/s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−0.0241 rad/s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accent3"/>
                          </a:solidFill>
                        </a:rPr>
                        <a:t>PASS, exact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r>
              <a:tr h="566928">
                <a:tc>
                  <a:txBody>
                    <a:bodyPr/>
                    <a:lstStyle/>
                    <a:p>
                      <a:pPr indent="0" marL="0">
                        <a:buNone/>
                      </a:pPr>
                      <a:r>
                        <a:rPr lang="en-US" sz="1400" dirty="0">
                          <a:solidFill>
                            <a:schemeClr val="bg1"/>
                          </a:solidFill>
                        </a:rPr>
                        <a:t>Air used, 1 s full boost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62.86 kg</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62.86 kg</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accent3"/>
                          </a:solidFill>
                        </a:rPr>
                        <a:t>PASS, exact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r>
              <a:tr h="566928">
                <a:tc>
                  <a:txBody>
                    <a:bodyPr/>
                    <a:lstStyle/>
                    <a:p>
                      <a:pPr indent="0" marL="0">
                        <a:buNone/>
                      </a:pPr>
                      <a:r>
                        <a:rPr lang="en-US" sz="1400" dirty="0">
                          <a:solidFill>
                            <a:schemeClr val="bg1"/>
                          </a:solidFill>
                        </a:rPr>
                        <a:t>All 4 stunts finish upright</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complete</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bg1"/>
                          </a:solidFill>
                        </a:rPr>
                        <a:t>ramp, kickflip, hover, 0-60</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c>
                  <a:txBody>
                    <a:bodyPr/>
                    <a:lstStyle/>
                    <a:p>
                      <a:pPr indent="0" marL="0">
                        <a:buNone/>
                      </a:pPr>
                      <a:r>
                        <a:rPr lang="en-US" sz="1400" dirty="0">
                          <a:solidFill>
                            <a:schemeClr val="accent3"/>
                          </a:solidFill>
                        </a:rPr>
                        <a:t>PASS</a:t>
                      </a:r>
                      <a:endParaRPr lang="en-US" sz="1400" dirty="0"/>
                    </a:p>
                  </a:txBody>
                  <a:tcPr marL="91440" marR="91440" marT="91440" marB="91440" anchor="ctr">
                    <a:lnL w="9525" cap="flat" cmpd="sng" algn="ctr">
                      <a:solidFill>
                        <a:srgbClr val="2A323D"/>
                      </a:solidFill>
                      <a:prstDash val="solid"/>
                      <a:round/>
                      <a:headEnd type="none" w="med" len="med"/>
                      <a:tailEnd type="none" w="med" len="med"/>
                    </a:lnL>
                    <a:lnR w="9525" cap="flat" cmpd="sng" algn="ctr">
                      <a:solidFill>
                        <a:srgbClr val="2A323D"/>
                      </a:solidFill>
                      <a:prstDash val="solid"/>
                      <a:round/>
                      <a:headEnd type="none" w="med" len="med"/>
                      <a:tailEnd type="none" w="med" len="med"/>
                    </a:lnR>
                    <a:lnT w="9525" cap="flat" cmpd="sng" algn="ctr">
                      <a:solidFill>
                        <a:srgbClr val="2A323D"/>
                      </a:solidFill>
                      <a:prstDash val="solid"/>
                      <a:round/>
                      <a:headEnd type="none" w="med" len="med"/>
                      <a:tailEnd type="none" w="med" len="med"/>
                    </a:lnT>
                    <a:lnB w="9525" cap="flat" cmpd="sng" algn="ctr">
                      <a:solidFill>
                        <a:srgbClr val="2A323D"/>
                      </a:solidFill>
                      <a:prstDash val="solid"/>
                      <a:round/>
                      <a:headEnd type="none" w="med" len="med"/>
                      <a:tailEnd type="none" w="med" len="med"/>
                    </a:lnB>
                    <a:solidFill>
                      <a:srgbClr val="0B0F14"/>
                    </a:solidFill>
                  </a:tcPr>
                </a:tc>
              </a:tr>
            </a:tbl>
          </a:graphicData>
        </a:graphic>
      </p:graphicFrame>
      <p:sp>
        <p:nvSpPr>
          <p:cNvPr id="4" name="Text 1"/>
          <p:cNvSpPr txBox="1"/>
          <p:nvPr/>
        </p:nvSpPr>
        <p:spPr>
          <a:xfrm>
            <a:off x="548640" y="5120640"/>
            <a:ext cx="11064240" cy="457200"/>
          </a:xfrm>
          <a:prstGeom prst="rect">
            <a:avLst/>
          </a:prstGeom>
          <a:noFill/>
          <a:ln/>
        </p:spPr>
        <p:txBody>
          <a:bodyPr wrap="square" lIns="0" tIns="0" rIns="0" bIns="0" rtlCol="0" anchor="t"/>
          <a:lstStyle/>
          <a:p>
            <a:pPr indent="0" marL="0">
              <a:buNone/>
            </a:pPr>
            <a:r>
              <a:rPr lang="en-US" sz="1500" dirty="0">
                <a:solidFill>
                  <a:schemeClr val="bg2"/>
                </a:solidFill>
              </a:rPr>
              <a:t>Run it yourself: node test/sim-check.mjs. It replays every check without a browser.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What this cannot tell us</a:t>
            </a:r>
            <a:endParaRPr lang="en-US" sz="3200" dirty="0"/>
          </a:p>
        </p:txBody>
      </p:sp>
      <p:sp>
        <p:nvSpPr>
          <p:cNvPr id="3" name="Text 1"/>
          <p:cNvSpPr txBox="1"/>
          <p:nvPr/>
        </p:nvSpPr>
        <p:spPr>
          <a:xfrm>
            <a:off x="548640" y="1554480"/>
            <a:ext cx="4206240" cy="109728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Model ≠ car</a:t>
            </a:r>
            <a:endParaRPr lang="en-US" sz="5400" dirty="0"/>
          </a:p>
        </p:txBody>
      </p:sp>
      <p:sp>
        <p:nvSpPr>
          <p:cNvPr id="4" name="Text 2"/>
          <p:cNvSpPr txBox="1"/>
          <p:nvPr/>
        </p:nvSpPr>
        <p:spPr>
          <a:xfrm>
            <a:off x="548640" y="2743200"/>
            <a:ext cx="4023360" cy="1097280"/>
          </a:xfrm>
          <a:prstGeom prst="rect">
            <a:avLst/>
          </a:prstGeom>
          <a:noFill/>
          <a:ln/>
        </p:spPr>
        <p:txBody>
          <a:bodyPr wrap="square" lIns="0" tIns="0" rIns="0" bIns="0" rtlCol="0" anchor="t"/>
          <a:lstStyle/>
          <a:p>
            <a:pPr indent="0" marL="0">
              <a:buNone/>
            </a:pPr>
            <a:r>
              <a:rPr lang="en-US" sz="1700" dirty="0">
                <a:solidFill>
                  <a:schemeClr val="bg2"/>
                </a:solidFill>
              </a:rPr>
              <a:t>A model is only as good as its inputs, and most of ours are estimates.</a:t>
            </a:r>
            <a:endParaRPr lang="en-US" sz="1700" dirty="0"/>
          </a:p>
        </p:txBody>
      </p:sp>
      <p:sp>
        <p:nvSpPr>
          <p:cNvPr id="5" name="Text 3"/>
          <p:cNvSpPr txBox="1"/>
          <p:nvPr/>
        </p:nvSpPr>
        <p:spPr>
          <a:xfrm>
            <a:off x="5303520" y="1554480"/>
            <a:ext cx="6309360" cy="38404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Nothing was measured on a real Roadster. Tesla's engineering data is not public.</a:t>
            </a:r>
            <a:endParaRPr lang="en-US" sz="1700" dirty="0"/>
          </a:p>
          <a:p>
            <a:pPr marL="342900" indent="-342900">
              <a:spcAft>
                <a:spcPts val="1200"/>
              </a:spcAft>
              <a:buSzPct val="100000"/>
              <a:buChar char="•"/>
            </a:pPr>
            <a:r>
              <a:rPr lang="en-US" sz="1700" dirty="0">
                <a:solidFill>
                  <a:schemeClr val="bg1"/>
                </a:solidFill>
              </a:rPr>
              <a:t>Tyres use a simplified grip curve, not a full tyre model.</a:t>
            </a:r>
            <a:endParaRPr lang="en-US" sz="1700" dirty="0"/>
          </a:p>
          <a:p>
            <a:pPr marL="342900" indent="-342900">
              <a:spcAft>
                <a:spcPts val="1200"/>
              </a:spcAft>
              <a:buSzPct val="100000"/>
              <a:buChar char="•"/>
            </a:pPr>
            <a:r>
              <a:rPr lang="en-US" sz="1700" dirty="0">
                <a:solidFill>
                  <a:schemeClr val="bg1"/>
                </a:solidFill>
              </a:rPr>
              <a:t>Air flow ignores temperature drop as the tank empties.</a:t>
            </a:r>
            <a:endParaRPr lang="en-US" sz="1700" dirty="0"/>
          </a:p>
          <a:p>
            <a:pPr marL="342900" indent="-342900">
              <a:spcAft>
                <a:spcPts val="1200"/>
              </a:spcAft>
              <a:buSzPct val="100000"/>
              <a:buChar char="•"/>
            </a:pPr>
            <a:r>
              <a:rPr lang="en-US" sz="1700" dirty="0">
                <a:solidFill>
                  <a:schemeClr val="bg1"/>
                </a:solidFill>
              </a:rPr>
              <a:t>The thruster layout is ours. The real car may place them differently.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Same physics, smaller hardware</a:t>
            </a:r>
            <a:endParaRPr lang="en-US" sz="3200" dirty="0"/>
          </a:p>
        </p:txBody>
      </p:sp>
      <p:sp>
        <p:nvSpPr>
          <p:cNvPr id="3" name="Wall-climbing robot"/>
          <p:cNvSpPr/>
          <p:nvPr/>
        </p:nvSpPr>
        <p:spPr>
          <a:xfrm>
            <a:off x="548640" y="1417320"/>
            <a:ext cx="5440680" cy="2103120"/>
          </a:xfrm>
          <a:prstGeom prst="roundRect">
            <a:avLst>
              <a:gd name="adj" fmla="val 5217"/>
            </a:avLst>
          </a:prstGeom>
          <a:solidFill>
            <a:schemeClr val="tx2"/>
          </a:solidFill>
          <a:ln w="9525">
            <a:solidFill>
              <a:schemeClr val="accent6"/>
            </a:solidFill>
            <a:prstDash val="solid"/>
          </a:ln>
        </p:spPr>
      </p:sp>
      <p:sp>
        <p:nvSpPr>
          <p:cNvPr id="4" name="Text 2"/>
          <p:cNvSpPr txBox="1"/>
          <p:nvPr/>
        </p:nvSpPr>
        <p:spPr>
          <a:xfrm>
            <a:off x="822960" y="1645920"/>
            <a:ext cx="484632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Wall-climbing robot</a:t>
            </a:r>
            <a:endParaRPr lang="en-US" sz="2000" dirty="0"/>
          </a:p>
        </p:txBody>
      </p:sp>
      <p:sp>
        <p:nvSpPr>
          <p:cNvPr id="5" name="Text 3"/>
          <p:cNvSpPr txBox="1"/>
          <p:nvPr/>
        </p:nvSpPr>
        <p:spPr>
          <a:xfrm>
            <a:off x="822960" y="2075688"/>
            <a:ext cx="4846320" cy="320040"/>
          </a:xfrm>
          <a:prstGeom prst="rect">
            <a:avLst/>
          </a:prstGeom>
          <a:noFill/>
          <a:ln/>
        </p:spPr>
        <p:txBody>
          <a:bodyPr wrap="square" lIns="0" tIns="0" rIns="0" bIns="0" rtlCol="0" anchor="t"/>
          <a:lstStyle/>
          <a:p>
            <a:pPr indent="0" marL="0">
              <a:buNone/>
            </a:pPr>
            <a:r>
              <a:rPr lang="en-US" sz="1300" dirty="0">
                <a:solidFill>
                  <a:schemeClr val="accent1"/>
                </a:solidFill>
              </a:rPr>
              <a:t>from the suction fans</a:t>
            </a:r>
            <a:endParaRPr lang="en-US" sz="1300" dirty="0"/>
          </a:p>
        </p:txBody>
      </p:sp>
      <p:sp>
        <p:nvSpPr>
          <p:cNvPr id="6" name="Text 4"/>
          <p:cNvSpPr txBox="1"/>
          <p:nvPr/>
        </p:nvSpPr>
        <p:spPr>
          <a:xfrm>
            <a:off x="822960" y="2468880"/>
            <a:ext cx="4892040" cy="914400"/>
          </a:xfrm>
          <a:prstGeom prst="rect">
            <a:avLst/>
          </a:prstGeom>
          <a:noFill/>
          <a:ln/>
        </p:spPr>
        <p:txBody>
          <a:bodyPr wrap="square" lIns="0" tIns="0" rIns="0" bIns="0" rtlCol="0" anchor="t"/>
          <a:lstStyle/>
          <a:p>
            <a:pPr indent="0" marL="0">
              <a:buNone/>
            </a:pPr>
            <a:r>
              <a:rPr lang="en-US" sz="1500" dirty="0">
                <a:solidFill>
                  <a:schemeClr val="bg2"/>
                </a:solidFill>
              </a:rPr>
              <a:t>One ducted fan, a foam skirt and a pressure sensor. Suction must beat weight divided by grip.</a:t>
            </a:r>
            <a:endParaRPr lang="en-US" sz="1500" dirty="0"/>
          </a:p>
        </p:txBody>
      </p:sp>
      <p:sp>
        <p:nvSpPr>
          <p:cNvPr id="7" name="Thruster pointing rig"/>
          <p:cNvSpPr/>
          <p:nvPr/>
        </p:nvSpPr>
        <p:spPr>
          <a:xfrm>
            <a:off x="6172200" y="1417320"/>
            <a:ext cx="5440680" cy="2103120"/>
          </a:xfrm>
          <a:prstGeom prst="roundRect">
            <a:avLst>
              <a:gd name="adj" fmla="val 5217"/>
            </a:avLst>
          </a:prstGeom>
          <a:solidFill>
            <a:schemeClr val="tx2"/>
          </a:solidFill>
          <a:ln w="9525">
            <a:solidFill>
              <a:schemeClr val="accent6"/>
            </a:solidFill>
            <a:prstDash val="solid"/>
          </a:ln>
        </p:spPr>
      </p:sp>
      <p:sp>
        <p:nvSpPr>
          <p:cNvPr id="8" name="Text 6"/>
          <p:cNvSpPr txBox="1"/>
          <p:nvPr/>
        </p:nvSpPr>
        <p:spPr>
          <a:xfrm>
            <a:off x="6446520" y="1645920"/>
            <a:ext cx="484632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Thruster pointing rig</a:t>
            </a:r>
            <a:endParaRPr lang="en-US" sz="2000" dirty="0"/>
          </a:p>
        </p:txBody>
      </p:sp>
      <p:sp>
        <p:nvSpPr>
          <p:cNvPr id="9" name="Text 7"/>
          <p:cNvSpPr txBox="1"/>
          <p:nvPr/>
        </p:nvSpPr>
        <p:spPr>
          <a:xfrm>
            <a:off x="6446520" y="2075688"/>
            <a:ext cx="4846320" cy="320040"/>
          </a:xfrm>
          <a:prstGeom prst="rect">
            <a:avLst/>
          </a:prstGeom>
          <a:noFill/>
          <a:ln/>
        </p:spPr>
        <p:txBody>
          <a:bodyPr wrap="square" lIns="0" tIns="0" rIns="0" bIns="0" rtlCol="0" anchor="t"/>
          <a:lstStyle/>
          <a:p>
            <a:pPr indent="0" marL="0">
              <a:buNone/>
            </a:pPr>
            <a:r>
              <a:rPr lang="en-US" sz="1300" dirty="0">
                <a:solidFill>
                  <a:schemeClr val="accent1"/>
                </a:solidFill>
              </a:rPr>
              <a:t>from the cold-gas thrusters</a:t>
            </a:r>
            <a:endParaRPr lang="en-US" sz="1300" dirty="0"/>
          </a:p>
        </p:txBody>
      </p:sp>
      <p:sp>
        <p:nvSpPr>
          <p:cNvPr id="10" name="Text 8"/>
          <p:cNvSpPr txBox="1"/>
          <p:nvPr/>
        </p:nvSpPr>
        <p:spPr>
          <a:xfrm>
            <a:off x="6446520" y="2468880"/>
            <a:ext cx="4892040" cy="914400"/>
          </a:xfrm>
          <a:prstGeom prst="rect">
            <a:avLst/>
          </a:prstGeom>
          <a:noFill/>
          <a:ln/>
        </p:spPr>
        <p:txBody>
          <a:bodyPr wrap="square" lIns="0" tIns="0" rIns="0" bIns="0" rtlCol="0" anchor="t"/>
          <a:lstStyle/>
          <a:p>
            <a:pPr indent="0" marL="0">
              <a:buNone/>
            </a:pPr>
            <a:r>
              <a:rPr lang="en-US" sz="1500" dirty="0">
                <a:solidFill>
                  <a:schemeClr val="bg2"/>
                </a:solidFill>
              </a:rPr>
              <a:t>Low-pressure air, solenoid valves and an IMU on a single bearing. Torque = r × F, live.</a:t>
            </a:r>
            <a:endParaRPr lang="en-US" sz="1500" dirty="0"/>
          </a:p>
        </p:txBody>
      </p:sp>
      <p:sp>
        <p:nvSpPr>
          <p:cNvPr id="11" name="Self-levelling drone"/>
          <p:cNvSpPr/>
          <p:nvPr/>
        </p:nvSpPr>
        <p:spPr>
          <a:xfrm>
            <a:off x="548640" y="3749040"/>
            <a:ext cx="5440680" cy="2103120"/>
          </a:xfrm>
          <a:prstGeom prst="roundRect">
            <a:avLst>
              <a:gd name="adj" fmla="val 5217"/>
            </a:avLst>
          </a:prstGeom>
          <a:solidFill>
            <a:schemeClr val="tx2"/>
          </a:solidFill>
          <a:ln w="9525">
            <a:solidFill>
              <a:schemeClr val="accent6"/>
            </a:solidFill>
            <a:prstDash val="solid"/>
          </a:ln>
        </p:spPr>
      </p:sp>
      <p:sp>
        <p:nvSpPr>
          <p:cNvPr id="12" name="Text 10"/>
          <p:cNvSpPr txBox="1"/>
          <p:nvPr/>
        </p:nvSpPr>
        <p:spPr>
          <a:xfrm>
            <a:off x="822960" y="3977640"/>
            <a:ext cx="484632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Self-levelling drone</a:t>
            </a:r>
            <a:endParaRPr lang="en-US" sz="2000" dirty="0"/>
          </a:p>
        </p:txBody>
      </p:sp>
      <p:sp>
        <p:nvSpPr>
          <p:cNvPr id="13" name="Text 11"/>
          <p:cNvSpPr txBox="1"/>
          <p:nvPr/>
        </p:nvSpPr>
        <p:spPr>
          <a:xfrm>
            <a:off x="822960" y="4407408"/>
            <a:ext cx="4846320" cy="320040"/>
          </a:xfrm>
          <a:prstGeom prst="rect">
            <a:avLst/>
          </a:prstGeom>
          <a:noFill/>
          <a:ln/>
        </p:spPr>
        <p:txBody>
          <a:bodyPr wrap="square" lIns="0" tIns="0" rIns="0" bIns="0" rtlCol="0" anchor="t"/>
          <a:lstStyle/>
          <a:p>
            <a:pPr indent="0" marL="0">
              <a:buNone/>
            </a:pPr>
            <a:r>
              <a:rPr lang="en-US" sz="1300" dirty="0">
                <a:solidFill>
                  <a:schemeClr val="accent1"/>
                </a:solidFill>
              </a:rPr>
              <a:t>from the hover controller</a:t>
            </a:r>
            <a:endParaRPr lang="en-US" sz="1300" dirty="0"/>
          </a:p>
        </p:txBody>
      </p:sp>
      <p:sp>
        <p:nvSpPr>
          <p:cNvPr id="14" name="Text 12"/>
          <p:cNvSpPr txBox="1"/>
          <p:nvPr/>
        </p:nvSpPr>
        <p:spPr>
          <a:xfrm>
            <a:off x="822960" y="4800600"/>
            <a:ext cx="4892040" cy="914400"/>
          </a:xfrm>
          <a:prstGeom prst="rect">
            <a:avLst/>
          </a:prstGeom>
          <a:noFill/>
          <a:ln/>
        </p:spPr>
        <p:txBody>
          <a:bodyPr wrap="square" lIns="0" tIns="0" rIns="0" bIns="0" rtlCol="0" anchor="t"/>
          <a:lstStyle/>
          <a:p>
            <a:pPr indent="0" marL="0">
              <a:buNone/>
            </a:pPr>
            <a:r>
              <a:rPr lang="en-US" sz="1500" dirty="0">
                <a:solidFill>
                  <a:schemeClr val="bg2"/>
                </a:solidFill>
              </a:rPr>
              <a:t>Our own controller and thrust mixer on a quadcopter frame, the code from this project.</a:t>
            </a:r>
            <a:endParaRPr lang="en-US" sz="1500" dirty="0"/>
          </a:p>
        </p:txBody>
      </p:sp>
      <p:sp>
        <p:nvSpPr>
          <p:cNvPr id="15" name="Traction-control RC car"/>
          <p:cNvSpPr/>
          <p:nvPr/>
        </p:nvSpPr>
        <p:spPr>
          <a:xfrm>
            <a:off x="6172200" y="3749040"/>
            <a:ext cx="5440680" cy="2103120"/>
          </a:xfrm>
          <a:prstGeom prst="roundRect">
            <a:avLst>
              <a:gd name="adj" fmla="val 5217"/>
            </a:avLst>
          </a:prstGeom>
          <a:solidFill>
            <a:schemeClr val="tx2"/>
          </a:solidFill>
          <a:ln w="9525">
            <a:solidFill>
              <a:schemeClr val="accent6"/>
            </a:solidFill>
            <a:prstDash val="solid"/>
          </a:ln>
        </p:spPr>
      </p:sp>
      <p:sp>
        <p:nvSpPr>
          <p:cNvPr id="16" name="Text 14"/>
          <p:cNvSpPr txBox="1"/>
          <p:nvPr/>
        </p:nvSpPr>
        <p:spPr>
          <a:xfrm>
            <a:off x="6446520" y="3977640"/>
            <a:ext cx="484632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Traction-control RC car</a:t>
            </a:r>
            <a:endParaRPr lang="en-US" sz="2000" dirty="0"/>
          </a:p>
        </p:txBody>
      </p:sp>
      <p:sp>
        <p:nvSpPr>
          <p:cNvPr id="17" name="Text 15"/>
          <p:cNvSpPr txBox="1"/>
          <p:nvPr/>
        </p:nvSpPr>
        <p:spPr>
          <a:xfrm>
            <a:off x="6446520" y="4407408"/>
            <a:ext cx="4846320" cy="320040"/>
          </a:xfrm>
          <a:prstGeom prst="rect">
            <a:avLst/>
          </a:prstGeom>
          <a:noFill/>
          <a:ln/>
        </p:spPr>
        <p:txBody>
          <a:bodyPr wrap="square" lIns="0" tIns="0" rIns="0" bIns="0" rtlCol="0" anchor="t"/>
          <a:lstStyle/>
          <a:p>
            <a:pPr indent="0" marL="0">
              <a:buNone/>
            </a:pPr>
            <a:r>
              <a:rPr lang="en-US" sz="1300" dirty="0">
                <a:solidFill>
                  <a:schemeClr val="accent1"/>
                </a:solidFill>
              </a:rPr>
              <a:t>from the tyre model</a:t>
            </a:r>
            <a:endParaRPr lang="en-US" sz="1300" dirty="0"/>
          </a:p>
        </p:txBody>
      </p:sp>
      <p:sp>
        <p:nvSpPr>
          <p:cNvPr id="18" name="Text 16"/>
          <p:cNvSpPr txBox="1"/>
          <p:nvPr/>
        </p:nvSpPr>
        <p:spPr>
          <a:xfrm>
            <a:off x="6446520" y="4800600"/>
            <a:ext cx="4892040" cy="914400"/>
          </a:xfrm>
          <a:prstGeom prst="rect">
            <a:avLst/>
          </a:prstGeom>
          <a:noFill/>
          <a:ln/>
        </p:spPr>
        <p:txBody>
          <a:bodyPr wrap="square" lIns="0" tIns="0" rIns="0" bIns="0" rtlCol="0" anchor="t"/>
          <a:lstStyle/>
          <a:p>
            <a:pPr indent="0" marL="0">
              <a:buNone/>
            </a:pPr>
            <a:r>
              <a:rPr lang="en-US" sz="1500" dirty="0">
                <a:solidFill>
                  <a:schemeClr val="bg2"/>
                </a:solidFill>
              </a:rPr>
              <a:t>1:10 car with wheel encoders. Firmware keeps each tyre under its grip limit.</a:t>
            </a:r>
            <a:endParaRPr lang="en-US" sz="1500" dirty="0"/>
          </a:p>
        </p:txBody>
      </p:sp>
      <p:sp>
        <p:nvSpPr>
          <p:cNvPr id="19" name="Text 17"/>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dirty="0">
                <a:solidFill>
                  <a:schemeClr val="bg2"/>
                </a:solidFill>
              </a:rPr>
              <a:t>Club builds stay at a few bar of air pressure, never near 690 bar, and run under supervision.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t"/>
          <a:lstStyle/>
          <a:p>
            <a:pPr indent="0" marL="0">
              <a:buNone/>
            </a:pPr>
            <a:r>
              <a:rPr lang="en-US" sz="3200" b="1" dirty="0">
                <a:solidFill>
                  <a:schemeClr val="bg1"/>
                </a:solidFill>
              </a:rPr>
              <a:t>What we are asking for</a:t>
            </a:r>
            <a:endParaRPr lang="en-US" sz="3200" dirty="0"/>
          </a:p>
        </p:txBody>
      </p:sp>
      <p:sp>
        <p:nvSpPr>
          <p:cNvPr id="3" name="Ask 1"/>
          <p:cNvSpPr/>
          <p:nvPr/>
        </p:nvSpPr>
        <p:spPr>
          <a:xfrm>
            <a:off x="548640" y="1463040"/>
            <a:ext cx="548640" cy="548640"/>
          </a:xfrm>
          <a:prstGeom prst="ellipse">
            <a:avLst/>
          </a:prstGeom>
          <a:solidFill>
            <a:schemeClr val="accent1"/>
          </a:solidFill>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1371600" y="1444752"/>
            <a:ext cx="5120640" cy="411480"/>
          </a:xfrm>
          <a:prstGeom prst="rect">
            <a:avLst/>
          </a:prstGeom>
          <a:noFill/>
          <a:ln/>
        </p:spPr>
        <p:txBody>
          <a:bodyPr wrap="square" lIns="0" tIns="0" rIns="0" bIns="0" rtlCol="0" anchor="t"/>
          <a:lstStyle/>
          <a:p>
            <a:pPr indent="0" marL="0">
              <a:buNone/>
            </a:pPr>
            <a:r>
              <a:rPr lang="en-US" sz="1900" b="1" dirty="0">
                <a:solidFill>
                  <a:schemeClr val="bg1"/>
                </a:solidFill>
              </a:rPr>
              <a:t>Parts for the wall-climbing robot</a:t>
            </a:r>
            <a:endParaRPr lang="en-US" sz="1900" dirty="0"/>
          </a:p>
        </p:txBody>
      </p:sp>
      <p:sp>
        <p:nvSpPr>
          <p:cNvPr id="6" name="Text 4"/>
          <p:cNvSpPr txBox="1"/>
          <p:nvPr/>
        </p:nvSpPr>
        <p:spPr>
          <a:xfrm>
            <a:off x="1371600" y="1874520"/>
            <a:ext cx="5120640" cy="685800"/>
          </a:xfrm>
          <a:prstGeom prst="rect">
            <a:avLst/>
          </a:prstGeom>
          <a:noFill/>
          <a:ln/>
        </p:spPr>
        <p:txBody>
          <a:bodyPr wrap="square" lIns="0" tIns="0" rIns="0" bIns="0" rtlCol="0" anchor="t"/>
          <a:lstStyle/>
          <a:p>
            <a:pPr indent="0" marL="0">
              <a:buNone/>
            </a:pPr>
            <a:r>
              <a:rPr lang="en-US" sz="1500" dirty="0">
                <a:solidFill>
                  <a:schemeClr val="bg2"/>
                </a:solidFill>
              </a:rPr>
              <a:t>Fan, battery, sensors and a small chassis. We size each part in the simulator before we buy it.</a:t>
            </a:r>
            <a:endParaRPr lang="en-US" sz="1500" dirty="0"/>
          </a:p>
        </p:txBody>
      </p:sp>
      <p:sp>
        <p:nvSpPr>
          <p:cNvPr id="7" name="Ask 2"/>
          <p:cNvSpPr/>
          <p:nvPr/>
        </p:nvSpPr>
        <p:spPr>
          <a:xfrm>
            <a:off x="548640" y="2651760"/>
            <a:ext cx="548640" cy="548640"/>
          </a:xfrm>
          <a:prstGeom prst="ellipse">
            <a:avLst/>
          </a:prstGeom>
          <a:solidFill>
            <a:schemeClr val="accent1"/>
          </a:solidFill>
          <a:ln/>
        </p:spPr>
      </p:sp>
      <p:sp>
        <p:nvSpPr>
          <p:cNvPr id="8" name="Text 6"/>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9" name="Text 7"/>
          <p:cNvSpPr txBox="1"/>
          <p:nvPr/>
        </p:nvSpPr>
        <p:spPr>
          <a:xfrm>
            <a:off x="1371600" y="2633472"/>
            <a:ext cx="5120640" cy="411480"/>
          </a:xfrm>
          <a:prstGeom prst="rect">
            <a:avLst/>
          </a:prstGeom>
          <a:noFill/>
          <a:ln/>
        </p:spPr>
        <p:txBody>
          <a:bodyPr wrap="square" lIns="0" tIns="0" rIns="0" bIns="0" rtlCol="0" anchor="t"/>
          <a:lstStyle/>
          <a:p>
            <a:pPr indent="0" marL="0">
              <a:buNone/>
            </a:pPr>
            <a:r>
              <a:rPr lang="en-US" sz="1900" b="1" dirty="0">
                <a:solidFill>
                  <a:schemeClr val="bg1"/>
                </a:solidFill>
              </a:rPr>
              <a:t>Lab time and a supervisor</a:t>
            </a:r>
            <a:endParaRPr lang="en-US" sz="1900" dirty="0"/>
          </a:p>
        </p:txBody>
      </p:sp>
      <p:sp>
        <p:nvSpPr>
          <p:cNvPr id="10" name="Text 8"/>
          <p:cNvSpPr txBox="1"/>
          <p:nvPr/>
        </p:nvSpPr>
        <p:spPr>
          <a:xfrm>
            <a:off x="1371600" y="3063240"/>
            <a:ext cx="5120640" cy="685800"/>
          </a:xfrm>
          <a:prstGeom prst="rect">
            <a:avLst/>
          </a:prstGeom>
          <a:noFill/>
          <a:ln/>
        </p:spPr>
        <p:txBody>
          <a:bodyPr wrap="square" lIns="0" tIns="0" rIns="0" bIns="0" rtlCol="0" anchor="t"/>
          <a:lstStyle/>
          <a:p>
            <a:pPr indent="0" marL="0">
              <a:buNone/>
            </a:pPr>
            <a:r>
              <a:rPr lang="en-US" sz="1500" dirty="0">
                <a:solidFill>
                  <a:schemeClr val="bg2"/>
                </a:solidFill>
              </a:rPr>
              <a:t>For building and for any work with compressed air.</a:t>
            </a:r>
            <a:endParaRPr lang="en-US" sz="1500" dirty="0"/>
          </a:p>
        </p:txBody>
      </p:sp>
      <p:sp>
        <p:nvSpPr>
          <p:cNvPr id="11" name="Ask 3"/>
          <p:cNvSpPr/>
          <p:nvPr/>
        </p:nvSpPr>
        <p:spPr>
          <a:xfrm>
            <a:off x="548640" y="3840480"/>
            <a:ext cx="548640" cy="548640"/>
          </a:xfrm>
          <a:prstGeom prst="ellipse">
            <a:avLst/>
          </a:prstGeom>
          <a:solidFill>
            <a:schemeClr val="accent1"/>
          </a:solidFill>
          <a:ln/>
        </p:spPr>
      </p:sp>
      <p:sp>
        <p:nvSpPr>
          <p:cNvPr id="12" name="Text 10"/>
          <p:cNvSpPr txBox="1"/>
          <p:nvPr/>
        </p:nvSpPr>
        <p:spPr>
          <a:xfrm>
            <a:off x="548640" y="38404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3" name="Text 11"/>
          <p:cNvSpPr txBox="1"/>
          <p:nvPr/>
        </p:nvSpPr>
        <p:spPr>
          <a:xfrm>
            <a:off x="1371600" y="3822192"/>
            <a:ext cx="5120640" cy="411480"/>
          </a:xfrm>
          <a:prstGeom prst="rect">
            <a:avLst/>
          </a:prstGeom>
          <a:noFill/>
          <a:ln/>
        </p:spPr>
        <p:txBody>
          <a:bodyPr wrap="square" lIns="0" tIns="0" rIns="0" bIns="0" rtlCol="0" anchor="t"/>
          <a:lstStyle/>
          <a:p>
            <a:pPr indent="0" marL="0">
              <a:buNone/>
            </a:pPr>
            <a:r>
              <a:rPr lang="en-US" sz="1900" b="1" dirty="0">
                <a:solidFill>
                  <a:schemeClr val="bg1"/>
                </a:solidFill>
              </a:rPr>
              <a:t>A review in six weeks</a:t>
            </a:r>
            <a:endParaRPr lang="en-US" sz="1900" dirty="0"/>
          </a:p>
        </p:txBody>
      </p:sp>
      <p:sp>
        <p:nvSpPr>
          <p:cNvPr id="14" name="Text 12"/>
          <p:cNvSpPr txBox="1"/>
          <p:nvPr/>
        </p:nvSpPr>
        <p:spPr>
          <a:xfrm>
            <a:off x="1371600" y="4251960"/>
            <a:ext cx="5120640" cy="685800"/>
          </a:xfrm>
          <a:prstGeom prst="rect">
            <a:avLst/>
          </a:prstGeom>
          <a:noFill/>
          <a:ln/>
        </p:spPr>
        <p:txBody>
          <a:bodyPr wrap="square" lIns="0" tIns="0" rIns="0" bIns="0" rtlCol="0" anchor="t"/>
          <a:lstStyle/>
          <a:p>
            <a:pPr indent="0" marL="0">
              <a:buNone/>
            </a:pPr>
            <a:r>
              <a:rPr lang="en-US" sz="1500" dirty="0">
                <a:solidFill>
                  <a:schemeClr val="bg2"/>
                </a:solidFill>
              </a:rPr>
              <a:t>We bring the robot, the simulator prediction, and the measured result side by side.</a:t>
            </a:r>
            <a:endParaRPr lang="en-US" sz="1500" dirty="0"/>
          </a:p>
        </p:txBody>
      </p:sp>
      <p:sp>
        <p:nvSpPr>
          <p:cNvPr id="15" name="Demo card"/>
          <p:cNvSpPr/>
          <p:nvPr/>
        </p:nvSpPr>
        <p:spPr>
          <a:xfrm>
            <a:off x="7040880" y="1463040"/>
            <a:ext cx="4572000" cy="4023360"/>
          </a:xfrm>
          <a:prstGeom prst="roundRect">
            <a:avLst>
              <a:gd name="adj" fmla="val 2727"/>
            </a:avLst>
          </a:prstGeom>
          <a:solidFill>
            <a:schemeClr val="tx2"/>
          </a:solidFill>
          <a:ln w="9525">
            <a:solidFill>
              <a:schemeClr val="accent6"/>
            </a:solidFill>
            <a:prstDash val="solid"/>
          </a:ln>
        </p:spPr>
      </p:sp>
      <p:sp>
        <p:nvSpPr>
          <p:cNvPr id="16" name="Text 14"/>
          <p:cNvSpPr txBox="1"/>
          <p:nvPr/>
        </p:nvSpPr>
        <p:spPr>
          <a:xfrm>
            <a:off x="7315200" y="1691640"/>
            <a:ext cx="402336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Live demo</a:t>
            </a:r>
            <a:endParaRPr lang="en-US" sz="2200" dirty="0"/>
          </a:p>
        </p:txBody>
      </p:sp>
      <p:sp>
        <p:nvSpPr>
          <p:cNvPr id="17" name="Text 15"/>
          <p:cNvSpPr txBox="1"/>
          <p:nvPr/>
        </p:nvSpPr>
        <p:spPr>
          <a:xfrm>
            <a:off x="7315200" y="2286000"/>
            <a:ext cx="4023360" cy="21945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700" dirty="0">
                <a:solidFill>
                  <a:schemeClr val="bg1"/>
                </a:solidFill>
              </a:rPr>
              <a:t>Open RoadsterLab.html</a:t>
            </a:r>
            <a:endParaRPr lang="en-US" sz="1700" dirty="0"/>
          </a:p>
          <a:p>
            <a:pPr marL="342900" indent="-342900">
              <a:spcAft>
                <a:spcPts val="1000"/>
              </a:spcAft>
              <a:buSzPct val="100000"/>
              <a:buFont typeface="+mj-lt"/>
              <a:buAutoNum type="arabicPeriod" startAt="1"/>
            </a:pPr>
            <a:r>
              <a:rPr lang="en-US" sz="1700" dirty="0">
                <a:solidFill>
                  <a:schemeClr val="bg1"/>
                </a:solidFill>
              </a:rPr>
              <a:t>Stunts, then Reveal ramp</a:t>
            </a:r>
            <a:endParaRPr lang="en-US" sz="1700" dirty="0"/>
          </a:p>
          <a:p>
            <a:pPr marL="342900" indent="-342900">
              <a:spcAft>
                <a:spcPts val="1000"/>
              </a:spcAft>
              <a:buSzPct val="100000"/>
              <a:buFont typeface="+mj-lt"/>
              <a:buAutoNum type="arabicPeriod" startAt="1"/>
            </a:pPr>
            <a:r>
              <a:rPr lang="en-US" sz="1700" dirty="0">
                <a:solidFill>
                  <a:schemeClr val="bg1"/>
                </a:solidFill>
              </a:rPr>
              <a:t>How it works, then hold Shift</a:t>
            </a:r>
            <a:endParaRPr lang="en-US" sz="1700" dirty="0"/>
          </a:p>
          <a:p>
            <a:pPr marL="342900" indent="-342900">
              <a:spcAft>
                <a:spcPts val="1000"/>
              </a:spcAft>
              <a:buSzPct val="100000"/>
              <a:buFont typeface="+mj-lt"/>
              <a:buAutoNum type="arabicPeriod" startAt="1"/>
            </a:pPr>
            <a:r>
              <a:rPr lang="en-US" sz="1700" dirty="0">
                <a:solidFill>
                  <a:schemeClr val="bg1"/>
                </a:solidFill>
              </a:rPr>
              <a:t>Data, then Export CSV</a:t>
            </a:r>
            <a:endParaRPr lang="en-US" sz="1700" dirty="0"/>
          </a:p>
        </p:txBody>
      </p:sp>
      <p:sp>
        <p:nvSpPr>
          <p:cNvPr id="18" name="Text 16"/>
          <p:cNvSpPr txBox="1"/>
          <p:nvPr/>
        </p:nvSpPr>
        <p:spPr>
          <a:xfrm>
            <a:off x="7315200" y="4846320"/>
            <a:ext cx="4023360" cy="365760"/>
          </a:xfrm>
          <a:prstGeom prst="rect">
            <a:avLst/>
          </a:prstGeom>
          <a:noFill/>
          <a:ln/>
        </p:spPr>
        <p:txBody>
          <a:bodyPr wrap="square" lIns="0" tIns="0" rIns="0" bIns="0" rtlCol="0" anchor="t"/>
          <a:lstStyle/>
          <a:p>
            <a:pPr indent="0" marL="0">
              <a:buNone/>
            </a:pPr>
            <a:r>
              <a:rPr lang="en-US" sz="1400" dirty="0">
                <a:solidFill>
                  <a:schemeClr val="bg2"/>
                </a:solidFill>
              </a:rPr>
              <a:t>github.com/Zarif0101/Roadster-Sim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oadster Lab">
  <a:themeElements>
    <a:clrScheme name="Roadster Lab">
      <a:dk1>
        <a:srgbClr val="0B0F14"/>
      </a:dk1>
      <a:lt1>
        <a:srgbClr val="EEF1F4"/>
      </a:lt1>
      <a:dk2>
        <a:srgbClr val="161C24"/>
      </a:dk2>
      <a:lt2>
        <a:srgbClr val="A9B3BF"/>
      </a:lt2>
      <a:accent1>
        <a:srgbClr val="5CC8FF"/>
      </a:accent1>
      <a:accent2>
        <a:srgbClr val="FF8A3D"/>
      </a:accent2>
      <a:accent3>
        <a:srgbClr val="55E09A"/>
      </a:accent3>
      <a:accent4>
        <a:srgbClr val="FFB547"/>
      </a:accent4>
      <a:accent5>
        <a:srgbClr val="C393FF"/>
      </a:accent5>
      <a:accent6>
        <a:srgbClr val="5D6672"/>
      </a:accent6>
      <a:hlink>
        <a:srgbClr val="5CC8FF"/>
      </a:hlink>
      <a:folHlink>
        <a:srgbClr val="C393FF"/>
      </a:folHlink>
    </a:clrScheme>
    <a:fontScheme name="Roadster 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Roadster Lab</dc:title>
  <dc:subject>PptxGenJS Presentation</dc:subject>
  <dc:creator>Zarif</dc:creator>
  <cp:lastModifiedBy>Zarif</cp:lastModifiedBy>
  <cp:revision>1</cp:revision>
  <dcterms:created xsi:type="dcterms:W3CDTF">2026-10-18T00:10:21Z</dcterms:created>
  <dcterms:modified xsi:type="dcterms:W3CDTF">2026-10-18T00:10:21Z</dcterms:modified>
</cp:coreProperties>
</file>